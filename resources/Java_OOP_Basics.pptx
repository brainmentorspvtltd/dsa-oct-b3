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notesMasters/_rels/notesMaster1.xml.rels" ContentType="application/vnd.openxmlformats-package.relationships+xml"/>
  <Override PartName="/ppt/notesMasters/notesMaster1.xml" ContentType="application/vnd.openxmlformats-officedocument.presentationml.notesMaster+xml"/>
  <Override PartName="/ppt/slideMasters/_rels/slideMaster1.xml.rels" ContentType="application/vnd.openxmlformats-package.relationships+xml"/>
  <Override PartName="/ppt/slideMasters/slideMaster1.xml" ContentType="application/vnd.openxmlformats-officedocument.presentationml.slideMaster+xml"/>
  <Override PartName="/ppt/_rels/presentation.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s/slide10.xml" ContentType="application/vnd.openxmlformats-officedocument.presentationml.slide+xml"/>
  <Override PartName="/ppt/slides/_rels/slide24.xml.rels" ContentType="application/vnd.openxmlformats-package.relationships+xml"/>
  <Override PartName="/ppt/slides/_rels/slide7.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5.xml.rels" ContentType="application/vnd.openxmlformats-package.relationships+xml"/>
  <Override PartName="/ppt/slides/_rels/slide14.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1.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Slides/_rels/notesSlide23.xml.rels" ContentType="application/vnd.openxmlformats-package.relationships+xml"/>
  <Override PartName="/ppt/notesSlides/_rels/notesSlide15.xml.rels" ContentType="application/vnd.openxmlformats-package.relationships+xml"/>
  <Override PartName="/ppt/notesSlides/_rels/notesSlide4.xml.rels" ContentType="application/vnd.openxmlformats-package.relationships+xml"/>
  <Override PartName="/ppt/notesSlides/_rels/notesSlide1.xml.rels" ContentType="application/vnd.openxmlformats-package.relationships+xml"/>
  <Override PartName="/ppt/notesSlides/_rels/notesSlide12.xml.rels" ContentType="application/vnd.openxmlformats-package.relationships+xml"/>
  <Override PartName="/ppt/notesSlides/_rels/notesSlide20.xml.rels" ContentType="application/vnd.openxmlformats-package.relationships+xml"/>
  <Override PartName="/ppt/notesSlides/_rels/notesSlide10.xml.rels" ContentType="application/vnd.openxmlformats-package.relationships+xml"/>
  <Override PartName="/ppt/notesSlides/_rels/notesSlide9.xml.rels" ContentType="application/vnd.openxmlformats-package.relationships+xml"/>
  <Override PartName="/ppt/notesSlides/_rels/notesSlide24.xml.rels" ContentType="application/vnd.openxmlformats-package.relationships+xml"/>
  <Override PartName="/ppt/notesSlides/_rels/notesSlide5.xml.rels" ContentType="application/vnd.openxmlformats-package.relationships+xml"/>
  <Override PartName="/ppt/notesSlides/_rels/notesSlide16.xml.rels" ContentType="application/vnd.openxmlformats-package.relationships+xml"/>
  <Override PartName="/ppt/notesSlides/_rels/notesSlide8.xml.rels" ContentType="application/vnd.openxmlformats-package.relationships+xml"/>
  <Override PartName="/ppt/notesSlides/_rels/notesSlide19.xml.rels" ContentType="application/vnd.openxmlformats-package.relationships+xml"/>
  <Override PartName="/ppt/notesSlides/_rels/notesSlide1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3.xml.rels" ContentType="application/vnd.openxmlformats-package.relationships+xml"/>
  <Override PartName="/ppt/notesSlides/_rels/notesSlide22.xml.rels" ContentType="application/vnd.openxmlformats-package.relationships+xml"/>
  <Override PartName="/ppt/notesSlides/_rels/notesSlide6.xml.rels" ContentType="application/vnd.openxmlformats-package.relationships+xml"/>
  <Override PartName="/ppt/notesSlides/_rels/notesSlide17.xml.rels" ContentType="application/vnd.openxmlformats-package.relationships+xml"/>
  <Override PartName="/ppt/notesSlides/_rels/notesSlide13.xml.rels" ContentType="application/vnd.openxmlformats-package.relationships+xml"/>
  <Override PartName="/ppt/notesSlides/_rels/notesSlide2.xml.rels" ContentType="application/vnd.openxmlformats-package.relationships+xml"/>
  <Override PartName="/ppt/notesSlides/_rels/notesSlide21.xml.rels" ContentType="application/vnd.openxmlformats-package.relationships+xml"/>
  <Override PartName="/ppt/notesSlides/_rels/notesSlide11.xml.rels" ContentType="application/vnd.openxmlformats-package.relationships+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5.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2.xml" ContentType="application/vnd.openxmlformats-officedocument.presentationml.notesSlide+xml"/>
  <Override PartName="/ppt/notesSlides/notesSlide23.xml" ContentType="application/vnd.openxmlformats-officedocument.presentationml.notesSlide+xml"/>
  <Override PartName="/ppt/notesSlides/notesSlide7.xml" ContentType="application/vnd.openxmlformats-officedocument.presentationml.notesSlide+xml"/>
  <Override PartName="/ppt/notesSlides/notesSlide3.xml" ContentType="application/vnd.openxmlformats-officedocument.presentationml.notesSlide+xml"/>
  <Override PartName="/ppt/notesSlides/notesSlide2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9.xml" ContentType="application/vnd.openxmlformats-officedocument.presentationml.notesSlide+xml"/>
  <Override PartName="/ppt/notesSlides/notesSlide17.xml" ContentType="application/vnd.openxmlformats-officedocument.presentationml.notesSlide+xml"/>
  <Override PartName="/ppt/notesSlides/notesSlide14.xml" ContentType="application/vnd.openxmlformats-officedocument.presentationml.notesSlide+xml"/>
  <Override PartName="/ppt/notesSlides/notesSlide4.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IN" sz="1800" strike="noStrike" u="none">
                <a:solidFill>
                  <a:schemeClr val="dk1"/>
                </a:solidFill>
                <a:effectLst/>
                <a:uFillTx/>
                <a:latin typeface="Calibri"/>
              </a:rPr>
              <a:t>Click to move the slide</a:t>
            </a:r>
            <a:endParaRPr b="0" lang="en-IN" sz="1800" strike="noStrike" u="none">
              <a:solidFill>
                <a:schemeClr val="dk1"/>
              </a:solidFill>
              <a:effectLst/>
              <a:uFillTx/>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IN" sz="2000" strike="noStrike" u="none">
                <a:solidFill>
                  <a:srgbClr val="000000"/>
                </a:solidFill>
                <a:effectLst/>
                <a:uFillTx/>
                <a:latin typeface="Arial"/>
              </a:rPr>
              <a:t>Click to edit the notes format</a:t>
            </a:r>
            <a:endParaRPr b="0" lang="en-IN" sz="2000" strike="noStrike" u="none">
              <a:solidFill>
                <a:srgbClr val="000000"/>
              </a:solidFill>
              <a:effectLst/>
              <a:uFillTx/>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IN" sz="1400" strike="noStrike" u="none">
                <a:solidFill>
                  <a:srgbClr val="000000"/>
                </a:solidFill>
                <a:effectLst/>
                <a:uFillTx/>
                <a:latin typeface="Times New Roman"/>
              </a:rPr>
              <a:t>&lt;header&gt;</a:t>
            </a:r>
            <a:endParaRPr b="0" lang="en-IN" sz="1400" strike="noStrike" u="none">
              <a:solidFill>
                <a:srgbClr val="000000"/>
              </a:solidFill>
              <a:effectLst/>
              <a:uFillTx/>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IN" sz="1400" strike="noStrike" u="none">
                <a:solidFill>
                  <a:srgbClr val="000000"/>
                </a:solidFill>
                <a:effectLst/>
                <a:uFillTx/>
                <a:latin typeface="Times New Roman"/>
              </a:defRPr>
            </a:lvl1pPr>
          </a:lstStyle>
          <a:p>
            <a:pPr indent="0" algn="r">
              <a:buNone/>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IN" sz="1400" strike="noStrike" u="none">
                <a:solidFill>
                  <a:srgbClr val="000000"/>
                </a:solidFill>
                <a:effectLst/>
                <a:uFillTx/>
                <a:latin typeface="Times New Roman"/>
              </a:defRPr>
            </a:lvl1pPr>
          </a:lstStyle>
          <a:p>
            <a:pPr indent="0">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IN" sz="1400" strike="noStrike" u="none">
                <a:solidFill>
                  <a:srgbClr val="000000"/>
                </a:solidFill>
                <a:effectLst/>
                <a:uFillTx/>
                <a:latin typeface="Times New Roman"/>
              </a:defRPr>
            </a:lvl1pPr>
          </a:lstStyle>
          <a:p>
            <a:pPr indent="0" algn="r">
              <a:buNone/>
            </a:pPr>
            <a:fld id="{76B5EBBD-FBFE-4F45-B3B9-3C9879973D7A}" type="slidenum">
              <a:rPr b="0" lang="en-IN" sz="1400" strike="noStrike" u="none">
                <a:solidFill>
                  <a:srgbClr val="000000"/>
                </a:solidFill>
                <a:effectLst/>
                <a:uFillTx/>
                <a:latin typeface="Times New Roman"/>
              </a:rPr>
              <a:t>&lt;number&gt;</a:t>
            </a:fld>
            <a:endParaRPr b="0" lang="en-IN"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2" name="PlaceHolder 1"/>
          <p:cNvSpPr>
            <a:spLocks noGrp="1"/>
          </p:cNvSpPr>
          <p:nvPr>
            <p:ph type="sldImg"/>
          </p:nvPr>
        </p:nvSpPr>
        <p:spPr>
          <a:xfrm>
            <a:off x="685800" y="1143000"/>
            <a:ext cx="5486040" cy="3085920"/>
          </a:xfrm>
          <a:prstGeom prst="rect">
            <a:avLst/>
          </a:prstGeom>
          <a:ln w="0">
            <a:noFill/>
          </a:ln>
        </p:spPr>
      </p:sp>
      <p:sp>
        <p:nvSpPr>
          <p:cNvPr id="60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04"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0E225DF0-BBB2-454D-B5AA-8D5F6C34D7F4}"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5" name="PlaceHolder 1"/>
          <p:cNvSpPr>
            <a:spLocks noGrp="1"/>
          </p:cNvSpPr>
          <p:nvPr>
            <p:ph type="sldImg"/>
          </p:nvPr>
        </p:nvSpPr>
        <p:spPr>
          <a:xfrm>
            <a:off x="685800" y="1143000"/>
            <a:ext cx="5486040" cy="3085920"/>
          </a:xfrm>
          <a:prstGeom prst="rect">
            <a:avLst/>
          </a:prstGeom>
          <a:ln w="0">
            <a:noFill/>
          </a:ln>
        </p:spPr>
      </p:sp>
      <p:sp>
        <p:nvSpPr>
          <p:cNvPr id="60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07"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1B4BDF52-5970-4E09-805B-4ACDDCC01B4D}"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8" name="PlaceHolder 1"/>
          <p:cNvSpPr>
            <a:spLocks noGrp="1"/>
          </p:cNvSpPr>
          <p:nvPr>
            <p:ph type="sldImg"/>
          </p:nvPr>
        </p:nvSpPr>
        <p:spPr>
          <a:xfrm>
            <a:off x="685800" y="1143000"/>
            <a:ext cx="5486040" cy="3085920"/>
          </a:xfrm>
          <a:prstGeom prst="rect">
            <a:avLst/>
          </a:prstGeom>
          <a:ln w="0">
            <a:noFill/>
          </a:ln>
        </p:spPr>
      </p:sp>
      <p:sp>
        <p:nvSpPr>
          <p:cNvPr id="60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10"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0F079786-90F0-48F8-AE03-F15A3D4469C9}"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1" name="PlaceHolder 1"/>
          <p:cNvSpPr>
            <a:spLocks noGrp="1"/>
          </p:cNvSpPr>
          <p:nvPr>
            <p:ph type="sldImg"/>
          </p:nvPr>
        </p:nvSpPr>
        <p:spPr>
          <a:xfrm>
            <a:off x="685800" y="1143000"/>
            <a:ext cx="5486040" cy="3085920"/>
          </a:xfrm>
          <a:prstGeom prst="rect">
            <a:avLst/>
          </a:prstGeom>
          <a:ln w="0">
            <a:noFill/>
          </a:ln>
        </p:spPr>
      </p:sp>
      <p:sp>
        <p:nvSpPr>
          <p:cNvPr id="61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13"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704EBDA-88B5-45B0-85FD-07D12DB826AB}"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4" name="PlaceHolder 1"/>
          <p:cNvSpPr>
            <a:spLocks noGrp="1"/>
          </p:cNvSpPr>
          <p:nvPr>
            <p:ph type="sldImg"/>
          </p:nvPr>
        </p:nvSpPr>
        <p:spPr>
          <a:xfrm>
            <a:off x="685800" y="1143000"/>
            <a:ext cx="5486040" cy="3085920"/>
          </a:xfrm>
          <a:prstGeom prst="rect">
            <a:avLst/>
          </a:prstGeom>
          <a:ln w="0">
            <a:noFill/>
          </a:ln>
        </p:spPr>
      </p:sp>
      <p:sp>
        <p:nvSpPr>
          <p:cNvPr id="61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16"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DB3405D4-7EDF-448F-A3C2-20EA1F14A6AA}"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7" name="PlaceHolder 1"/>
          <p:cNvSpPr>
            <a:spLocks noGrp="1"/>
          </p:cNvSpPr>
          <p:nvPr>
            <p:ph type="sldImg"/>
          </p:nvPr>
        </p:nvSpPr>
        <p:spPr>
          <a:xfrm>
            <a:off x="685800" y="1143000"/>
            <a:ext cx="5486040" cy="3085920"/>
          </a:xfrm>
          <a:prstGeom prst="rect">
            <a:avLst/>
          </a:prstGeom>
          <a:ln w="0">
            <a:noFill/>
          </a:ln>
        </p:spPr>
      </p:sp>
      <p:sp>
        <p:nvSpPr>
          <p:cNvPr id="61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19"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F29C2058-0931-476D-9967-C8AD244B71D6}"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0" name="PlaceHolder 1"/>
          <p:cNvSpPr>
            <a:spLocks noGrp="1"/>
          </p:cNvSpPr>
          <p:nvPr>
            <p:ph type="sldImg"/>
          </p:nvPr>
        </p:nvSpPr>
        <p:spPr>
          <a:xfrm>
            <a:off x="685800" y="1143000"/>
            <a:ext cx="5486040" cy="3085920"/>
          </a:xfrm>
          <a:prstGeom prst="rect">
            <a:avLst/>
          </a:prstGeom>
          <a:ln w="0">
            <a:noFill/>
          </a:ln>
        </p:spPr>
      </p:sp>
      <p:sp>
        <p:nvSpPr>
          <p:cNvPr id="62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22"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783CD46-6F7A-4AE0-8691-9B2BCC3E748D}"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3" name="PlaceHolder 1"/>
          <p:cNvSpPr>
            <a:spLocks noGrp="1"/>
          </p:cNvSpPr>
          <p:nvPr>
            <p:ph type="sldImg"/>
          </p:nvPr>
        </p:nvSpPr>
        <p:spPr>
          <a:xfrm>
            <a:off x="685800" y="1143000"/>
            <a:ext cx="5486040" cy="3085920"/>
          </a:xfrm>
          <a:prstGeom prst="rect">
            <a:avLst/>
          </a:prstGeom>
          <a:ln w="0">
            <a:noFill/>
          </a:ln>
        </p:spPr>
      </p:sp>
      <p:sp>
        <p:nvSpPr>
          <p:cNvPr id="62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25"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FEDBB60-D081-460C-BF82-B9C451025092}"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6" name="PlaceHolder 1"/>
          <p:cNvSpPr>
            <a:spLocks noGrp="1"/>
          </p:cNvSpPr>
          <p:nvPr>
            <p:ph type="sldImg"/>
          </p:nvPr>
        </p:nvSpPr>
        <p:spPr>
          <a:xfrm>
            <a:off x="685800" y="1143000"/>
            <a:ext cx="5486040" cy="3085920"/>
          </a:xfrm>
          <a:prstGeom prst="rect">
            <a:avLst/>
          </a:prstGeom>
          <a:ln w="0">
            <a:noFill/>
          </a:ln>
        </p:spPr>
      </p:sp>
      <p:sp>
        <p:nvSpPr>
          <p:cNvPr id="62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28"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19CC5903-C765-45AD-906B-9E36814203E6}"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9" name="PlaceHolder 1"/>
          <p:cNvSpPr>
            <a:spLocks noGrp="1"/>
          </p:cNvSpPr>
          <p:nvPr>
            <p:ph type="sldImg"/>
          </p:nvPr>
        </p:nvSpPr>
        <p:spPr>
          <a:xfrm>
            <a:off x="685800" y="1143000"/>
            <a:ext cx="5486040" cy="3085920"/>
          </a:xfrm>
          <a:prstGeom prst="rect">
            <a:avLst/>
          </a:prstGeom>
          <a:ln w="0">
            <a:noFill/>
          </a:ln>
        </p:spPr>
      </p:sp>
      <p:sp>
        <p:nvSpPr>
          <p:cNvPr id="63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31"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C275B96E-6F99-425A-BD46-6FCD9FD0BDD0}"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2" name="PlaceHolder 1"/>
          <p:cNvSpPr>
            <a:spLocks noGrp="1"/>
          </p:cNvSpPr>
          <p:nvPr>
            <p:ph type="sldImg"/>
          </p:nvPr>
        </p:nvSpPr>
        <p:spPr>
          <a:xfrm>
            <a:off x="685800" y="1143000"/>
            <a:ext cx="5486040" cy="3085920"/>
          </a:xfrm>
          <a:prstGeom prst="rect">
            <a:avLst/>
          </a:prstGeom>
          <a:ln w="0">
            <a:noFill/>
          </a:ln>
        </p:spPr>
      </p:sp>
      <p:sp>
        <p:nvSpPr>
          <p:cNvPr id="63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34"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F04D063A-C5E3-4E18-A3E9-1AC634574E68}"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5" name="PlaceHolder 1"/>
          <p:cNvSpPr>
            <a:spLocks noGrp="1"/>
          </p:cNvSpPr>
          <p:nvPr>
            <p:ph type="sldImg"/>
          </p:nvPr>
        </p:nvSpPr>
        <p:spPr>
          <a:xfrm>
            <a:off x="685800" y="1143000"/>
            <a:ext cx="5486040" cy="3085920"/>
          </a:xfrm>
          <a:prstGeom prst="rect">
            <a:avLst/>
          </a:prstGeom>
          <a:ln w="0">
            <a:noFill/>
          </a:ln>
        </p:spPr>
      </p:sp>
      <p:sp>
        <p:nvSpPr>
          <p:cNvPr id="63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37"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F5B9591-C8E4-4452-94B0-F70FB96A5C31}"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8" name="PlaceHolder 1"/>
          <p:cNvSpPr>
            <a:spLocks noGrp="1"/>
          </p:cNvSpPr>
          <p:nvPr>
            <p:ph type="sldImg"/>
          </p:nvPr>
        </p:nvSpPr>
        <p:spPr>
          <a:xfrm>
            <a:off x="685800" y="1143000"/>
            <a:ext cx="5486040" cy="3085920"/>
          </a:xfrm>
          <a:prstGeom prst="rect">
            <a:avLst/>
          </a:prstGeom>
          <a:ln w="0">
            <a:noFill/>
          </a:ln>
        </p:spPr>
      </p:sp>
      <p:sp>
        <p:nvSpPr>
          <p:cNvPr id="63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40"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FD00BBB7-AD57-4D8F-BD29-1AE0C2885BB6}"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1" name="PlaceHolder 1"/>
          <p:cNvSpPr>
            <a:spLocks noGrp="1"/>
          </p:cNvSpPr>
          <p:nvPr>
            <p:ph type="sldImg"/>
          </p:nvPr>
        </p:nvSpPr>
        <p:spPr>
          <a:xfrm>
            <a:off x="685800" y="1143000"/>
            <a:ext cx="5486040" cy="3085920"/>
          </a:xfrm>
          <a:prstGeom prst="rect">
            <a:avLst/>
          </a:prstGeom>
          <a:ln w="0">
            <a:noFill/>
          </a:ln>
        </p:spPr>
      </p:sp>
      <p:sp>
        <p:nvSpPr>
          <p:cNvPr id="64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43"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6FE5472-1ED6-4C84-B05A-50C76027420D}"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4" name="PlaceHolder 1"/>
          <p:cNvSpPr>
            <a:spLocks noGrp="1"/>
          </p:cNvSpPr>
          <p:nvPr>
            <p:ph type="sldImg"/>
          </p:nvPr>
        </p:nvSpPr>
        <p:spPr>
          <a:xfrm>
            <a:off x="685800" y="1143000"/>
            <a:ext cx="5486040" cy="3085920"/>
          </a:xfrm>
          <a:prstGeom prst="rect">
            <a:avLst/>
          </a:prstGeom>
          <a:ln w="0">
            <a:noFill/>
          </a:ln>
        </p:spPr>
      </p:sp>
      <p:sp>
        <p:nvSpPr>
          <p:cNvPr id="64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46"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53E50922-B12E-4C50-9DD9-382D89BEDB0F}"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7" name="PlaceHolder 1"/>
          <p:cNvSpPr>
            <a:spLocks noGrp="1"/>
          </p:cNvSpPr>
          <p:nvPr>
            <p:ph type="sldImg"/>
          </p:nvPr>
        </p:nvSpPr>
        <p:spPr>
          <a:xfrm>
            <a:off x="685800" y="1143000"/>
            <a:ext cx="5486040" cy="3085920"/>
          </a:xfrm>
          <a:prstGeom prst="rect">
            <a:avLst/>
          </a:prstGeom>
          <a:ln w="0">
            <a:noFill/>
          </a:ln>
        </p:spPr>
      </p:sp>
      <p:sp>
        <p:nvSpPr>
          <p:cNvPr id="64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49"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56ECC318-6036-4B61-A747-1CCAD9F39356}"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0" name="PlaceHolder 1"/>
          <p:cNvSpPr>
            <a:spLocks noGrp="1"/>
          </p:cNvSpPr>
          <p:nvPr>
            <p:ph type="sldImg"/>
          </p:nvPr>
        </p:nvSpPr>
        <p:spPr>
          <a:xfrm>
            <a:off x="685800" y="1143000"/>
            <a:ext cx="5486040" cy="3085920"/>
          </a:xfrm>
          <a:prstGeom prst="rect">
            <a:avLst/>
          </a:prstGeom>
          <a:ln w="0">
            <a:noFill/>
          </a:ln>
        </p:spPr>
      </p:sp>
      <p:sp>
        <p:nvSpPr>
          <p:cNvPr id="65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52"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806448A-44E0-44C9-89A2-0CE1A3037E25}"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3" name="PlaceHolder 1"/>
          <p:cNvSpPr>
            <a:spLocks noGrp="1"/>
          </p:cNvSpPr>
          <p:nvPr>
            <p:ph type="sldImg"/>
          </p:nvPr>
        </p:nvSpPr>
        <p:spPr>
          <a:xfrm>
            <a:off x="685800" y="1143000"/>
            <a:ext cx="5486040" cy="3085920"/>
          </a:xfrm>
          <a:prstGeom prst="rect">
            <a:avLst/>
          </a:prstGeom>
          <a:ln w="0">
            <a:noFill/>
          </a:ln>
        </p:spPr>
      </p:sp>
      <p:sp>
        <p:nvSpPr>
          <p:cNvPr id="65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55" name="PlaceHolder 3"/>
          <p:cNvSpPr>
            <a:spLocks noGrp="1"/>
          </p:cNvSpPr>
          <p:nvPr>
            <p:ph type="sldNum" idx="2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C6EFCCD-C9CD-470D-BDC4-9F5E7A2D622A}"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6" name="PlaceHolder 1"/>
          <p:cNvSpPr>
            <a:spLocks noGrp="1"/>
          </p:cNvSpPr>
          <p:nvPr>
            <p:ph type="sldImg"/>
          </p:nvPr>
        </p:nvSpPr>
        <p:spPr>
          <a:xfrm>
            <a:off x="685800" y="1143000"/>
            <a:ext cx="5486040" cy="3085920"/>
          </a:xfrm>
          <a:prstGeom prst="rect">
            <a:avLst/>
          </a:prstGeom>
          <a:ln w="0">
            <a:noFill/>
          </a:ln>
        </p:spPr>
      </p:sp>
      <p:sp>
        <p:nvSpPr>
          <p:cNvPr id="65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58" name="PlaceHolder 3"/>
          <p:cNvSpPr>
            <a:spLocks noGrp="1"/>
          </p:cNvSpPr>
          <p:nvPr>
            <p:ph type="sldNum" idx="2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C3DF94E3-4624-44DB-B78E-FC0AAFE042FD}"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9" name="PlaceHolder 1"/>
          <p:cNvSpPr>
            <a:spLocks noGrp="1"/>
          </p:cNvSpPr>
          <p:nvPr>
            <p:ph type="sldImg"/>
          </p:nvPr>
        </p:nvSpPr>
        <p:spPr>
          <a:xfrm>
            <a:off x="685800" y="1143000"/>
            <a:ext cx="5486040" cy="3085920"/>
          </a:xfrm>
          <a:prstGeom prst="rect">
            <a:avLst/>
          </a:prstGeom>
          <a:ln w="0">
            <a:noFill/>
          </a:ln>
        </p:spPr>
      </p:sp>
      <p:sp>
        <p:nvSpPr>
          <p:cNvPr id="66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61" name="PlaceHolder 3"/>
          <p:cNvSpPr>
            <a:spLocks noGrp="1"/>
          </p:cNvSpPr>
          <p:nvPr>
            <p:ph type="sldNum" idx="2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09BABB36-5D97-4AD3-9DC0-2E799815B763}"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2" name="PlaceHolder 1"/>
          <p:cNvSpPr>
            <a:spLocks noGrp="1"/>
          </p:cNvSpPr>
          <p:nvPr>
            <p:ph type="sldImg"/>
          </p:nvPr>
        </p:nvSpPr>
        <p:spPr>
          <a:xfrm>
            <a:off x="685800" y="1143000"/>
            <a:ext cx="5486040" cy="3085920"/>
          </a:xfrm>
          <a:prstGeom prst="rect">
            <a:avLst/>
          </a:prstGeom>
          <a:ln w="0">
            <a:noFill/>
          </a:ln>
        </p:spPr>
      </p:sp>
      <p:sp>
        <p:nvSpPr>
          <p:cNvPr id="66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64" name="PlaceHolder 3"/>
          <p:cNvSpPr>
            <a:spLocks noGrp="1"/>
          </p:cNvSpPr>
          <p:nvPr>
            <p:ph type="sldNum" idx="2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A0F96F1B-C16D-47B0-8858-92984CFEF009}"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5" name="PlaceHolder 1"/>
          <p:cNvSpPr>
            <a:spLocks noGrp="1"/>
          </p:cNvSpPr>
          <p:nvPr>
            <p:ph type="sldImg"/>
          </p:nvPr>
        </p:nvSpPr>
        <p:spPr>
          <a:xfrm>
            <a:off x="685800" y="1143000"/>
            <a:ext cx="5486040" cy="3085920"/>
          </a:xfrm>
          <a:prstGeom prst="rect">
            <a:avLst/>
          </a:prstGeom>
          <a:ln w="0">
            <a:noFill/>
          </a:ln>
        </p:spPr>
      </p:sp>
      <p:sp>
        <p:nvSpPr>
          <p:cNvPr id="66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67" name="PlaceHolder 3"/>
          <p:cNvSpPr>
            <a:spLocks noGrp="1"/>
          </p:cNvSpPr>
          <p:nvPr>
            <p:ph type="sldNum" idx="2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F88CCD14-1E08-4DBA-86D1-98392251C7FD}"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8" name="PlaceHolder 1"/>
          <p:cNvSpPr>
            <a:spLocks noGrp="1"/>
          </p:cNvSpPr>
          <p:nvPr>
            <p:ph type="sldImg"/>
          </p:nvPr>
        </p:nvSpPr>
        <p:spPr>
          <a:xfrm>
            <a:off x="685800" y="1143000"/>
            <a:ext cx="5486040" cy="3085920"/>
          </a:xfrm>
          <a:prstGeom prst="rect">
            <a:avLst/>
          </a:prstGeom>
          <a:ln w="0">
            <a:noFill/>
          </a:ln>
        </p:spPr>
      </p:sp>
      <p:sp>
        <p:nvSpPr>
          <p:cNvPr id="66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70" name="PlaceHolder 3"/>
          <p:cNvSpPr>
            <a:spLocks noGrp="1"/>
          </p:cNvSpPr>
          <p:nvPr>
            <p:ph type="sldNum" idx="2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F041441C-95E1-4B68-A011-F57E29480123}"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1" name="PlaceHolder 1"/>
          <p:cNvSpPr>
            <a:spLocks noGrp="1"/>
          </p:cNvSpPr>
          <p:nvPr>
            <p:ph type="sldImg"/>
          </p:nvPr>
        </p:nvSpPr>
        <p:spPr>
          <a:xfrm>
            <a:off x="685800" y="1143000"/>
            <a:ext cx="5486040" cy="3085920"/>
          </a:xfrm>
          <a:prstGeom prst="rect">
            <a:avLst/>
          </a:prstGeom>
          <a:ln w="0">
            <a:noFill/>
          </a:ln>
        </p:spPr>
      </p:sp>
      <p:sp>
        <p:nvSpPr>
          <p:cNvPr id="67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673" name="PlaceHolder 3"/>
          <p:cNvSpPr>
            <a:spLocks noGrp="1"/>
          </p:cNvSpPr>
          <p:nvPr>
            <p:ph type="sldNum" idx="2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A9353A7E-B321-4743-A7EB-258AE6FECA2D}" type="slidenum">
              <a:rPr b="0" lang="en-US" sz="1200" strike="noStrike" u="none">
                <a:solidFill>
                  <a:schemeClr val="dk1"/>
                </a:solidFill>
                <a:effectLst/>
                <a:uFillTx/>
                <a:latin typeface="+mn-lt"/>
                <a:ea typeface="+mn-ea"/>
              </a:rPr>
              <a:t>&lt;number&gt;</a:t>
            </a:fld>
            <a:endParaRPr b="0" lang="en-IN"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IN" sz="1800" strike="noStrike" u="none">
                <a:solidFill>
                  <a:schemeClr val="dk1"/>
                </a:solidFill>
                <a:effectLst/>
                <a:uFillTx/>
                <a:latin typeface="Calibri"/>
              </a:rPr>
              <a:t>Click to edit the title text format</a:t>
            </a:r>
            <a:endParaRPr b="0" lang="en-IN" sz="1800" strike="noStrike" u="none">
              <a:solidFill>
                <a:schemeClr val="dk1"/>
              </a:solidFill>
              <a:effectLst/>
              <a:uFillTx/>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trike="noStrike" u="none">
                <a:solidFill>
                  <a:schemeClr val="dk1"/>
                </a:solidFill>
                <a:effectLst/>
                <a:uFillTx/>
                <a:latin typeface="Calibri"/>
              </a:rPr>
              <a:t>Click to edit the outline text format</a:t>
            </a:r>
            <a:endParaRPr b="0" lang="en-IN"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IN" sz="2400" strike="noStrike" u="none">
                <a:solidFill>
                  <a:schemeClr val="dk1"/>
                </a:solidFill>
                <a:effectLst/>
                <a:uFillTx/>
                <a:latin typeface="Calibri"/>
              </a:rPr>
              <a:t>Second Outline Level</a:t>
            </a:r>
            <a:endParaRPr b="0" lang="en-IN"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IN" sz="2000" strike="noStrike" u="none">
                <a:solidFill>
                  <a:schemeClr val="dk1"/>
                </a:solidFill>
                <a:effectLst/>
                <a:uFillTx/>
                <a:latin typeface="Calibri"/>
              </a:rPr>
              <a:t>Third Outline Level</a:t>
            </a:r>
            <a:endParaRPr b="0" lang="en-IN"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IN" sz="2000" strike="noStrike" u="none">
                <a:solidFill>
                  <a:schemeClr val="dk1"/>
                </a:solidFill>
                <a:effectLst/>
                <a:uFillTx/>
                <a:latin typeface="Calibri"/>
              </a:rPr>
              <a:t>Fourth Outline Level</a:t>
            </a:r>
            <a:endParaRPr b="0" lang="en-IN"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IN" sz="2000" strike="noStrike" u="none">
                <a:solidFill>
                  <a:schemeClr val="dk1"/>
                </a:solidFill>
                <a:effectLst/>
                <a:uFillTx/>
                <a:latin typeface="Calibri"/>
              </a:rPr>
              <a:t>Fifth Outline Level</a:t>
            </a:r>
            <a:endParaRPr b="0" lang="en-IN"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IN" sz="2000" strike="noStrike" u="none">
                <a:solidFill>
                  <a:schemeClr val="dk1"/>
                </a:solidFill>
                <a:effectLst/>
                <a:uFillTx/>
                <a:latin typeface="Calibri"/>
              </a:rPr>
              <a:t>Sixth Outline Level</a:t>
            </a:r>
            <a:endParaRPr b="0" lang="en-IN"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IN" sz="2000" strike="noStrike" u="none">
                <a:solidFill>
                  <a:schemeClr val="dk1"/>
                </a:solidFill>
                <a:effectLst/>
                <a:uFillTx/>
                <a:latin typeface="Calibri"/>
              </a:rPr>
              <a:t>Seventh Outline Level</a:t>
            </a:r>
            <a:endParaRPr b="0" lang="en-IN" sz="2000" strike="noStrike" u="non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55872"/>
        </a:solidFill>
      </p:bgPr>
    </p:bg>
    <p:spTree>
      <p:nvGrpSpPr>
        <p:cNvPr id="1" name=""/>
        <p:cNvGrpSpPr/>
        <p:nvPr/>
      </p:nvGrpSpPr>
      <p:grpSpPr>
        <a:xfrm>
          <a:off x="0" y="0"/>
          <a:ext cx="0" cy="0"/>
          <a:chOff x="0" y="0"/>
          <a:chExt cx="0" cy="0"/>
        </a:xfrm>
      </p:grpSpPr>
      <p:sp>
        <p:nvSpPr>
          <p:cNvPr id="8" name="Shape 0"/>
          <p:cNvSpPr/>
          <p:nvPr/>
        </p:nvSpPr>
        <p:spPr>
          <a:xfrm>
            <a:off x="0" y="0"/>
            <a:ext cx="164160" cy="5143320"/>
          </a:xfrm>
          <a:prstGeom prst="rect">
            <a:avLst/>
          </a:prstGeom>
          <a:solidFill>
            <a:srgbClr val="9cd5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9" name="Text 1"/>
          <p:cNvSpPr/>
          <p:nvPr/>
        </p:nvSpPr>
        <p:spPr>
          <a:xfrm>
            <a:off x="347400" y="320040"/>
            <a:ext cx="841212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300" strike="noStrike" u="none">
                <a:solidFill>
                  <a:srgbClr val="9cd5ff"/>
                </a:solidFill>
                <a:effectLst/>
                <a:uFillTx/>
                <a:latin typeface="Calibri"/>
                <a:ea typeface="Calibri"/>
              </a:rPr>
              <a:t>JAVA PROGRAMMING  —  OBJECT ORIENTED PROGRAMMING</a:t>
            </a:r>
            <a:endParaRPr b="0" lang="en-IN" sz="1000" strike="noStrike" u="none">
              <a:solidFill>
                <a:srgbClr val="ffffff"/>
              </a:solidFill>
              <a:effectLst/>
              <a:uFillTx/>
              <a:latin typeface="Arial"/>
            </a:endParaRPr>
          </a:p>
        </p:txBody>
      </p:sp>
      <p:sp>
        <p:nvSpPr>
          <p:cNvPr id="10" name="Text 2"/>
          <p:cNvSpPr/>
          <p:nvPr/>
        </p:nvSpPr>
        <p:spPr>
          <a:xfrm>
            <a:off x="347400" y="685800"/>
            <a:ext cx="8412120" cy="1051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6000" strike="noStrike" u="none">
                <a:solidFill>
                  <a:srgbClr val="ffffff"/>
                </a:solidFill>
                <a:effectLst/>
                <a:uFillTx/>
                <a:latin typeface="Calibri"/>
                <a:ea typeface="Calibri"/>
              </a:rPr>
              <a:t>OOP Basics</a:t>
            </a:r>
            <a:endParaRPr b="0" lang="en-IN" sz="6000" strike="noStrike" u="none">
              <a:solidFill>
                <a:srgbClr val="ffffff"/>
              </a:solidFill>
              <a:effectLst/>
              <a:uFillTx/>
              <a:latin typeface="Arial"/>
            </a:endParaRPr>
          </a:p>
        </p:txBody>
      </p:sp>
      <p:sp>
        <p:nvSpPr>
          <p:cNvPr id="11" name="Shape 3"/>
          <p:cNvSpPr/>
          <p:nvPr/>
        </p:nvSpPr>
        <p:spPr>
          <a:xfrm>
            <a:off x="347400" y="1920240"/>
            <a:ext cx="1663920" cy="438480"/>
          </a:xfrm>
          <a:prstGeom prst="rect">
            <a:avLst/>
          </a:prstGeom>
          <a:solidFill>
            <a:srgbClr val="2a4e66"/>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2" name="Shape 4"/>
          <p:cNvSpPr/>
          <p:nvPr/>
        </p:nvSpPr>
        <p:spPr>
          <a:xfrm>
            <a:off x="347400" y="1920240"/>
            <a:ext cx="1663920" cy="63720"/>
          </a:xfrm>
          <a:prstGeom prst="rect">
            <a:avLst/>
          </a:prstGeom>
          <a:solidFill>
            <a:srgbClr val="9cd5ff"/>
          </a:solidFill>
          <a:ln w="0">
            <a:noFill/>
          </a:ln>
        </p:spPr>
        <p:style>
          <a:lnRef idx="0"/>
          <a:fillRef idx="0"/>
          <a:effectRef idx="0"/>
          <a:fontRef idx="minor"/>
        </p:style>
        <p:txBody>
          <a:bodyPr lIns="90000" rIns="90000" tIns="19080" bIns="19080" anchor="t">
            <a:noAutofit/>
          </a:bodyPr>
          <a:p>
            <a:endParaRPr b="0" lang="en-IN" sz="1800" strike="noStrike" u="none">
              <a:solidFill>
                <a:srgbClr val="000000"/>
              </a:solidFill>
              <a:effectLst/>
              <a:uFillTx/>
              <a:latin typeface="Arial"/>
            </a:endParaRPr>
          </a:p>
        </p:txBody>
      </p:sp>
      <p:sp>
        <p:nvSpPr>
          <p:cNvPr id="13" name="Text 5"/>
          <p:cNvSpPr/>
          <p:nvPr/>
        </p:nvSpPr>
        <p:spPr>
          <a:xfrm>
            <a:off x="347400" y="1984320"/>
            <a:ext cx="1663920" cy="374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50" strike="noStrike" u="none">
                <a:solidFill>
                  <a:srgbClr val="ffffff"/>
                </a:solidFill>
                <a:effectLst/>
                <a:uFillTx/>
                <a:latin typeface="Calibri"/>
                <a:ea typeface="Calibri"/>
              </a:rPr>
              <a:t>Class</a:t>
            </a:r>
            <a:endParaRPr b="0" lang="en-IN" sz="1150" strike="noStrike" u="none">
              <a:solidFill>
                <a:srgbClr val="ffffff"/>
              </a:solidFill>
              <a:effectLst/>
              <a:uFillTx/>
              <a:latin typeface="Arial"/>
            </a:endParaRPr>
          </a:p>
        </p:txBody>
      </p:sp>
      <p:sp>
        <p:nvSpPr>
          <p:cNvPr id="14" name="Shape 6"/>
          <p:cNvSpPr/>
          <p:nvPr/>
        </p:nvSpPr>
        <p:spPr>
          <a:xfrm>
            <a:off x="2112120" y="1920240"/>
            <a:ext cx="1663920" cy="438480"/>
          </a:xfrm>
          <a:prstGeom prst="rect">
            <a:avLst/>
          </a:prstGeom>
          <a:solidFill>
            <a:srgbClr val="2a4e66"/>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5" name="Shape 7"/>
          <p:cNvSpPr/>
          <p:nvPr/>
        </p:nvSpPr>
        <p:spPr>
          <a:xfrm>
            <a:off x="2112120" y="1920240"/>
            <a:ext cx="1663920" cy="63720"/>
          </a:xfrm>
          <a:prstGeom prst="rect">
            <a:avLst/>
          </a:prstGeom>
          <a:solidFill>
            <a:srgbClr val="9cd5ff"/>
          </a:solidFill>
          <a:ln w="0">
            <a:noFill/>
          </a:ln>
        </p:spPr>
        <p:style>
          <a:lnRef idx="0"/>
          <a:fillRef idx="0"/>
          <a:effectRef idx="0"/>
          <a:fontRef idx="minor"/>
        </p:style>
        <p:txBody>
          <a:bodyPr lIns="90000" rIns="90000" tIns="19080" bIns="19080" anchor="t">
            <a:noAutofit/>
          </a:bodyPr>
          <a:p>
            <a:endParaRPr b="0" lang="en-IN" sz="1800" strike="noStrike" u="none">
              <a:solidFill>
                <a:srgbClr val="000000"/>
              </a:solidFill>
              <a:effectLst/>
              <a:uFillTx/>
              <a:latin typeface="Arial"/>
            </a:endParaRPr>
          </a:p>
        </p:txBody>
      </p:sp>
      <p:sp>
        <p:nvSpPr>
          <p:cNvPr id="16" name="Text 8"/>
          <p:cNvSpPr/>
          <p:nvPr/>
        </p:nvSpPr>
        <p:spPr>
          <a:xfrm>
            <a:off x="2112120" y="1984320"/>
            <a:ext cx="1663920" cy="374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50" strike="noStrike" u="none">
                <a:solidFill>
                  <a:srgbClr val="ffffff"/>
                </a:solidFill>
                <a:effectLst/>
                <a:uFillTx/>
                <a:latin typeface="Calibri"/>
                <a:ea typeface="Calibri"/>
              </a:rPr>
              <a:t>Object</a:t>
            </a:r>
            <a:endParaRPr b="0" lang="en-IN" sz="1150" strike="noStrike" u="none">
              <a:solidFill>
                <a:srgbClr val="ffffff"/>
              </a:solidFill>
              <a:effectLst/>
              <a:uFillTx/>
              <a:latin typeface="Arial"/>
            </a:endParaRPr>
          </a:p>
        </p:txBody>
      </p:sp>
      <p:sp>
        <p:nvSpPr>
          <p:cNvPr id="17" name="Shape 9"/>
          <p:cNvSpPr/>
          <p:nvPr/>
        </p:nvSpPr>
        <p:spPr>
          <a:xfrm>
            <a:off x="3877200" y="1920240"/>
            <a:ext cx="1663920" cy="438480"/>
          </a:xfrm>
          <a:prstGeom prst="rect">
            <a:avLst/>
          </a:prstGeom>
          <a:solidFill>
            <a:srgbClr val="2a4e66"/>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8" name="Shape 10"/>
          <p:cNvSpPr/>
          <p:nvPr/>
        </p:nvSpPr>
        <p:spPr>
          <a:xfrm>
            <a:off x="3877200" y="1920240"/>
            <a:ext cx="1663920" cy="63720"/>
          </a:xfrm>
          <a:prstGeom prst="rect">
            <a:avLst/>
          </a:prstGeom>
          <a:solidFill>
            <a:srgbClr val="9cd5ff"/>
          </a:solidFill>
          <a:ln w="0">
            <a:noFill/>
          </a:ln>
        </p:spPr>
        <p:style>
          <a:lnRef idx="0"/>
          <a:fillRef idx="0"/>
          <a:effectRef idx="0"/>
          <a:fontRef idx="minor"/>
        </p:style>
        <p:txBody>
          <a:bodyPr lIns="90000" rIns="90000" tIns="19080" bIns="19080" anchor="t">
            <a:noAutofit/>
          </a:bodyPr>
          <a:p>
            <a:endParaRPr b="0" lang="en-IN" sz="1800" strike="noStrike" u="none">
              <a:solidFill>
                <a:srgbClr val="000000"/>
              </a:solidFill>
              <a:effectLst/>
              <a:uFillTx/>
              <a:latin typeface="Arial"/>
            </a:endParaRPr>
          </a:p>
        </p:txBody>
      </p:sp>
      <p:sp>
        <p:nvSpPr>
          <p:cNvPr id="19" name="Text 11"/>
          <p:cNvSpPr/>
          <p:nvPr/>
        </p:nvSpPr>
        <p:spPr>
          <a:xfrm>
            <a:off x="3877200" y="1984320"/>
            <a:ext cx="1663920" cy="374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50" strike="noStrike" u="none">
                <a:solidFill>
                  <a:srgbClr val="ffffff"/>
                </a:solidFill>
                <a:effectLst/>
                <a:uFillTx/>
                <a:latin typeface="Calibri"/>
                <a:ea typeface="Calibri"/>
              </a:rPr>
              <a:t>Constructor</a:t>
            </a:r>
            <a:endParaRPr b="0" lang="en-IN" sz="1150" strike="noStrike" u="none">
              <a:solidFill>
                <a:srgbClr val="ffffff"/>
              </a:solidFill>
              <a:effectLst/>
              <a:uFillTx/>
              <a:latin typeface="Arial"/>
            </a:endParaRPr>
          </a:p>
        </p:txBody>
      </p:sp>
      <p:sp>
        <p:nvSpPr>
          <p:cNvPr id="20" name="Shape 12"/>
          <p:cNvSpPr/>
          <p:nvPr/>
        </p:nvSpPr>
        <p:spPr>
          <a:xfrm>
            <a:off x="5641920" y="1920240"/>
            <a:ext cx="1663920" cy="438480"/>
          </a:xfrm>
          <a:prstGeom prst="rect">
            <a:avLst/>
          </a:prstGeom>
          <a:solidFill>
            <a:srgbClr val="2a4e66"/>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1" name="Shape 13"/>
          <p:cNvSpPr/>
          <p:nvPr/>
        </p:nvSpPr>
        <p:spPr>
          <a:xfrm>
            <a:off x="5641920" y="1920240"/>
            <a:ext cx="1663920" cy="63720"/>
          </a:xfrm>
          <a:prstGeom prst="rect">
            <a:avLst/>
          </a:prstGeom>
          <a:solidFill>
            <a:srgbClr val="9cd5ff"/>
          </a:solidFill>
          <a:ln w="0">
            <a:noFill/>
          </a:ln>
        </p:spPr>
        <p:style>
          <a:lnRef idx="0"/>
          <a:fillRef idx="0"/>
          <a:effectRef idx="0"/>
          <a:fontRef idx="minor"/>
        </p:style>
        <p:txBody>
          <a:bodyPr lIns="90000" rIns="90000" tIns="19080" bIns="19080" anchor="t">
            <a:noAutofit/>
          </a:bodyPr>
          <a:p>
            <a:endParaRPr b="0" lang="en-IN" sz="1800" strike="noStrike" u="none">
              <a:solidFill>
                <a:srgbClr val="000000"/>
              </a:solidFill>
              <a:effectLst/>
              <a:uFillTx/>
              <a:latin typeface="Arial"/>
            </a:endParaRPr>
          </a:p>
        </p:txBody>
      </p:sp>
      <p:sp>
        <p:nvSpPr>
          <p:cNvPr id="22" name="Text 14"/>
          <p:cNvSpPr/>
          <p:nvPr/>
        </p:nvSpPr>
        <p:spPr>
          <a:xfrm>
            <a:off x="5641920" y="1984320"/>
            <a:ext cx="1663920" cy="374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50" strike="noStrike" u="none">
                <a:solidFill>
                  <a:srgbClr val="ffffff"/>
                </a:solidFill>
                <a:effectLst/>
                <a:uFillTx/>
                <a:latin typeface="Calibri"/>
                <a:ea typeface="Calibri"/>
              </a:rPr>
              <a:t>Access Modifiers</a:t>
            </a:r>
            <a:endParaRPr b="0" lang="en-IN" sz="1150" strike="noStrike" u="none">
              <a:solidFill>
                <a:srgbClr val="ffffff"/>
              </a:solidFill>
              <a:effectLst/>
              <a:uFillTx/>
              <a:latin typeface="Arial"/>
            </a:endParaRPr>
          </a:p>
        </p:txBody>
      </p:sp>
      <p:sp>
        <p:nvSpPr>
          <p:cNvPr id="23" name="Shape 15"/>
          <p:cNvSpPr/>
          <p:nvPr/>
        </p:nvSpPr>
        <p:spPr>
          <a:xfrm>
            <a:off x="7406640" y="1920240"/>
            <a:ext cx="1663920" cy="438480"/>
          </a:xfrm>
          <a:prstGeom prst="rect">
            <a:avLst/>
          </a:prstGeom>
          <a:solidFill>
            <a:srgbClr val="2a4e66"/>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4" name="Shape 16"/>
          <p:cNvSpPr/>
          <p:nvPr/>
        </p:nvSpPr>
        <p:spPr>
          <a:xfrm>
            <a:off x="7406640" y="1920240"/>
            <a:ext cx="1663920" cy="63720"/>
          </a:xfrm>
          <a:prstGeom prst="rect">
            <a:avLst/>
          </a:prstGeom>
          <a:solidFill>
            <a:srgbClr val="9cd5ff"/>
          </a:solidFill>
          <a:ln w="0">
            <a:noFill/>
          </a:ln>
        </p:spPr>
        <p:style>
          <a:lnRef idx="0"/>
          <a:fillRef idx="0"/>
          <a:effectRef idx="0"/>
          <a:fontRef idx="minor"/>
        </p:style>
        <p:txBody>
          <a:bodyPr lIns="90000" rIns="90000" tIns="19080" bIns="19080" anchor="t">
            <a:noAutofit/>
          </a:bodyPr>
          <a:p>
            <a:endParaRPr b="0" lang="en-IN" sz="1800" strike="noStrike" u="none">
              <a:solidFill>
                <a:srgbClr val="000000"/>
              </a:solidFill>
              <a:effectLst/>
              <a:uFillTx/>
              <a:latin typeface="Arial"/>
            </a:endParaRPr>
          </a:p>
        </p:txBody>
      </p:sp>
      <p:sp>
        <p:nvSpPr>
          <p:cNvPr id="25" name="Text 17"/>
          <p:cNvSpPr/>
          <p:nvPr/>
        </p:nvSpPr>
        <p:spPr>
          <a:xfrm>
            <a:off x="7406640" y="1984320"/>
            <a:ext cx="1663920" cy="374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50" strike="noStrike" u="none">
                <a:solidFill>
                  <a:srgbClr val="ffffff"/>
                </a:solidFill>
                <a:effectLst/>
                <a:uFillTx/>
                <a:latin typeface="Calibri"/>
                <a:ea typeface="Calibri"/>
              </a:rPr>
              <a:t>Static</a:t>
            </a:r>
            <a:endParaRPr b="0" lang="en-IN" sz="1150" strike="noStrike" u="none">
              <a:solidFill>
                <a:srgbClr val="ffffff"/>
              </a:solidFill>
              <a:effectLst/>
              <a:uFillTx/>
              <a:latin typeface="Arial"/>
            </a:endParaRPr>
          </a:p>
        </p:txBody>
      </p:sp>
      <p:sp>
        <p:nvSpPr>
          <p:cNvPr id="26" name="Text 18"/>
          <p:cNvSpPr/>
          <p:nvPr/>
        </p:nvSpPr>
        <p:spPr>
          <a:xfrm>
            <a:off x="347400" y="2578680"/>
            <a:ext cx="8046360" cy="959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trike="noStrike" u="none">
                <a:solidFill>
                  <a:srgbClr val="c8dff0"/>
                </a:solidFill>
                <a:effectLst/>
                <a:uFillTx/>
                <a:latin typeface="Calibri"/>
                <a:ea typeface="Calibri"/>
              </a:rPr>
              <a:t>This session covers the five foundational pillars of Object-Oriented Programming in Java. You will learn what a class is, how to create objects from it, how constructors initialise data, how access modifiers protect that data, and how the static keyword creates shared class-level members.</a:t>
            </a:r>
            <a:endParaRPr b="0" lang="en-IN" sz="1350" strike="noStrike" u="none">
              <a:solidFill>
                <a:srgbClr val="ffffff"/>
              </a:solidFill>
              <a:effectLst/>
              <a:uFillTx/>
              <a:latin typeface="Arial"/>
            </a:endParaRPr>
          </a:p>
        </p:txBody>
      </p:sp>
      <p:sp>
        <p:nvSpPr>
          <p:cNvPr id="27" name="Shape 19"/>
          <p:cNvSpPr/>
          <p:nvPr/>
        </p:nvSpPr>
        <p:spPr>
          <a:xfrm>
            <a:off x="347400" y="3657600"/>
            <a:ext cx="8448840" cy="45360"/>
          </a:xfrm>
          <a:prstGeom prst="rect">
            <a:avLst/>
          </a:prstGeom>
          <a:solidFill>
            <a:srgbClr val="7aaace"/>
          </a:solidFill>
          <a:ln w="0">
            <a:noFill/>
          </a:ln>
        </p:spPr>
        <p:style>
          <a:lnRef idx="0"/>
          <a:fillRef idx="0"/>
          <a:effectRef idx="0"/>
          <a:fontRef idx="minor"/>
        </p:style>
        <p:txBody>
          <a:bodyPr lIns="90000" rIns="90000" tIns="720" bIns="720" anchor="t">
            <a:noAutofit/>
          </a:bodyPr>
          <a:p>
            <a:endParaRPr b="0" lang="en-IN" sz="1800" strike="noStrike" u="none">
              <a:solidFill>
                <a:srgbClr val="000000"/>
              </a:solidFill>
              <a:effectLst/>
              <a:uFillTx/>
              <a:latin typeface="Arial"/>
            </a:endParaRPr>
          </a:p>
        </p:txBody>
      </p:sp>
      <p:sp>
        <p:nvSpPr>
          <p:cNvPr id="28" name="Text 20"/>
          <p:cNvSpPr/>
          <p:nvPr/>
        </p:nvSpPr>
        <p:spPr>
          <a:xfrm>
            <a:off x="347400" y="3822120"/>
            <a:ext cx="201132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201" strike="noStrike" u="none">
                <a:solidFill>
                  <a:srgbClr val="7aaace"/>
                </a:solidFill>
                <a:effectLst/>
                <a:uFillTx/>
                <a:latin typeface="Calibri"/>
                <a:ea typeface="Calibri"/>
              </a:rPr>
              <a:t>LEVEL</a:t>
            </a:r>
            <a:endParaRPr b="0" lang="en-IN" sz="900" strike="noStrike" u="none">
              <a:solidFill>
                <a:srgbClr val="ffffff"/>
              </a:solidFill>
              <a:effectLst/>
              <a:uFillTx/>
              <a:latin typeface="Arial"/>
            </a:endParaRPr>
          </a:p>
        </p:txBody>
      </p:sp>
      <p:sp>
        <p:nvSpPr>
          <p:cNvPr id="29" name="Text 21"/>
          <p:cNvSpPr/>
          <p:nvPr/>
        </p:nvSpPr>
        <p:spPr>
          <a:xfrm>
            <a:off x="347400" y="4060080"/>
            <a:ext cx="201132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trike="noStrike" u="none">
                <a:solidFill>
                  <a:srgbClr val="ffffff"/>
                </a:solidFill>
                <a:effectLst/>
                <a:uFillTx/>
                <a:latin typeface="Calibri"/>
                <a:ea typeface="Calibri"/>
              </a:rPr>
              <a:t>Beginner / Fresher</a:t>
            </a:r>
            <a:endParaRPr b="0" lang="en-IN" sz="1300" strike="noStrike" u="none">
              <a:solidFill>
                <a:srgbClr val="ffffff"/>
              </a:solidFill>
              <a:effectLst/>
              <a:uFillTx/>
              <a:latin typeface="Arial"/>
            </a:endParaRPr>
          </a:p>
        </p:txBody>
      </p:sp>
      <p:sp>
        <p:nvSpPr>
          <p:cNvPr id="30" name="Text 22"/>
          <p:cNvSpPr/>
          <p:nvPr/>
        </p:nvSpPr>
        <p:spPr>
          <a:xfrm>
            <a:off x="2505600" y="3822120"/>
            <a:ext cx="201132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201" strike="noStrike" u="none">
                <a:solidFill>
                  <a:srgbClr val="7aaace"/>
                </a:solidFill>
                <a:effectLst/>
                <a:uFillTx/>
                <a:latin typeface="Calibri"/>
                <a:ea typeface="Calibri"/>
              </a:rPr>
              <a:t>LANGUAGE</a:t>
            </a:r>
            <a:endParaRPr b="0" lang="en-IN" sz="900" strike="noStrike" u="none">
              <a:solidFill>
                <a:srgbClr val="ffffff"/>
              </a:solidFill>
              <a:effectLst/>
              <a:uFillTx/>
              <a:latin typeface="Arial"/>
            </a:endParaRPr>
          </a:p>
        </p:txBody>
      </p:sp>
      <p:sp>
        <p:nvSpPr>
          <p:cNvPr id="31" name="Text 23"/>
          <p:cNvSpPr/>
          <p:nvPr/>
        </p:nvSpPr>
        <p:spPr>
          <a:xfrm>
            <a:off x="2505600" y="4060080"/>
            <a:ext cx="201132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trike="noStrike" u="none">
                <a:solidFill>
                  <a:srgbClr val="ffffff"/>
                </a:solidFill>
                <a:effectLst/>
                <a:uFillTx/>
                <a:latin typeface="Calibri"/>
                <a:ea typeface="Calibri"/>
              </a:rPr>
              <a:t>Java SE 11+</a:t>
            </a:r>
            <a:endParaRPr b="0" lang="en-IN" sz="1300" strike="noStrike" u="none">
              <a:solidFill>
                <a:srgbClr val="ffffff"/>
              </a:solidFill>
              <a:effectLst/>
              <a:uFillTx/>
              <a:latin typeface="Arial"/>
            </a:endParaRPr>
          </a:p>
        </p:txBody>
      </p:sp>
      <p:sp>
        <p:nvSpPr>
          <p:cNvPr id="32" name="Text 24"/>
          <p:cNvSpPr/>
          <p:nvPr/>
        </p:nvSpPr>
        <p:spPr>
          <a:xfrm>
            <a:off x="4663440" y="3822120"/>
            <a:ext cx="201132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201" strike="noStrike" u="none">
                <a:solidFill>
                  <a:srgbClr val="7aaace"/>
                </a:solidFill>
                <a:effectLst/>
                <a:uFillTx/>
                <a:latin typeface="Calibri"/>
                <a:ea typeface="Calibri"/>
              </a:rPr>
              <a:t>PROBLEMS</a:t>
            </a:r>
            <a:endParaRPr b="0" lang="en-IN" sz="900" strike="noStrike" u="none">
              <a:solidFill>
                <a:srgbClr val="ffffff"/>
              </a:solidFill>
              <a:effectLst/>
              <a:uFillTx/>
              <a:latin typeface="Arial"/>
            </a:endParaRPr>
          </a:p>
        </p:txBody>
      </p:sp>
      <p:sp>
        <p:nvSpPr>
          <p:cNvPr id="33" name="Text 25"/>
          <p:cNvSpPr/>
          <p:nvPr/>
        </p:nvSpPr>
        <p:spPr>
          <a:xfrm>
            <a:off x="4663440" y="4060080"/>
            <a:ext cx="201132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trike="noStrike" u="none">
                <a:solidFill>
                  <a:srgbClr val="ffffff"/>
                </a:solidFill>
                <a:effectLst/>
                <a:uFillTx/>
                <a:latin typeface="Calibri"/>
                <a:ea typeface="Calibri"/>
              </a:rPr>
              <a:t>8 Practice Problems</a:t>
            </a:r>
            <a:endParaRPr b="0" lang="en-IN" sz="1300" strike="noStrike" u="none">
              <a:solidFill>
                <a:srgbClr val="ffffff"/>
              </a:solidFill>
              <a:effectLst/>
              <a:uFillTx/>
              <a:latin typeface="Arial"/>
            </a:endParaRPr>
          </a:p>
        </p:txBody>
      </p:sp>
      <p:sp>
        <p:nvSpPr>
          <p:cNvPr id="34" name="Text 26"/>
          <p:cNvSpPr/>
          <p:nvPr/>
        </p:nvSpPr>
        <p:spPr>
          <a:xfrm>
            <a:off x="6821280" y="3822120"/>
            <a:ext cx="201132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201" strike="noStrike" u="none">
                <a:solidFill>
                  <a:srgbClr val="7aaace"/>
                </a:solidFill>
                <a:effectLst/>
                <a:uFillTx/>
                <a:latin typeface="Calibri"/>
                <a:ea typeface="Calibri"/>
              </a:rPr>
              <a:t>SECTIONS</a:t>
            </a:r>
            <a:endParaRPr b="0" lang="en-IN" sz="900" strike="noStrike" u="none">
              <a:solidFill>
                <a:srgbClr val="ffffff"/>
              </a:solidFill>
              <a:effectLst/>
              <a:uFillTx/>
              <a:latin typeface="Arial"/>
            </a:endParaRPr>
          </a:p>
        </p:txBody>
      </p:sp>
      <p:sp>
        <p:nvSpPr>
          <p:cNvPr id="35" name="Text 27"/>
          <p:cNvSpPr/>
          <p:nvPr/>
        </p:nvSpPr>
        <p:spPr>
          <a:xfrm>
            <a:off x="6821280" y="4060080"/>
            <a:ext cx="201132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trike="noStrike" u="none">
                <a:solidFill>
                  <a:srgbClr val="ffffff"/>
                </a:solidFill>
                <a:effectLst/>
                <a:uFillTx/>
                <a:latin typeface="Calibri"/>
                <a:ea typeface="Calibri"/>
              </a:rPr>
              <a:t>5 Core Topics</a:t>
            </a:r>
            <a:endParaRPr b="0" lang="en-IN" sz="1300" strike="noStrike" u="none">
              <a:solidFill>
                <a:srgbClr val="ffffff"/>
              </a:solidFill>
              <a:effectLst/>
              <a:uFillTx/>
              <a:latin typeface="Arial"/>
            </a:endParaRPr>
          </a:p>
        </p:txBody>
      </p:sp>
      <p:sp>
        <p:nvSpPr>
          <p:cNvPr id="36" name="Text 28"/>
          <p:cNvSpPr/>
          <p:nvPr/>
        </p:nvSpPr>
        <p:spPr>
          <a:xfrm>
            <a:off x="347400" y="4773240"/>
            <a:ext cx="841212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trike="noStrike" u="none">
                <a:solidFill>
                  <a:srgbClr val="4a6070"/>
                </a:solidFill>
                <a:effectLst/>
                <a:uFillTx/>
                <a:latin typeface="Calibri"/>
                <a:ea typeface="Calibri"/>
              </a:rPr>
              <a:t>For Classroom Use Only</a:t>
            </a:r>
            <a:endParaRPr b="0" lang="en-IN" sz="9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55872"/>
        </a:solidFill>
      </p:bgPr>
    </p:bg>
    <p:spTree>
      <p:nvGrpSpPr>
        <p:cNvPr id="1" name=""/>
        <p:cNvGrpSpPr/>
        <p:nvPr/>
      </p:nvGrpSpPr>
      <p:grpSpPr>
        <a:xfrm>
          <a:off x="0" y="0"/>
          <a:ext cx="0" cy="0"/>
          <a:chOff x="0" y="0"/>
          <a:chExt cx="0" cy="0"/>
        </a:xfrm>
      </p:grpSpPr>
      <p:sp>
        <p:nvSpPr>
          <p:cNvPr id="37" name="Shape 0"/>
          <p:cNvSpPr/>
          <p:nvPr/>
        </p:nvSpPr>
        <p:spPr>
          <a:xfrm>
            <a:off x="0" y="0"/>
            <a:ext cx="3291480" cy="5143320"/>
          </a:xfrm>
          <a:prstGeom prst="rect">
            <a:avLst/>
          </a:prstGeom>
          <a:solidFill>
            <a:srgbClr val="2a4e66"/>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8" name="Shape 1"/>
          <p:cNvSpPr/>
          <p:nvPr/>
        </p:nvSpPr>
        <p:spPr>
          <a:xfrm>
            <a:off x="0" y="0"/>
            <a:ext cx="164160" cy="5143320"/>
          </a:xfrm>
          <a:prstGeom prst="rect">
            <a:avLst/>
          </a:prstGeom>
          <a:solidFill>
            <a:srgbClr val="9cd5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9" name="Text 2"/>
          <p:cNvSpPr/>
          <p:nvPr/>
        </p:nvSpPr>
        <p:spPr>
          <a:xfrm>
            <a:off x="228600" y="1371600"/>
            <a:ext cx="2925720" cy="146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0" strike="noStrike" u="none">
                <a:solidFill>
                  <a:srgbClr val="1e3d52"/>
                </a:solidFill>
                <a:effectLst/>
                <a:uFillTx/>
                <a:latin typeface="Calibri"/>
                <a:ea typeface="Calibri"/>
              </a:rPr>
              <a:t>01</a:t>
            </a:r>
            <a:endParaRPr b="0" lang="en-IN" sz="11000" strike="noStrike" u="none">
              <a:solidFill>
                <a:srgbClr val="ffffff"/>
              </a:solidFill>
              <a:effectLst/>
              <a:uFillTx/>
              <a:latin typeface="Arial"/>
            </a:endParaRPr>
          </a:p>
        </p:txBody>
      </p:sp>
      <p:sp>
        <p:nvSpPr>
          <p:cNvPr id="40" name="Text 3"/>
          <p:cNvSpPr/>
          <p:nvPr/>
        </p:nvSpPr>
        <p:spPr>
          <a:xfrm>
            <a:off x="228600" y="320040"/>
            <a:ext cx="2925720" cy="255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00" spc="400" strike="noStrike" u="none">
                <a:solidFill>
                  <a:srgbClr val="9cd5ff"/>
                </a:solidFill>
                <a:effectLst/>
                <a:uFillTx/>
                <a:latin typeface="Calibri"/>
                <a:ea typeface="Calibri"/>
              </a:rPr>
              <a:t>SECTION</a:t>
            </a:r>
            <a:endParaRPr b="0" lang="en-IN" sz="1000" strike="noStrike" u="none">
              <a:solidFill>
                <a:srgbClr val="ffffff"/>
              </a:solidFill>
              <a:effectLst/>
              <a:uFillTx/>
              <a:latin typeface="Arial"/>
            </a:endParaRPr>
          </a:p>
        </p:txBody>
      </p:sp>
      <p:sp>
        <p:nvSpPr>
          <p:cNvPr id="41" name="Text 4"/>
          <p:cNvSpPr/>
          <p:nvPr/>
        </p:nvSpPr>
        <p:spPr>
          <a:xfrm>
            <a:off x="3520440" y="914400"/>
            <a:ext cx="5394600" cy="914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800" strike="noStrike" u="none">
                <a:solidFill>
                  <a:srgbClr val="ffffff"/>
                </a:solidFill>
                <a:effectLst/>
                <a:uFillTx/>
                <a:latin typeface="Calibri"/>
                <a:ea typeface="Calibri"/>
              </a:rPr>
              <a:t>Class &amp; Object</a:t>
            </a:r>
            <a:endParaRPr b="0" lang="en-IN" sz="3800" strike="noStrike" u="none">
              <a:solidFill>
                <a:srgbClr val="ffffff"/>
              </a:solidFill>
              <a:effectLst/>
              <a:uFillTx/>
              <a:latin typeface="Arial"/>
            </a:endParaRPr>
          </a:p>
        </p:txBody>
      </p:sp>
      <p:sp>
        <p:nvSpPr>
          <p:cNvPr id="42" name="Text 5"/>
          <p:cNvSpPr/>
          <p:nvPr/>
        </p:nvSpPr>
        <p:spPr>
          <a:xfrm>
            <a:off x="3520440" y="1920240"/>
            <a:ext cx="5394600" cy="411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500" strike="noStrike" u="none">
                <a:solidFill>
                  <a:srgbClr val="9cd5ff"/>
                </a:solidFill>
                <a:effectLst/>
                <a:uFillTx/>
                <a:latin typeface="Calibri"/>
                <a:ea typeface="Calibri"/>
              </a:rPr>
              <a:t>Blueprint and the real thing</a:t>
            </a:r>
            <a:endParaRPr b="0" lang="en-IN" sz="1500" strike="noStrike" u="none">
              <a:solidFill>
                <a:srgbClr val="ffffff"/>
              </a:solidFill>
              <a:effectLst/>
              <a:uFillTx/>
              <a:latin typeface="Arial"/>
            </a:endParaRPr>
          </a:p>
        </p:txBody>
      </p:sp>
      <p:sp>
        <p:nvSpPr>
          <p:cNvPr id="43" name="Shape 6"/>
          <p:cNvSpPr/>
          <p:nvPr/>
        </p:nvSpPr>
        <p:spPr>
          <a:xfrm>
            <a:off x="3520440" y="2514600"/>
            <a:ext cx="5394600" cy="1371240"/>
          </a:xfrm>
          <a:prstGeom prst="rect">
            <a:avLst/>
          </a:prstGeom>
          <a:solidFill>
            <a:srgbClr val="1e3d52"/>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4" name="Shape 7"/>
          <p:cNvSpPr/>
          <p:nvPr/>
        </p:nvSpPr>
        <p:spPr>
          <a:xfrm>
            <a:off x="3520440" y="2514600"/>
            <a:ext cx="72720" cy="1371240"/>
          </a:xfrm>
          <a:prstGeom prst="rect">
            <a:avLst/>
          </a:prstGeom>
          <a:solidFill>
            <a:srgbClr val="9cd5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5" name="Text 8"/>
          <p:cNvSpPr/>
          <p:nvPr/>
        </p:nvSpPr>
        <p:spPr>
          <a:xfrm>
            <a:off x="3703320" y="2514600"/>
            <a:ext cx="5138640" cy="1371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350" strike="noStrike" u="none">
                <a:solidFill>
                  <a:srgbClr val="c8dff0"/>
                </a:solidFill>
                <a:effectLst/>
                <a:uFillTx/>
                <a:latin typeface="Calibri"/>
                <a:ea typeface="Calibri"/>
              </a:rPr>
              <a:t>A class is a template — it defines what data and behaviour an object will have. An object is the actual entity created from that template. You must understand both before writing any OOP code.</a:t>
            </a:r>
            <a:endParaRPr b="0" lang="en-IN" sz="135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8f0"/>
        </a:solidFill>
      </p:bgPr>
    </p:bg>
    <p:spTree>
      <p:nvGrpSpPr>
        <p:cNvPr id="1" name=""/>
        <p:cNvGrpSpPr/>
        <p:nvPr/>
      </p:nvGrpSpPr>
      <p:grpSpPr>
        <a:xfrm>
          <a:off x="0" y="0"/>
          <a:ext cx="0" cy="0"/>
          <a:chOff x="0" y="0"/>
          <a:chExt cx="0" cy="0"/>
        </a:xfrm>
      </p:grpSpPr>
      <p:sp>
        <p:nvSpPr>
          <p:cNvPr id="46" name="Shape 0"/>
          <p:cNvSpPr/>
          <p:nvPr/>
        </p:nvSpPr>
        <p:spPr>
          <a:xfrm>
            <a:off x="0" y="0"/>
            <a:ext cx="914364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7" name="Text 1"/>
          <p:cNvSpPr/>
          <p:nvPr/>
        </p:nvSpPr>
        <p:spPr>
          <a:xfrm>
            <a:off x="320040" y="91440"/>
            <a:ext cx="7131960" cy="612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ffffff"/>
                </a:solidFill>
                <a:effectLst/>
                <a:uFillTx/>
                <a:latin typeface="Calibri"/>
                <a:ea typeface="Calibri"/>
              </a:rPr>
              <a:t>What is a Class?</a:t>
            </a:r>
            <a:endParaRPr b="0" lang="en-IN" sz="2200" strike="noStrike" u="none">
              <a:solidFill>
                <a:srgbClr val="000000"/>
              </a:solidFill>
              <a:effectLst/>
              <a:uFillTx/>
              <a:latin typeface="Arial"/>
            </a:endParaRPr>
          </a:p>
        </p:txBody>
      </p:sp>
      <p:sp>
        <p:nvSpPr>
          <p:cNvPr id="48" name="Text 2"/>
          <p:cNvSpPr/>
          <p:nvPr/>
        </p:nvSpPr>
        <p:spPr>
          <a:xfrm>
            <a:off x="6858000" y="274320"/>
            <a:ext cx="2148480" cy="255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99" strike="noStrike" u="none">
                <a:solidFill>
                  <a:srgbClr val="9cd5ff"/>
                </a:solidFill>
                <a:effectLst/>
                <a:uFillTx/>
                <a:latin typeface="Calibri"/>
                <a:ea typeface="Calibri"/>
              </a:rPr>
              <a:t>Section 1 — Class &amp; Object</a:t>
            </a:r>
            <a:endParaRPr b="0" lang="en-IN" sz="900" strike="noStrike" u="none">
              <a:solidFill>
                <a:srgbClr val="000000"/>
              </a:solidFill>
              <a:effectLst/>
              <a:uFillTx/>
              <a:latin typeface="Arial"/>
            </a:endParaRPr>
          </a:p>
        </p:txBody>
      </p:sp>
      <p:sp>
        <p:nvSpPr>
          <p:cNvPr id="49" name="Shape 3"/>
          <p:cNvSpPr/>
          <p:nvPr/>
        </p:nvSpPr>
        <p:spPr>
          <a:xfrm>
            <a:off x="182880" y="896040"/>
            <a:ext cx="8777880" cy="776880"/>
          </a:xfrm>
          <a:prstGeom prst="rect">
            <a:avLst/>
          </a:prstGeom>
          <a:solidFill>
            <a:srgbClr val="d6eaf8"/>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0" name="Shape 4"/>
          <p:cNvSpPr/>
          <p:nvPr/>
        </p:nvSpPr>
        <p:spPr>
          <a:xfrm>
            <a:off x="182880" y="896040"/>
            <a:ext cx="6372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1" name="Text 5"/>
          <p:cNvSpPr/>
          <p:nvPr/>
        </p:nvSpPr>
        <p:spPr>
          <a:xfrm>
            <a:off x="320040" y="932760"/>
            <a:ext cx="85035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DEFINITION</a:t>
            </a:r>
            <a:endParaRPr b="0" lang="en-IN" sz="900" strike="noStrike" u="none">
              <a:solidFill>
                <a:srgbClr val="000000"/>
              </a:solidFill>
              <a:effectLst/>
              <a:uFillTx/>
              <a:latin typeface="Arial"/>
            </a:endParaRPr>
          </a:p>
        </p:txBody>
      </p:sp>
      <p:sp>
        <p:nvSpPr>
          <p:cNvPr id="52" name="Text 6"/>
          <p:cNvSpPr/>
          <p:nvPr/>
        </p:nvSpPr>
        <p:spPr>
          <a:xfrm>
            <a:off x="320040" y="1152000"/>
            <a:ext cx="850356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00" strike="noStrike" u="none">
                <a:solidFill>
                  <a:srgbClr val="1e3a4a"/>
                </a:solidFill>
                <a:effectLst/>
                <a:uFillTx/>
                <a:latin typeface="Calibri"/>
                <a:ea typeface="Calibri"/>
              </a:rPr>
              <a:t>A class is a user-defined blueprint that groups related data (fields) and behaviour (methods) together. It does not consume memory on its own — memory is allocated only when an object is created from it.</a:t>
            </a:r>
            <a:endParaRPr b="0" lang="en-IN" sz="1300" strike="noStrike" u="none">
              <a:solidFill>
                <a:srgbClr val="000000"/>
              </a:solidFill>
              <a:effectLst/>
              <a:uFillTx/>
              <a:latin typeface="Arial"/>
            </a:endParaRPr>
          </a:p>
        </p:txBody>
      </p:sp>
      <p:sp>
        <p:nvSpPr>
          <p:cNvPr id="53" name="Shape 7"/>
          <p:cNvSpPr/>
          <p:nvPr/>
        </p:nvSpPr>
        <p:spPr>
          <a:xfrm>
            <a:off x="182880" y="1801440"/>
            <a:ext cx="4278960" cy="226728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4" name="Shape 8"/>
          <p:cNvSpPr/>
          <p:nvPr/>
        </p:nvSpPr>
        <p:spPr>
          <a:xfrm>
            <a:off x="182880" y="1801440"/>
            <a:ext cx="63720" cy="226728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5" name="Text 9"/>
          <p:cNvSpPr/>
          <p:nvPr/>
        </p:nvSpPr>
        <p:spPr>
          <a:xfrm>
            <a:off x="320040" y="1837800"/>
            <a:ext cx="402300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KEY POINTS</a:t>
            </a:r>
            <a:endParaRPr b="0" lang="en-IN" sz="900" strike="noStrike" u="none">
              <a:solidFill>
                <a:srgbClr val="000000"/>
              </a:solidFill>
              <a:effectLst/>
              <a:uFillTx/>
              <a:latin typeface="Arial"/>
            </a:endParaRPr>
          </a:p>
        </p:txBody>
      </p:sp>
      <p:sp>
        <p:nvSpPr>
          <p:cNvPr id="56" name="Text 10"/>
          <p:cNvSpPr/>
          <p:nvPr/>
        </p:nvSpPr>
        <p:spPr>
          <a:xfrm>
            <a:off x="320040" y="2075760"/>
            <a:ext cx="4023000" cy="193824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Declared using the class keyword</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Contains fields (variables) and methods (functions)</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A class is just a template — no data lives inside it yet</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One class can produce unlimited objects</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The public class name must match the filename</a:t>
            </a:r>
            <a:endParaRPr b="0" lang="en-IN" sz="1250" strike="noStrike" u="none">
              <a:solidFill>
                <a:srgbClr val="000000"/>
              </a:solidFill>
              <a:effectLst/>
              <a:uFillTx/>
              <a:latin typeface="Arial"/>
            </a:endParaRPr>
          </a:p>
        </p:txBody>
      </p:sp>
      <p:sp>
        <p:nvSpPr>
          <p:cNvPr id="57" name="Shape 11"/>
          <p:cNvSpPr/>
          <p:nvPr/>
        </p:nvSpPr>
        <p:spPr>
          <a:xfrm>
            <a:off x="4645080" y="1801440"/>
            <a:ext cx="4315680" cy="2267280"/>
          </a:xfrm>
          <a:prstGeom prst="rect">
            <a:avLst/>
          </a:prstGeom>
          <a:solidFill>
            <a:srgbClr val="1e2d3d"/>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8" name="Shape 12"/>
          <p:cNvSpPr/>
          <p:nvPr/>
        </p:nvSpPr>
        <p:spPr>
          <a:xfrm>
            <a:off x="4645080" y="1801440"/>
            <a:ext cx="4315680" cy="273960"/>
          </a:xfrm>
          <a:prstGeom prst="rect">
            <a:avLst/>
          </a:prstGeom>
          <a:solidFill>
            <a:srgbClr val="182634"/>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9" name="Text 13"/>
          <p:cNvSpPr/>
          <p:nvPr/>
        </p:nvSpPr>
        <p:spPr>
          <a:xfrm>
            <a:off x="4754880" y="1801440"/>
            <a:ext cx="41144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201" strike="noStrike" u="none">
                <a:solidFill>
                  <a:srgbClr val="9cd5ff"/>
                </a:solidFill>
                <a:effectLst/>
                <a:uFillTx/>
                <a:latin typeface="Calibri"/>
                <a:ea typeface="Calibri"/>
              </a:rPr>
              <a:t>JAVA CODE</a:t>
            </a:r>
            <a:endParaRPr b="0" lang="en-IN" sz="900" strike="noStrike" u="none">
              <a:solidFill>
                <a:srgbClr val="000000"/>
              </a:solidFill>
              <a:effectLst/>
              <a:uFillTx/>
              <a:latin typeface="Arial"/>
            </a:endParaRPr>
          </a:p>
        </p:txBody>
      </p:sp>
      <p:sp>
        <p:nvSpPr>
          <p:cNvPr id="60" name="Text 14"/>
          <p:cNvSpPr/>
          <p:nvPr/>
        </p:nvSpPr>
        <p:spPr>
          <a:xfrm>
            <a:off x="4754880" y="2103120"/>
            <a:ext cx="4114440" cy="1919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endParaRPr b="0" lang="en-IN"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c8dff0"/>
                </a:solidFill>
                <a:effectLst/>
                <a:uFillTx/>
                <a:latin typeface="Consolas"/>
                <a:ea typeface="Consolas"/>
              </a:rPr>
              <a:t>class Student {</a:t>
            </a:r>
            <a:endParaRPr b="0" lang="en-IN" sz="1000" strike="noStrike" u="none">
              <a:solidFill>
                <a:srgbClr val="000000"/>
              </a:solidFill>
              <a:effectLst/>
              <a:uFillTx/>
              <a:latin typeface="Arial"/>
            </a:endParaRPr>
          </a:p>
          <a:p>
            <a:pPr defTabSz="914400">
              <a:lnSpc>
                <a:spcPct val="100000"/>
              </a:lnSpc>
              <a:tabLst>
                <a:tab algn="l" pos="0"/>
              </a:tabLst>
            </a:pPr>
            <a:endParaRPr b="0" lang="en-IN"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c8dff0"/>
                </a:solidFill>
                <a:effectLst/>
                <a:uFillTx/>
                <a:latin typeface="Consolas"/>
                <a:ea typeface="Consolas"/>
              </a:rPr>
              <a:t>  // Fields — properties of a student</a:t>
            </a:r>
            <a:endParaRPr b="0" lang="en-IN"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c8dff0"/>
                </a:solidFill>
                <a:effectLst/>
                <a:uFillTx/>
                <a:latin typeface="Consolas"/>
                <a:ea typeface="Consolas"/>
              </a:rPr>
              <a:t>  String  name;</a:t>
            </a:r>
            <a:endParaRPr b="0" lang="en-IN"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c8dff0"/>
                </a:solidFill>
                <a:effectLst/>
                <a:uFillTx/>
                <a:latin typeface="Consolas"/>
                <a:ea typeface="Consolas"/>
              </a:rPr>
              <a:t>  int     rollNo;</a:t>
            </a:r>
            <a:endParaRPr b="0" lang="en-IN"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c8dff0"/>
                </a:solidFill>
                <a:effectLst/>
                <a:uFillTx/>
                <a:latin typeface="Consolas"/>
                <a:ea typeface="Consolas"/>
              </a:rPr>
              <a:t>  int     marks;</a:t>
            </a:r>
            <a:endParaRPr b="0" lang="en-IN" sz="1000" strike="noStrike" u="none">
              <a:solidFill>
                <a:srgbClr val="000000"/>
              </a:solidFill>
              <a:effectLst/>
              <a:uFillTx/>
              <a:latin typeface="Arial"/>
            </a:endParaRPr>
          </a:p>
          <a:p>
            <a:pPr defTabSz="914400">
              <a:lnSpc>
                <a:spcPct val="100000"/>
              </a:lnSpc>
              <a:tabLst>
                <a:tab algn="l" pos="0"/>
              </a:tabLst>
            </a:pPr>
            <a:endParaRPr b="0" lang="en-IN"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c8dff0"/>
                </a:solidFill>
                <a:effectLst/>
                <a:uFillTx/>
                <a:latin typeface="Consolas"/>
                <a:ea typeface="Consolas"/>
              </a:rPr>
              <a:t>  // Method — behaviour</a:t>
            </a:r>
            <a:endParaRPr b="0" lang="en-IN"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c8dff0"/>
                </a:solidFill>
                <a:effectLst/>
                <a:uFillTx/>
                <a:latin typeface="Consolas"/>
                <a:ea typeface="Consolas"/>
              </a:rPr>
              <a:t>  void displayInfo() {</a:t>
            </a:r>
            <a:endParaRPr b="0" lang="en-IN"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c8dff0"/>
                </a:solidFill>
                <a:effectLst/>
                <a:uFillTx/>
                <a:latin typeface="Consolas"/>
                <a:ea typeface="Consolas"/>
              </a:rPr>
              <a:t>    System.out.println(name);</a:t>
            </a:r>
            <a:endParaRPr b="0" lang="en-IN"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c8dff0"/>
                </a:solidFill>
                <a:effectLst/>
                <a:uFillTx/>
                <a:latin typeface="Consolas"/>
                <a:ea typeface="Consolas"/>
              </a:rPr>
              <a:t>    System.out.println(rollNo);</a:t>
            </a:r>
            <a:endParaRPr b="0" lang="en-IN"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c8dff0"/>
                </a:solidFill>
                <a:effectLst/>
                <a:uFillTx/>
                <a:latin typeface="Consolas"/>
                <a:ea typeface="Consolas"/>
              </a:rPr>
              <a:t>    System.out.println(marks);</a:t>
            </a:r>
            <a:endParaRPr b="0" lang="en-IN"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c8dff0"/>
                </a:solidFill>
                <a:effectLst/>
                <a:uFillTx/>
                <a:latin typeface="Consolas"/>
                <a:ea typeface="Consolas"/>
              </a:rPr>
              <a:t>  }</a:t>
            </a:r>
            <a:endParaRPr b="0" lang="en-IN"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c8dff0"/>
                </a:solidFill>
                <a:effectLst/>
                <a:uFillTx/>
                <a:latin typeface="Consolas"/>
                <a:ea typeface="Consolas"/>
              </a:rPr>
              <a:t>}</a:t>
            </a:r>
            <a:endParaRPr b="0" lang="en-IN" sz="1000" strike="noStrike" u="none">
              <a:solidFill>
                <a:srgbClr val="000000"/>
              </a:solidFill>
              <a:effectLst/>
              <a:uFillTx/>
              <a:latin typeface="Arial"/>
            </a:endParaRPr>
          </a:p>
        </p:txBody>
      </p:sp>
      <p:sp>
        <p:nvSpPr>
          <p:cNvPr id="61" name="Shape 15"/>
          <p:cNvSpPr/>
          <p:nvPr/>
        </p:nvSpPr>
        <p:spPr>
          <a:xfrm>
            <a:off x="182880" y="4206240"/>
            <a:ext cx="8777880" cy="749520"/>
          </a:xfrm>
          <a:prstGeom prst="rect">
            <a:avLst/>
          </a:prstGeom>
          <a:solidFill>
            <a:srgbClr val="e3f2f5"/>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62" name="Shape 16"/>
          <p:cNvSpPr/>
          <p:nvPr/>
        </p:nvSpPr>
        <p:spPr>
          <a:xfrm>
            <a:off x="182880" y="4206240"/>
            <a:ext cx="63720" cy="749520"/>
          </a:xfrm>
          <a:prstGeom prst="rect">
            <a:avLst/>
          </a:prstGeom>
          <a:solidFill>
            <a:srgbClr val="2a6e7a"/>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63" name="Text 17"/>
          <p:cNvSpPr/>
          <p:nvPr/>
        </p:nvSpPr>
        <p:spPr>
          <a:xfrm>
            <a:off x="320040" y="4242960"/>
            <a:ext cx="85035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2a6e7a"/>
                </a:solidFill>
                <a:effectLst/>
                <a:uFillTx/>
                <a:latin typeface="Calibri"/>
                <a:ea typeface="Calibri"/>
              </a:rPr>
              <a:t>REAL-WORLD ANALOGY</a:t>
            </a:r>
            <a:endParaRPr b="0" lang="en-IN" sz="900" strike="noStrike" u="none">
              <a:solidFill>
                <a:srgbClr val="000000"/>
              </a:solidFill>
              <a:effectLst/>
              <a:uFillTx/>
              <a:latin typeface="Arial"/>
            </a:endParaRPr>
          </a:p>
        </p:txBody>
      </p:sp>
      <p:sp>
        <p:nvSpPr>
          <p:cNvPr id="64" name="Text 18"/>
          <p:cNvSpPr/>
          <p:nvPr/>
        </p:nvSpPr>
        <p:spPr>
          <a:xfrm>
            <a:off x="320040" y="4453200"/>
            <a:ext cx="8503560" cy="438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50" strike="noStrike" u="none">
                <a:solidFill>
                  <a:srgbClr val="1e3a4a"/>
                </a:solidFill>
                <a:effectLst/>
                <a:uFillTx/>
                <a:latin typeface="Calibri"/>
                <a:ea typeface="Calibri"/>
              </a:rPr>
              <a:t>An RTO vehicle registration form (blank) is the class — it describes what details every vehicle must have. Each filled-in form for an actual vehicle is an object.</a:t>
            </a:r>
            <a:endParaRPr b="0" lang="en-IN" sz="12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8f0"/>
        </a:solidFill>
      </p:bgPr>
    </p:bg>
    <p:spTree>
      <p:nvGrpSpPr>
        <p:cNvPr id="1" name=""/>
        <p:cNvGrpSpPr/>
        <p:nvPr/>
      </p:nvGrpSpPr>
      <p:grpSpPr>
        <a:xfrm>
          <a:off x="0" y="0"/>
          <a:ext cx="0" cy="0"/>
          <a:chOff x="0" y="0"/>
          <a:chExt cx="0" cy="0"/>
        </a:xfrm>
      </p:grpSpPr>
      <p:sp>
        <p:nvSpPr>
          <p:cNvPr id="65" name="Shape 0"/>
          <p:cNvSpPr/>
          <p:nvPr/>
        </p:nvSpPr>
        <p:spPr>
          <a:xfrm>
            <a:off x="0" y="0"/>
            <a:ext cx="914364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66" name="Text 1"/>
          <p:cNvSpPr/>
          <p:nvPr/>
        </p:nvSpPr>
        <p:spPr>
          <a:xfrm>
            <a:off x="320040" y="91440"/>
            <a:ext cx="7131960" cy="612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ffffff"/>
                </a:solidFill>
                <a:effectLst/>
                <a:uFillTx/>
                <a:latin typeface="Calibri"/>
                <a:ea typeface="Calibri"/>
              </a:rPr>
              <a:t>What is an Object?</a:t>
            </a:r>
            <a:endParaRPr b="0" lang="en-IN" sz="2200" strike="noStrike" u="none">
              <a:solidFill>
                <a:srgbClr val="000000"/>
              </a:solidFill>
              <a:effectLst/>
              <a:uFillTx/>
              <a:latin typeface="Arial"/>
            </a:endParaRPr>
          </a:p>
        </p:txBody>
      </p:sp>
      <p:sp>
        <p:nvSpPr>
          <p:cNvPr id="67" name="Text 2"/>
          <p:cNvSpPr/>
          <p:nvPr/>
        </p:nvSpPr>
        <p:spPr>
          <a:xfrm>
            <a:off x="6858000" y="274320"/>
            <a:ext cx="2148480" cy="255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99" strike="noStrike" u="none">
                <a:solidFill>
                  <a:srgbClr val="9cd5ff"/>
                </a:solidFill>
                <a:effectLst/>
                <a:uFillTx/>
                <a:latin typeface="Calibri"/>
                <a:ea typeface="Calibri"/>
              </a:rPr>
              <a:t>Section 1 — Class &amp; Object</a:t>
            </a:r>
            <a:endParaRPr b="0" lang="en-IN" sz="900" strike="noStrike" u="none">
              <a:solidFill>
                <a:srgbClr val="000000"/>
              </a:solidFill>
              <a:effectLst/>
              <a:uFillTx/>
              <a:latin typeface="Arial"/>
            </a:endParaRPr>
          </a:p>
        </p:txBody>
      </p:sp>
      <p:sp>
        <p:nvSpPr>
          <p:cNvPr id="68" name="Shape 3"/>
          <p:cNvSpPr/>
          <p:nvPr/>
        </p:nvSpPr>
        <p:spPr>
          <a:xfrm>
            <a:off x="182880" y="896040"/>
            <a:ext cx="8777880" cy="776880"/>
          </a:xfrm>
          <a:prstGeom prst="rect">
            <a:avLst/>
          </a:prstGeom>
          <a:solidFill>
            <a:srgbClr val="d6eaf8"/>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69" name="Shape 4"/>
          <p:cNvSpPr/>
          <p:nvPr/>
        </p:nvSpPr>
        <p:spPr>
          <a:xfrm>
            <a:off x="182880" y="896040"/>
            <a:ext cx="6372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70" name="Text 5"/>
          <p:cNvSpPr/>
          <p:nvPr/>
        </p:nvSpPr>
        <p:spPr>
          <a:xfrm>
            <a:off x="320040" y="932760"/>
            <a:ext cx="85035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DEFINITION</a:t>
            </a:r>
            <a:endParaRPr b="0" lang="en-IN" sz="900" strike="noStrike" u="none">
              <a:solidFill>
                <a:srgbClr val="000000"/>
              </a:solidFill>
              <a:effectLst/>
              <a:uFillTx/>
              <a:latin typeface="Arial"/>
            </a:endParaRPr>
          </a:p>
        </p:txBody>
      </p:sp>
      <p:sp>
        <p:nvSpPr>
          <p:cNvPr id="71" name="Text 6"/>
          <p:cNvSpPr/>
          <p:nvPr/>
        </p:nvSpPr>
        <p:spPr>
          <a:xfrm>
            <a:off x="320040" y="1152000"/>
            <a:ext cx="850356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00" strike="noStrike" u="none">
                <a:solidFill>
                  <a:srgbClr val="1e3a4a"/>
                </a:solidFill>
                <a:effectLst/>
                <a:uFillTx/>
                <a:latin typeface="Calibri"/>
                <a:ea typeface="Calibri"/>
              </a:rPr>
              <a:t>An object is a real instance of a class, created in Heap memory using the new keyword. Each object has its own separate copy of the class fields. Multiple objects can be created from one class.</a:t>
            </a:r>
            <a:endParaRPr b="0" lang="en-IN" sz="1300" strike="noStrike" u="none">
              <a:solidFill>
                <a:srgbClr val="000000"/>
              </a:solidFill>
              <a:effectLst/>
              <a:uFillTx/>
              <a:latin typeface="Arial"/>
            </a:endParaRPr>
          </a:p>
        </p:txBody>
      </p:sp>
      <p:sp>
        <p:nvSpPr>
          <p:cNvPr id="72" name="Shape 7"/>
          <p:cNvSpPr/>
          <p:nvPr/>
        </p:nvSpPr>
        <p:spPr>
          <a:xfrm>
            <a:off x="182880" y="1801440"/>
            <a:ext cx="4278960" cy="226728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73" name="Shape 8"/>
          <p:cNvSpPr/>
          <p:nvPr/>
        </p:nvSpPr>
        <p:spPr>
          <a:xfrm>
            <a:off x="182880" y="1801440"/>
            <a:ext cx="63720" cy="226728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74" name="Text 9"/>
          <p:cNvSpPr/>
          <p:nvPr/>
        </p:nvSpPr>
        <p:spPr>
          <a:xfrm>
            <a:off x="320040" y="1837800"/>
            <a:ext cx="402300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KEY POINTS</a:t>
            </a:r>
            <a:endParaRPr b="0" lang="en-IN" sz="900" strike="noStrike" u="none">
              <a:solidFill>
                <a:srgbClr val="000000"/>
              </a:solidFill>
              <a:effectLst/>
              <a:uFillTx/>
              <a:latin typeface="Arial"/>
            </a:endParaRPr>
          </a:p>
        </p:txBody>
      </p:sp>
      <p:sp>
        <p:nvSpPr>
          <p:cNvPr id="75" name="Text 10"/>
          <p:cNvSpPr/>
          <p:nvPr/>
        </p:nvSpPr>
        <p:spPr>
          <a:xfrm>
            <a:off x="320040" y="2075760"/>
            <a:ext cx="4023000" cy="193824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Syntax:  ClassName varName = new ClassName();</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Each object gets its own independent copy of instance fields</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Multiple objects can exist simultaneously from one class</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Objects live in Heap memory; reference variables live in Stack</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null means a reference variable points to no object yet</a:t>
            </a:r>
            <a:endParaRPr b="0" lang="en-IN" sz="1250" strike="noStrike" u="none">
              <a:solidFill>
                <a:srgbClr val="000000"/>
              </a:solidFill>
              <a:effectLst/>
              <a:uFillTx/>
              <a:latin typeface="Arial"/>
            </a:endParaRPr>
          </a:p>
        </p:txBody>
      </p:sp>
      <p:sp>
        <p:nvSpPr>
          <p:cNvPr id="76" name="Shape 11"/>
          <p:cNvSpPr/>
          <p:nvPr/>
        </p:nvSpPr>
        <p:spPr>
          <a:xfrm>
            <a:off x="4645080" y="1801440"/>
            <a:ext cx="4315680" cy="2267280"/>
          </a:xfrm>
          <a:prstGeom prst="rect">
            <a:avLst/>
          </a:prstGeom>
          <a:solidFill>
            <a:srgbClr val="1e2d3d"/>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77" name="Shape 12"/>
          <p:cNvSpPr/>
          <p:nvPr/>
        </p:nvSpPr>
        <p:spPr>
          <a:xfrm>
            <a:off x="4645080" y="1801440"/>
            <a:ext cx="4315680" cy="273960"/>
          </a:xfrm>
          <a:prstGeom prst="rect">
            <a:avLst/>
          </a:prstGeom>
          <a:solidFill>
            <a:srgbClr val="182634"/>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78" name="Text 13"/>
          <p:cNvSpPr/>
          <p:nvPr/>
        </p:nvSpPr>
        <p:spPr>
          <a:xfrm>
            <a:off x="4754880" y="1801440"/>
            <a:ext cx="41144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201" strike="noStrike" u="none">
                <a:solidFill>
                  <a:srgbClr val="9cd5ff"/>
                </a:solidFill>
                <a:effectLst/>
                <a:uFillTx/>
                <a:latin typeface="Calibri"/>
                <a:ea typeface="Calibri"/>
              </a:rPr>
              <a:t>JAVA CODE</a:t>
            </a:r>
            <a:endParaRPr b="0" lang="en-IN" sz="900" strike="noStrike" u="none">
              <a:solidFill>
                <a:srgbClr val="000000"/>
              </a:solidFill>
              <a:effectLst/>
              <a:uFillTx/>
              <a:latin typeface="Arial"/>
            </a:endParaRPr>
          </a:p>
        </p:txBody>
      </p:sp>
      <p:sp>
        <p:nvSpPr>
          <p:cNvPr id="79" name="Text 14"/>
          <p:cNvSpPr/>
          <p:nvPr/>
        </p:nvSpPr>
        <p:spPr>
          <a:xfrm>
            <a:off x="4754880" y="2103120"/>
            <a:ext cx="4114440" cy="1919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850" strike="noStrike" u="none">
                <a:solidFill>
                  <a:srgbClr val="c8dff0"/>
                </a:solidFill>
                <a:effectLst/>
                <a:uFillTx/>
                <a:latin typeface="Consolas"/>
                <a:ea typeface="Consolas"/>
              </a:rPr>
              <a:t>// Creating two Student objects</a:t>
            </a:r>
            <a:endParaRPr b="0" lang="en-IN" sz="850" strike="noStrike" u="none">
              <a:solidFill>
                <a:srgbClr val="000000"/>
              </a:solidFill>
              <a:effectLst/>
              <a:uFillTx/>
              <a:latin typeface="Arial"/>
            </a:endParaRPr>
          </a:p>
          <a:p>
            <a:pPr defTabSz="914400">
              <a:lnSpc>
                <a:spcPct val="100000"/>
              </a:lnSpc>
              <a:tabLst>
                <a:tab algn="l" pos="0"/>
              </a:tabLst>
            </a:pPr>
            <a:r>
              <a:rPr b="0" lang="en-US" sz="850" strike="noStrike" u="none">
                <a:solidFill>
                  <a:srgbClr val="c8dff0"/>
                </a:solidFill>
                <a:effectLst/>
                <a:uFillTx/>
                <a:latin typeface="Consolas"/>
                <a:ea typeface="Consolas"/>
              </a:rPr>
              <a:t>Student s1 = new Student();</a:t>
            </a:r>
            <a:endParaRPr b="0" lang="en-IN" sz="850" strike="noStrike" u="none">
              <a:solidFill>
                <a:srgbClr val="000000"/>
              </a:solidFill>
              <a:effectLst/>
              <a:uFillTx/>
              <a:latin typeface="Arial"/>
            </a:endParaRPr>
          </a:p>
          <a:p>
            <a:pPr defTabSz="914400">
              <a:lnSpc>
                <a:spcPct val="100000"/>
              </a:lnSpc>
              <a:tabLst>
                <a:tab algn="l" pos="0"/>
              </a:tabLst>
            </a:pPr>
            <a:r>
              <a:rPr b="0" lang="en-US" sz="850" strike="noStrike" u="none">
                <a:solidFill>
                  <a:srgbClr val="c8dff0"/>
                </a:solidFill>
                <a:effectLst/>
                <a:uFillTx/>
                <a:latin typeface="Consolas"/>
                <a:ea typeface="Consolas"/>
              </a:rPr>
              <a:t>Student s2 = new Student();</a:t>
            </a:r>
            <a:endParaRPr b="0" lang="en-IN" sz="850" strike="noStrike" u="none">
              <a:solidFill>
                <a:srgbClr val="000000"/>
              </a:solidFill>
              <a:effectLst/>
              <a:uFillTx/>
              <a:latin typeface="Arial"/>
            </a:endParaRPr>
          </a:p>
          <a:p>
            <a:pPr defTabSz="914400">
              <a:lnSpc>
                <a:spcPct val="100000"/>
              </a:lnSpc>
              <a:tabLst>
                <a:tab algn="l" pos="0"/>
              </a:tabLst>
            </a:pPr>
            <a:r>
              <a:rPr b="1" lang="en-US" sz="850" strike="noStrike" u="none">
                <a:solidFill>
                  <a:srgbClr val="c8dff0"/>
                </a:solidFill>
                <a:effectLst/>
                <a:uFillTx/>
                <a:latin typeface="Consolas"/>
                <a:ea typeface="Consolas"/>
              </a:rPr>
              <a:t>// Setting values on object s1</a:t>
            </a:r>
            <a:endParaRPr b="0" lang="en-IN" sz="850" strike="noStrike" u="none">
              <a:solidFill>
                <a:srgbClr val="000000"/>
              </a:solidFill>
              <a:effectLst/>
              <a:uFillTx/>
              <a:latin typeface="Arial"/>
            </a:endParaRPr>
          </a:p>
          <a:p>
            <a:pPr defTabSz="914400">
              <a:lnSpc>
                <a:spcPct val="100000"/>
              </a:lnSpc>
              <a:tabLst>
                <a:tab algn="l" pos="0"/>
              </a:tabLst>
            </a:pPr>
            <a:r>
              <a:rPr b="0" lang="en-US" sz="850" strike="noStrike" u="none">
                <a:solidFill>
                  <a:srgbClr val="c8dff0"/>
                </a:solidFill>
                <a:effectLst/>
                <a:uFillTx/>
                <a:latin typeface="Consolas"/>
                <a:ea typeface="Consolas"/>
              </a:rPr>
              <a:t>s1.name   = "Suresh";</a:t>
            </a:r>
            <a:endParaRPr b="0" lang="en-IN" sz="850" strike="noStrike" u="none">
              <a:solidFill>
                <a:srgbClr val="000000"/>
              </a:solidFill>
              <a:effectLst/>
              <a:uFillTx/>
              <a:latin typeface="Arial"/>
            </a:endParaRPr>
          </a:p>
          <a:p>
            <a:pPr defTabSz="914400">
              <a:lnSpc>
                <a:spcPct val="100000"/>
              </a:lnSpc>
              <a:tabLst>
                <a:tab algn="l" pos="0"/>
              </a:tabLst>
            </a:pPr>
            <a:r>
              <a:rPr b="0" lang="en-US" sz="850" strike="noStrike" u="none">
                <a:solidFill>
                  <a:srgbClr val="c8dff0"/>
                </a:solidFill>
                <a:effectLst/>
                <a:uFillTx/>
                <a:latin typeface="Consolas"/>
                <a:ea typeface="Consolas"/>
              </a:rPr>
              <a:t>s1.rollNo = 101;</a:t>
            </a:r>
            <a:endParaRPr b="0" lang="en-IN" sz="850" strike="noStrike" u="none">
              <a:solidFill>
                <a:srgbClr val="000000"/>
              </a:solidFill>
              <a:effectLst/>
              <a:uFillTx/>
              <a:latin typeface="Arial"/>
            </a:endParaRPr>
          </a:p>
          <a:p>
            <a:pPr defTabSz="914400">
              <a:lnSpc>
                <a:spcPct val="100000"/>
              </a:lnSpc>
              <a:tabLst>
                <a:tab algn="l" pos="0"/>
              </a:tabLst>
            </a:pPr>
            <a:r>
              <a:rPr b="0" lang="en-US" sz="850" strike="noStrike" u="none">
                <a:solidFill>
                  <a:srgbClr val="c8dff0"/>
                </a:solidFill>
                <a:effectLst/>
                <a:uFillTx/>
                <a:latin typeface="Consolas"/>
                <a:ea typeface="Consolas"/>
              </a:rPr>
              <a:t>s1.marks  = 85;</a:t>
            </a:r>
            <a:endParaRPr b="0" lang="en-IN" sz="850" strike="noStrike" u="none">
              <a:solidFill>
                <a:srgbClr val="000000"/>
              </a:solidFill>
              <a:effectLst/>
              <a:uFillTx/>
              <a:latin typeface="Arial"/>
            </a:endParaRPr>
          </a:p>
          <a:p>
            <a:pPr defTabSz="914400">
              <a:lnSpc>
                <a:spcPct val="100000"/>
              </a:lnSpc>
              <a:tabLst>
                <a:tab algn="l" pos="0"/>
              </a:tabLst>
            </a:pPr>
            <a:r>
              <a:rPr b="1" lang="en-US" sz="850" strike="noStrike" u="none">
                <a:solidFill>
                  <a:srgbClr val="c8dff0"/>
                </a:solidFill>
                <a:effectLst/>
                <a:uFillTx/>
                <a:latin typeface="Consolas"/>
                <a:ea typeface="Consolas"/>
              </a:rPr>
              <a:t>// Setting values on object s2</a:t>
            </a:r>
            <a:endParaRPr b="0" lang="en-IN" sz="850" strike="noStrike" u="none">
              <a:solidFill>
                <a:srgbClr val="000000"/>
              </a:solidFill>
              <a:effectLst/>
              <a:uFillTx/>
              <a:latin typeface="Arial"/>
            </a:endParaRPr>
          </a:p>
          <a:p>
            <a:pPr defTabSz="914400">
              <a:lnSpc>
                <a:spcPct val="100000"/>
              </a:lnSpc>
              <a:tabLst>
                <a:tab algn="l" pos="0"/>
              </a:tabLst>
            </a:pPr>
            <a:r>
              <a:rPr b="0" lang="en-US" sz="850" strike="noStrike" u="none">
                <a:solidFill>
                  <a:srgbClr val="c8dff0"/>
                </a:solidFill>
                <a:effectLst/>
                <a:uFillTx/>
                <a:latin typeface="Consolas"/>
                <a:ea typeface="Consolas"/>
              </a:rPr>
              <a:t>s2.name   = "Ramesh";</a:t>
            </a:r>
            <a:endParaRPr b="0" lang="en-IN" sz="850" strike="noStrike" u="none">
              <a:solidFill>
                <a:srgbClr val="000000"/>
              </a:solidFill>
              <a:effectLst/>
              <a:uFillTx/>
              <a:latin typeface="Arial"/>
            </a:endParaRPr>
          </a:p>
          <a:p>
            <a:pPr defTabSz="914400">
              <a:lnSpc>
                <a:spcPct val="100000"/>
              </a:lnSpc>
              <a:tabLst>
                <a:tab algn="l" pos="0"/>
              </a:tabLst>
            </a:pPr>
            <a:r>
              <a:rPr b="0" lang="en-US" sz="850" strike="noStrike" u="none">
                <a:solidFill>
                  <a:srgbClr val="c8dff0"/>
                </a:solidFill>
                <a:effectLst/>
                <a:uFillTx/>
                <a:latin typeface="Consolas"/>
                <a:ea typeface="Consolas"/>
              </a:rPr>
              <a:t>s2.rollNo = 102;</a:t>
            </a:r>
            <a:endParaRPr b="0" lang="en-IN" sz="850" strike="noStrike" u="none">
              <a:solidFill>
                <a:srgbClr val="000000"/>
              </a:solidFill>
              <a:effectLst/>
              <a:uFillTx/>
              <a:latin typeface="Arial"/>
            </a:endParaRPr>
          </a:p>
          <a:p>
            <a:pPr defTabSz="914400">
              <a:lnSpc>
                <a:spcPct val="100000"/>
              </a:lnSpc>
              <a:tabLst>
                <a:tab algn="l" pos="0"/>
              </a:tabLst>
            </a:pPr>
            <a:r>
              <a:rPr b="0" lang="en-US" sz="850" strike="noStrike" u="none">
                <a:solidFill>
                  <a:srgbClr val="c8dff0"/>
                </a:solidFill>
                <a:effectLst/>
                <a:uFillTx/>
                <a:latin typeface="Consolas"/>
                <a:ea typeface="Consolas"/>
              </a:rPr>
              <a:t>s2.marks  = 91;</a:t>
            </a:r>
            <a:endParaRPr b="0" lang="en-IN" sz="850" strike="noStrike" u="none">
              <a:solidFill>
                <a:srgbClr val="000000"/>
              </a:solidFill>
              <a:effectLst/>
              <a:uFillTx/>
              <a:latin typeface="Arial"/>
            </a:endParaRPr>
          </a:p>
          <a:p>
            <a:pPr defTabSz="914400">
              <a:lnSpc>
                <a:spcPct val="100000"/>
              </a:lnSpc>
              <a:tabLst>
                <a:tab algn="l" pos="0"/>
              </a:tabLst>
            </a:pPr>
            <a:r>
              <a:rPr b="1" lang="en-US" sz="850" strike="noStrike" u="none">
                <a:solidFill>
                  <a:srgbClr val="c8dff0"/>
                </a:solidFill>
                <a:effectLst/>
                <a:uFillTx/>
                <a:latin typeface="Consolas"/>
                <a:ea typeface="Consolas"/>
              </a:rPr>
              <a:t>// Calling method on each object</a:t>
            </a:r>
            <a:endParaRPr b="0" lang="en-IN" sz="850" strike="noStrike" u="none">
              <a:solidFill>
                <a:srgbClr val="000000"/>
              </a:solidFill>
              <a:effectLst/>
              <a:uFillTx/>
              <a:latin typeface="Arial"/>
            </a:endParaRPr>
          </a:p>
          <a:p>
            <a:pPr defTabSz="914400">
              <a:lnSpc>
                <a:spcPct val="100000"/>
              </a:lnSpc>
              <a:tabLst>
                <a:tab algn="l" pos="0"/>
              </a:tabLst>
            </a:pPr>
            <a:r>
              <a:rPr b="0" lang="en-US" sz="850" strike="noStrike" u="none">
                <a:solidFill>
                  <a:srgbClr val="c8dff0"/>
                </a:solidFill>
                <a:effectLst/>
                <a:uFillTx/>
                <a:latin typeface="Consolas"/>
                <a:ea typeface="Consolas"/>
              </a:rPr>
              <a:t>s1.displayInfo();</a:t>
            </a:r>
            <a:endParaRPr b="0" lang="en-IN" sz="850" strike="noStrike" u="none">
              <a:solidFill>
                <a:srgbClr val="000000"/>
              </a:solidFill>
              <a:effectLst/>
              <a:uFillTx/>
              <a:latin typeface="Arial"/>
            </a:endParaRPr>
          </a:p>
          <a:p>
            <a:pPr defTabSz="914400">
              <a:lnSpc>
                <a:spcPct val="100000"/>
              </a:lnSpc>
              <a:tabLst>
                <a:tab algn="l" pos="0"/>
              </a:tabLst>
            </a:pPr>
            <a:r>
              <a:rPr b="0" lang="en-US" sz="850" strike="noStrike" u="none">
                <a:solidFill>
                  <a:srgbClr val="c8dff0"/>
                </a:solidFill>
                <a:effectLst/>
                <a:uFillTx/>
                <a:latin typeface="Consolas"/>
                <a:ea typeface="Consolas"/>
              </a:rPr>
              <a:t>s2.displayInfo();</a:t>
            </a:r>
            <a:endParaRPr b="0" lang="en-IN" sz="850" strike="noStrike" u="none">
              <a:solidFill>
                <a:srgbClr val="000000"/>
              </a:solidFill>
              <a:effectLst/>
              <a:uFillTx/>
              <a:latin typeface="Arial"/>
            </a:endParaRPr>
          </a:p>
        </p:txBody>
      </p:sp>
      <p:sp>
        <p:nvSpPr>
          <p:cNvPr id="80" name="Shape 15"/>
          <p:cNvSpPr/>
          <p:nvPr/>
        </p:nvSpPr>
        <p:spPr>
          <a:xfrm>
            <a:off x="182880" y="4206240"/>
            <a:ext cx="8777880" cy="749520"/>
          </a:xfrm>
          <a:prstGeom prst="rect">
            <a:avLst/>
          </a:prstGeom>
          <a:solidFill>
            <a:srgbClr val="e3f2f5"/>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81" name="Shape 16"/>
          <p:cNvSpPr/>
          <p:nvPr/>
        </p:nvSpPr>
        <p:spPr>
          <a:xfrm>
            <a:off x="182880" y="4206240"/>
            <a:ext cx="63720" cy="749520"/>
          </a:xfrm>
          <a:prstGeom prst="rect">
            <a:avLst/>
          </a:prstGeom>
          <a:solidFill>
            <a:srgbClr val="2a6e7a"/>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82" name="Text 17"/>
          <p:cNvSpPr/>
          <p:nvPr/>
        </p:nvSpPr>
        <p:spPr>
          <a:xfrm>
            <a:off x="320040" y="4242960"/>
            <a:ext cx="85035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2a6e7a"/>
                </a:solidFill>
                <a:effectLst/>
                <a:uFillTx/>
                <a:latin typeface="Calibri"/>
                <a:ea typeface="Calibri"/>
              </a:rPr>
              <a:t>REAL-WORLD ANALOGY</a:t>
            </a:r>
            <a:endParaRPr b="0" lang="en-IN" sz="900" strike="noStrike" u="none">
              <a:solidFill>
                <a:srgbClr val="000000"/>
              </a:solidFill>
              <a:effectLst/>
              <a:uFillTx/>
              <a:latin typeface="Arial"/>
            </a:endParaRPr>
          </a:p>
        </p:txBody>
      </p:sp>
      <p:sp>
        <p:nvSpPr>
          <p:cNvPr id="83" name="Text 18"/>
          <p:cNvSpPr/>
          <p:nvPr/>
        </p:nvSpPr>
        <p:spPr>
          <a:xfrm>
            <a:off x="320040" y="4453200"/>
            <a:ext cx="8503560" cy="438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50" strike="noStrike" u="none">
                <a:solidFill>
                  <a:srgbClr val="1e3a4a"/>
                </a:solidFill>
                <a:effectLst/>
                <a:uFillTx/>
                <a:latin typeface="Calibri"/>
                <a:ea typeface="Calibri"/>
              </a:rPr>
              <a:t>Suresh's completed RTO form is object s1. Ramesh's completed form is object s2. Both come from the same blank form (class Student) but carry their own separate data.</a:t>
            </a:r>
            <a:endParaRPr b="0" lang="en-IN" sz="12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4" name="Shape 0"/>
          <p:cNvSpPr/>
          <p:nvPr/>
        </p:nvSpPr>
        <p:spPr>
          <a:xfrm>
            <a:off x="0" y="0"/>
            <a:ext cx="914364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85" name="Text 1"/>
          <p:cNvSpPr/>
          <p:nvPr/>
        </p:nvSpPr>
        <p:spPr>
          <a:xfrm>
            <a:off x="320040" y="91440"/>
            <a:ext cx="7131960" cy="612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ffffff"/>
                </a:solidFill>
                <a:effectLst/>
                <a:uFillTx/>
                <a:latin typeface="Calibri"/>
                <a:ea typeface="Calibri"/>
              </a:rPr>
              <a:t>Class vs Object — Blueprint to Memory</a:t>
            </a:r>
            <a:endParaRPr b="0" lang="en-IN" sz="2200" strike="noStrike" u="none">
              <a:solidFill>
                <a:srgbClr val="000000"/>
              </a:solidFill>
              <a:effectLst/>
              <a:uFillTx/>
              <a:latin typeface="Arial"/>
            </a:endParaRPr>
          </a:p>
        </p:txBody>
      </p:sp>
      <p:sp>
        <p:nvSpPr>
          <p:cNvPr id="86" name="Text 2"/>
          <p:cNvSpPr/>
          <p:nvPr/>
        </p:nvSpPr>
        <p:spPr>
          <a:xfrm>
            <a:off x="6858000" y="274320"/>
            <a:ext cx="2148480" cy="255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99" strike="noStrike" u="none">
                <a:solidFill>
                  <a:srgbClr val="9cd5ff"/>
                </a:solidFill>
                <a:effectLst/>
                <a:uFillTx/>
                <a:latin typeface="Calibri"/>
                <a:ea typeface="Calibri"/>
              </a:rPr>
              <a:t>Section 1 — Class &amp; Object</a:t>
            </a:r>
            <a:endParaRPr b="0" lang="en-IN" sz="900" strike="noStrike" u="none">
              <a:solidFill>
                <a:srgbClr val="000000"/>
              </a:solidFill>
              <a:effectLst/>
              <a:uFillTx/>
              <a:latin typeface="Arial"/>
            </a:endParaRPr>
          </a:p>
        </p:txBody>
      </p:sp>
      <p:sp>
        <p:nvSpPr>
          <p:cNvPr id="87" name="Shape 3"/>
          <p:cNvSpPr/>
          <p:nvPr/>
        </p:nvSpPr>
        <p:spPr>
          <a:xfrm>
            <a:off x="228600" y="914400"/>
            <a:ext cx="3017160" cy="3977280"/>
          </a:xfrm>
          <a:prstGeom prst="rect">
            <a:avLst/>
          </a:prstGeom>
          <a:solidFill>
            <a:srgbClr val="355872"/>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88" name="Shape 4"/>
          <p:cNvSpPr/>
          <p:nvPr/>
        </p:nvSpPr>
        <p:spPr>
          <a:xfrm>
            <a:off x="228600" y="914400"/>
            <a:ext cx="3017160" cy="347040"/>
          </a:xfrm>
          <a:prstGeom prst="rect">
            <a:avLst/>
          </a:prstGeom>
          <a:solidFill>
            <a:srgbClr val="2a4e66"/>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89" name="Text 5"/>
          <p:cNvSpPr/>
          <p:nvPr/>
        </p:nvSpPr>
        <p:spPr>
          <a:xfrm>
            <a:off x="228600" y="914400"/>
            <a:ext cx="301716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00" strike="noStrike" u="none">
                <a:solidFill>
                  <a:srgbClr val="ffffff"/>
                </a:solidFill>
                <a:effectLst/>
                <a:uFillTx/>
                <a:latin typeface="Calibri"/>
                <a:ea typeface="Calibri"/>
              </a:rPr>
              <a:t>CLASS  ←  Blueprint</a:t>
            </a:r>
            <a:endParaRPr b="0" lang="en-IN" sz="1200" strike="noStrike" u="none">
              <a:solidFill>
                <a:srgbClr val="000000"/>
              </a:solidFill>
              <a:effectLst/>
              <a:uFillTx/>
              <a:latin typeface="Arial"/>
            </a:endParaRPr>
          </a:p>
        </p:txBody>
      </p:sp>
      <p:sp>
        <p:nvSpPr>
          <p:cNvPr id="90" name="Text 6"/>
          <p:cNvSpPr/>
          <p:nvPr/>
        </p:nvSpPr>
        <p:spPr>
          <a:xfrm>
            <a:off x="228600" y="1280160"/>
            <a:ext cx="3017160" cy="2923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300" strike="noStrike" u="none">
                <a:solidFill>
                  <a:srgbClr val="9cd5ff"/>
                </a:solidFill>
                <a:effectLst/>
                <a:uFillTx/>
                <a:latin typeface="Consolas"/>
                <a:ea typeface="Consolas"/>
              </a:rPr>
              <a:t>Student</a:t>
            </a:r>
            <a:endParaRPr b="0" lang="en-IN" sz="1300" strike="noStrike" u="none">
              <a:solidFill>
                <a:srgbClr val="000000"/>
              </a:solidFill>
              <a:effectLst/>
              <a:uFillTx/>
              <a:latin typeface="Arial"/>
            </a:endParaRPr>
          </a:p>
        </p:txBody>
      </p:sp>
      <p:sp>
        <p:nvSpPr>
          <p:cNvPr id="91" name="Shape 7"/>
          <p:cNvSpPr/>
          <p:nvPr/>
        </p:nvSpPr>
        <p:spPr>
          <a:xfrm>
            <a:off x="228600" y="1591200"/>
            <a:ext cx="3017160" cy="246600"/>
          </a:xfrm>
          <a:prstGeom prst="rect">
            <a:avLst/>
          </a:prstGeom>
          <a:solidFill>
            <a:srgbClr val="1e3d5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92" name="Text 8"/>
          <p:cNvSpPr/>
          <p:nvPr/>
        </p:nvSpPr>
        <p:spPr>
          <a:xfrm>
            <a:off x="228600" y="1591200"/>
            <a:ext cx="3017160" cy="246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201" strike="noStrike" u="none">
                <a:solidFill>
                  <a:srgbClr val="9cd5ff"/>
                </a:solidFill>
                <a:effectLst/>
                <a:uFillTx/>
                <a:latin typeface="Calibri"/>
                <a:ea typeface="Calibri"/>
              </a:rPr>
              <a:t>FIELDS</a:t>
            </a:r>
            <a:endParaRPr b="0" lang="en-IN" sz="900" strike="noStrike" u="none">
              <a:solidFill>
                <a:srgbClr val="000000"/>
              </a:solidFill>
              <a:effectLst/>
              <a:uFillTx/>
              <a:latin typeface="Arial"/>
            </a:endParaRPr>
          </a:p>
        </p:txBody>
      </p:sp>
      <p:sp>
        <p:nvSpPr>
          <p:cNvPr id="93" name="Text 9"/>
          <p:cNvSpPr/>
          <p:nvPr/>
        </p:nvSpPr>
        <p:spPr>
          <a:xfrm>
            <a:off x="365760" y="1874520"/>
            <a:ext cx="274284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c8dff0"/>
                </a:solidFill>
                <a:effectLst/>
                <a:uFillTx/>
                <a:latin typeface="Consolas"/>
                <a:ea typeface="Consolas"/>
              </a:rPr>
              <a:t>String  name</a:t>
            </a:r>
            <a:endParaRPr b="0" lang="en-IN" sz="1100" strike="noStrike" u="none">
              <a:solidFill>
                <a:srgbClr val="000000"/>
              </a:solidFill>
              <a:effectLst/>
              <a:uFillTx/>
              <a:latin typeface="Arial"/>
            </a:endParaRPr>
          </a:p>
        </p:txBody>
      </p:sp>
      <p:sp>
        <p:nvSpPr>
          <p:cNvPr id="94" name="Text 10"/>
          <p:cNvSpPr/>
          <p:nvPr/>
        </p:nvSpPr>
        <p:spPr>
          <a:xfrm>
            <a:off x="365760" y="2176200"/>
            <a:ext cx="274284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c8dff0"/>
                </a:solidFill>
                <a:effectLst/>
                <a:uFillTx/>
                <a:latin typeface="Consolas"/>
                <a:ea typeface="Consolas"/>
              </a:rPr>
              <a:t>int     rollNo</a:t>
            </a:r>
            <a:endParaRPr b="0" lang="en-IN" sz="1100" strike="noStrike" u="none">
              <a:solidFill>
                <a:srgbClr val="000000"/>
              </a:solidFill>
              <a:effectLst/>
              <a:uFillTx/>
              <a:latin typeface="Arial"/>
            </a:endParaRPr>
          </a:p>
        </p:txBody>
      </p:sp>
      <p:sp>
        <p:nvSpPr>
          <p:cNvPr id="95" name="Text 11"/>
          <p:cNvSpPr/>
          <p:nvPr/>
        </p:nvSpPr>
        <p:spPr>
          <a:xfrm>
            <a:off x="365760" y="2477880"/>
            <a:ext cx="274284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c8dff0"/>
                </a:solidFill>
                <a:effectLst/>
                <a:uFillTx/>
                <a:latin typeface="Consolas"/>
                <a:ea typeface="Consolas"/>
              </a:rPr>
              <a:t>int     marks</a:t>
            </a:r>
            <a:endParaRPr b="0" lang="en-IN" sz="1100" strike="noStrike" u="none">
              <a:solidFill>
                <a:srgbClr val="000000"/>
              </a:solidFill>
              <a:effectLst/>
              <a:uFillTx/>
              <a:latin typeface="Arial"/>
            </a:endParaRPr>
          </a:p>
        </p:txBody>
      </p:sp>
      <p:sp>
        <p:nvSpPr>
          <p:cNvPr id="96" name="Shape 12"/>
          <p:cNvSpPr/>
          <p:nvPr/>
        </p:nvSpPr>
        <p:spPr>
          <a:xfrm>
            <a:off x="228600" y="2807280"/>
            <a:ext cx="3017160" cy="246600"/>
          </a:xfrm>
          <a:prstGeom prst="rect">
            <a:avLst/>
          </a:prstGeom>
          <a:solidFill>
            <a:srgbClr val="1e3d5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97" name="Text 13"/>
          <p:cNvSpPr/>
          <p:nvPr/>
        </p:nvSpPr>
        <p:spPr>
          <a:xfrm>
            <a:off x="228600" y="2807280"/>
            <a:ext cx="3017160" cy="246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201" strike="noStrike" u="none">
                <a:solidFill>
                  <a:srgbClr val="9cd5ff"/>
                </a:solidFill>
                <a:effectLst/>
                <a:uFillTx/>
                <a:latin typeface="Calibri"/>
                <a:ea typeface="Calibri"/>
              </a:rPr>
              <a:t>METHODS</a:t>
            </a:r>
            <a:endParaRPr b="0" lang="en-IN" sz="900" strike="noStrike" u="none">
              <a:solidFill>
                <a:srgbClr val="000000"/>
              </a:solidFill>
              <a:effectLst/>
              <a:uFillTx/>
              <a:latin typeface="Arial"/>
            </a:endParaRPr>
          </a:p>
        </p:txBody>
      </p:sp>
      <p:sp>
        <p:nvSpPr>
          <p:cNvPr id="98" name="Text 14"/>
          <p:cNvSpPr/>
          <p:nvPr/>
        </p:nvSpPr>
        <p:spPr>
          <a:xfrm>
            <a:off x="365760" y="3090600"/>
            <a:ext cx="274284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c8dff0"/>
                </a:solidFill>
                <a:effectLst/>
                <a:uFillTx/>
                <a:latin typeface="Consolas"/>
                <a:ea typeface="Consolas"/>
              </a:rPr>
              <a:t>void displayInfo()</a:t>
            </a:r>
            <a:endParaRPr b="0" lang="en-IN" sz="1100" strike="noStrike" u="none">
              <a:solidFill>
                <a:srgbClr val="000000"/>
              </a:solidFill>
              <a:effectLst/>
              <a:uFillTx/>
              <a:latin typeface="Arial"/>
            </a:endParaRPr>
          </a:p>
        </p:txBody>
      </p:sp>
      <p:sp>
        <p:nvSpPr>
          <p:cNvPr id="99" name="Shape 15"/>
          <p:cNvSpPr/>
          <p:nvPr/>
        </p:nvSpPr>
        <p:spPr>
          <a:xfrm>
            <a:off x="228600" y="4187880"/>
            <a:ext cx="3017160" cy="621360"/>
          </a:xfrm>
          <a:prstGeom prst="rect">
            <a:avLst/>
          </a:prstGeom>
          <a:solidFill>
            <a:srgbClr val="1e3d5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00" name="Text 16"/>
          <p:cNvSpPr/>
          <p:nvPr/>
        </p:nvSpPr>
        <p:spPr>
          <a:xfrm>
            <a:off x="228600" y="4187880"/>
            <a:ext cx="3017160" cy="6213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1000" strike="noStrike" u="none">
                <a:solidFill>
                  <a:srgbClr val="9cd5ff"/>
                </a:solidFill>
                <a:effectLst/>
                <a:uFillTx/>
                <a:latin typeface="Calibri"/>
                <a:ea typeface="Calibri"/>
              </a:rPr>
              <a:t>No memory allocated</a:t>
            </a:r>
            <a:endParaRPr b="0" lang="en-IN" sz="1000" strike="noStrike" u="none">
              <a:solidFill>
                <a:srgbClr val="000000"/>
              </a:solidFill>
              <a:effectLst/>
              <a:uFillTx/>
              <a:latin typeface="Arial"/>
            </a:endParaRPr>
          </a:p>
          <a:p>
            <a:pPr algn="ctr" defTabSz="914400">
              <a:lnSpc>
                <a:spcPct val="100000"/>
              </a:lnSpc>
              <a:tabLst>
                <a:tab algn="l" pos="0"/>
              </a:tabLst>
            </a:pPr>
            <a:r>
              <a:rPr b="0" i="1" lang="en-US" sz="1000" strike="noStrike" u="none">
                <a:solidFill>
                  <a:srgbClr val="9cd5ff"/>
                </a:solidFill>
                <a:effectLst/>
                <a:uFillTx/>
                <a:latin typeface="Calibri"/>
                <a:ea typeface="Calibri"/>
              </a:rPr>
              <a:t>until object is created</a:t>
            </a:r>
            <a:endParaRPr b="0" lang="en-IN" sz="1000" strike="noStrike" u="none">
              <a:solidFill>
                <a:srgbClr val="000000"/>
              </a:solidFill>
              <a:effectLst/>
              <a:uFillTx/>
              <a:latin typeface="Arial"/>
            </a:endParaRPr>
          </a:p>
        </p:txBody>
      </p:sp>
      <p:sp>
        <p:nvSpPr>
          <p:cNvPr id="101" name="Text 17"/>
          <p:cNvSpPr/>
          <p:nvPr/>
        </p:nvSpPr>
        <p:spPr>
          <a:xfrm>
            <a:off x="3337560" y="2286000"/>
            <a:ext cx="86832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trike="noStrike" u="none">
                <a:solidFill>
                  <a:srgbClr val="7aaace"/>
                </a:solidFill>
                <a:effectLst/>
                <a:uFillTx/>
                <a:latin typeface="Consolas"/>
                <a:ea typeface="Consolas"/>
              </a:rPr>
              <a:t>new  →</a:t>
            </a:r>
            <a:endParaRPr b="0" lang="en-IN" sz="1400" strike="noStrike" u="none">
              <a:solidFill>
                <a:srgbClr val="000000"/>
              </a:solidFill>
              <a:effectLst/>
              <a:uFillTx/>
              <a:latin typeface="Arial"/>
            </a:endParaRPr>
          </a:p>
        </p:txBody>
      </p:sp>
      <p:sp>
        <p:nvSpPr>
          <p:cNvPr id="102" name="Shape 18"/>
          <p:cNvSpPr/>
          <p:nvPr/>
        </p:nvSpPr>
        <p:spPr>
          <a:xfrm>
            <a:off x="4343400" y="914400"/>
            <a:ext cx="4525920" cy="1737000"/>
          </a:xfrm>
          <a:prstGeom prst="rect">
            <a:avLst/>
          </a:prstGeom>
          <a:solidFill>
            <a:srgbClr val="d6eaf8"/>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03" name="Shape 19"/>
          <p:cNvSpPr/>
          <p:nvPr/>
        </p:nvSpPr>
        <p:spPr>
          <a:xfrm>
            <a:off x="4343400" y="914400"/>
            <a:ext cx="4525920" cy="32868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04" name="Text 20"/>
          <p:cNvSpPr/>
          <p:nvPr/>
        </p:nvSpPr>
        <p:spPr>
          <a:xfrm>
            <a:off x="4434840" y="914400"/>
            <a:ext cx="434304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trike="noStrike" u="none">
                <a:solidFill>
                  <a:srgbClr val="ffffff"/>
                </a:solidFill>
                <a:effectLst/>
                <a:uFillTx/>
                <a:latin typeface="Consolas"/>
                <a:ea typeface="Consolas"/>
              </a:rPr>
              <a:t>s1  (Object)</a:t>
            </a:r>
            <a:endParaRPr b="0" lang="en-IN" sz="1200" strike="noStrike" u="none">
              <a:solidFill>
                <a:srgbClr val="000000"/>
              </a:solidFill>
              <a:effectLst/>
              <a:uFillTx/>
              <a:latin typeface="Arial"/>
            </a:endParaRPr>
          </a:p>
        </p:txBody>
      </p:sp>
      <p:sp>
        <p:nvSpPr>
          <p:cNvPr id="105" name="Shape 21"/>
          <p:cNvSpPr/>
          <p:nvPr/>
        </p:nvSpPr>
        <p:spPr>
          <a:xfrm>
            <a:off x="4480560" y="1316880"/>
            <a:ext cx="1462680" cy="3106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06" name="Text 22"/>
          <p:cNvSpPr/>
          <p:nvPr/>
        </p:nvSpPr>
        <p:spPr>
          <a:xfrm>
            <a:off x="4480560" y="1316880"/>
            <a:ext cx="1462680" cy="310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00" strike="noStrike" u="none">
                <a:solidFill>
                  <a:srgbClr val="9cd5ff"/>
                </a:solidFill>
                <a:effectLst/>
                <a:uFillTx/>
                <a:latin typeface="Consolas"/>
                <a:ea typeface="Consolas"/>
              </a:rPr>
              <a:t>name:</a:t>
            </a:r>
            <a:endParaRPr b="0" lang="en-IN" sz="1100" strike="noStrike" u="none">
              <a:solidFill>
                <a:srgbClr val="000000"/>
              </a:solidFill>
              <a:effectLst/>
              <a:uFillTx/>
              <a:latin typeface="Arial"/>
            </a:endParaRPr>
          </a:p>
        </p:txBody>
      </p:sp>
      <p:sp>
        <p:nvSpPr>
          <p:cNvPr id="107" name="Shape 23"/>
          <p:cNvSpPr/>
          <p:nvPr/>
        </p:nvSpPr>
        <p:spPr>
          <a:xfrm>
            <a:off x="5989320" y="1316880"/>
            <a:ext cx="2742840" cy="31068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08" name="Text 24"/>
          <p:cNvSpPr/>
          <p:nvPr/>
        </p:nvSpPr>
        <p:spPr>
          <a:xfrm>
            <a:off x="5989320" y="1316880"/>
            <a:ext cx="2742840" cy="310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00" strike="noStrike" u="none">
                <a:solidFill>
                  <a:srgbClr val="2e6b4f"/>
                </a:solidFill>
                <a:effectLst/>
                <a:uFillTx/>
                <a:latin typeface="Consolas"/>
                <a:ea typeface="Consolas"/>
              </a:rPr>
              <a:t>"Suresh"</a:t>
            </a:r>
            <a:endParaRPr b="0" lang="en-IN" sz="1100" strike="noStrike" u="none">
              <a:solidFill>
                <a:srgbClr val="000000"/>
              </a:solidFill>
              <a:effectLst/>
              <a:uFillTx/>
              <a:latin typeface="Arial"/>
            </a:endParaRPr>
          </a:p>
        </p:txBody>
      </p:sp>
      <p:sp>
        <p:nvSpPr>
          <p:cNvPr id="109" name="Shape 25"/>
          <p:cNvSpPr/>
          <p:nvPr/>
        </p:nvSpPr>
        <p:spPr>
          <a:xfrm>
            <a:off x="4480560" y="1682640"/>
            <a:ext cx="1462680" cy="3106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10" name="Text 26"/>
          <p:cNvSpPr/>
          <p:nvPr/>
        </p:nvSpPr>
        <p:spPr>
          <a:xfrm>
            <a:off x="4480560" y="1682640"/>
            <a:ext cx="1462680" cy="310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00" strike="noStrike" u="none">
                <a:solidFill>
                  <a:srgbClr val="9cd5ff"/>
                </a:solidFill>
                <a:effectLst/>
                <a:uFillTx/>
                <a:latin typeface="Consolas"/>
                <a:ea typeface="Consolas"/>
              </a:rPr>
              <a:t>rollNo:</a:t>
            </a:r>
            <a:endParaRPr b="0" lang="en-IN" sz="1100" strike="noStrike" u="none">
              <a:solidFill>
                <a:srgbClr val="000000"/>
              </a:solidFill>
              <a:effectLst/>
              <a:uFillTx/>
              <a:latin typeface="Arial"/>
            </a:endParaRPr>
          </a:p>
        </p:txBody>
      </p:sp>
      <p:sp>
        <p:nvSpPr>
          <p:cNvPr id="111" name="Shape 27"/>
          <p:cNvSpPr/>
          <p:nvPr/>
        </p:nvSpPr>
        <p:spPr>
          <a:xfrm>
            <a:off x="5989320" y="1682640"/>
            <a:ext cx="2742840" cy="31068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12" name="Text 28"/>
          <p:cNvSpPr/>
          <p:nvPr/>
        </p:nvSpPr>
        <p:spPr>
          <a:xfrm>
            <a:off x="5989320" y="1682640"/>
            <a:ext cx="2742840" cy="310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00" strike="noStrike" u="none">
                <a:solidFill>
                  <a:srgbClr val="2e6b4f"/>
                </a:solidFill>
                <a:effectLst/>
                <a:uFillTx/>
                <a:latin typeface="Consolas"/>
                <a:ea typeface="Consolas"/>
              </a:rPr>
              <a:t>101</a:t>
            </a:r>
            <a:endParaRPr b="0" lang="en-IN" sz="1100" strike="noStrike" u="none">
              <a:solidFill>
                <a:srgbClr val="000000"/>
              </a:solidFill>
              <a:effectLst/>
              <a:uFillTx/>
              <a:latin typeface="Arial"/>
            </a:endParaRPr>
          </a:p>
        </p:txBody>
      </p:sp>
      <p:sp>
        <p:nvSpPr>
          <p:cNvPr id="113" name="Shape 29"/>
          <p:cNvSpPr/>
          <p:nvPr/>
        </p:nvSpPr>
        <p:spPr>
          <a:xfrm>
            <a:off x="4480560" y="2048400"/>
            <a:ext cx="1462680" cy="3106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14" name="Text 30"/>
          <p:cNvSpPr/>
          <p:nvPr/>
        </p:nvSpPr>
        <p:spPr>
          <a:xfrm>
            <a:off x="4480560" y="2048400"/>
            <a:ext cx="1462680" cy="310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00" strike="noStrike" u="none">
                <a:solidFill>
                  <a:srgbClr val="9cd5ff"/>
                </a:solidFill>
                <a:effectLst/>
                <a:uFillTx/>
                <a:latin typeface="Consolas"/>
                <a:ea typeface="Consolas"/>
              </a:rPr>
              <a:t>marks:</a:t>
            </a:r>
            <a:endParaRPr b="0" lang="en-IN" sz="1100" strike="noStrike" u="none">
              <a:solidFill>
                <a:srgbClr val="000000"/>
              </a:solidFill>
              <a:effectLst/>
              <a:uFillTx/>
              <a:latin typeface="Arial"/>
            </a:endParaRPr>
          </a:p>
        </p:txBody>
      </p:sp>
      <p:sp>
        <p:nvSpPr>
          <p:cNvPr id="115" name="Shape 31"/>
          <p:cNvSpPr/>
          <p:nvPr/>
        </p:nvSpPr>
        <p:spPr>
          <a:xfrm>
            <a:off x="5989320" y="2048400"/>
            <a:ext cx="2742840" cy="31068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16" name="Text 32"/>
          <p:cNvSpPr/>
          <p:nvPr/>
        </p:nvSpPr>
        <p:spPr>
          <a:xfrm>
            <a:off x="5989320" y="2048400"/>
            <a:ext cx="2742840" cy="310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00" strike="noStrike" u="none">
                <a:solidFill>
                  <a:srgbClr val="2e6b4f"/>
                </a:solidFill>
                <a:effectLst/>
                <a:uFillTx/>
                <a:latin typeface="Consolas"/>
                <a:ea typeface="Consolas"/>
              </a:rPr>
              <a:t>85</a:t>
            </a:r>
            <a:endParaRPr b="0" lang="en-IN" sz="1100" strike="noStrike" u="none">
              <a:solidFill>
                <a:srgbClr val="000000"/>
              </a:solidFill>
              <a:effectLst/>
              <a:uFillTx/>
              <a:latin typeface="Arial"/>
            </a:endParaRPr>
          </a:p>
        </p:txBody>
      </p:sp>
      <p:sp>
        <p:nvSpPr>
          <p:cNvPr id="117" name="Shape 33"/>
          <p:cNvSpPr/>
          <p:nvPr/>
        </p:nvSpPr>
        <p:spPr>
          <a:xfrm>
            <a:off x="4343400" y="2880360"/>
            <a:ext cx="4525920" cy="1737000"/>
          </a:xfrm>
          <a:prstGeom prst="rect">
            <a:avLst/>
          </a:prstGeom>
          <a:solidFill>
            <a:srgbClr val="d6eaf8"/>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18" name="Shape 34"/>
          <p:cNvSpPr/>
          <p:nvPr/>
        </p:nvSpPr>
        <p:spPr>
          <a:xfrm>
            <a:off x="4343400" y="2880360"/>
            <a:ext cx="4525920" cy="32868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19" name="Text 35"/>
          <p:cNvSpPr/>
          <p:nvPr/>
        </p:nvSpPr>
        <p:spPr>
          <a:xfrm>
            <a:off x="4434840" y="2880360"/>
            <a:ext cx="434304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trike="noStrike" u="none">
                <a:solidFill>
                  <a:srgbClr val="ffffff"/>
                </a:solidFill>
                <a:effectLst/>
                <a:uFillTx/>
                <a:latin typeface="Consolas"/>
                <a:ea typeface="Consolas"/>
              </a:rPr>
              <a:t>s2  (Object)</a:t>
            </a:r>
            <a:endParaRPr b="0" lang="en-IN" sz="1200" strike="noStrike" u="none">
              <a:solidFill>
                <a:srgbClr val="000000"/>
              </a:solidFill>
              <a:effectLst/>
              <a:uFillTx/>
              <a:latin typeface="Arial"/>
            </a:endParaRPr>
          </a:p>
        </p:txBody>
      </p:sp>
      <p:sp>
        <p:nvSpPr>
          <p:cNvPr id="120" name="Shape 36"/>
          <p:cNvSpPr/>
          <p:nvPr/>
        </p:nvSpPr>
        <p:spPr>
          <a:xfrm>
            <a:off x="4480560" y="3282840"/>
            <a:ext cx="1462680" cy="3106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21" name="Text 37"/>
          <p:cNvSpPr/>
          <p:nvPr/>
        </p:nvSpPr>
        <p:spPr>
          <a:xfrm>
            <a:off x="4480560" y="3282840"/>
            <a:ext cx="1462680" cy="310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00" strike="noStrike" u="none">
                <a:solidFill>
                  <a:srgbClr val="9cd5ff"/>
                </a:solidFill>
                <a:effectLst/>
                <a:uFillTx/>
                <a:latin typeface="Consolas"/>
                <a:ea typeface="Consolas"/>
              </a:rPr>
              <a:t>name:</a:t>
            </a:r>
            <a:endParaRPr b="0" lang="en-IN" sz="1100" strike="noStrike" u="none">
              <a:solidFill>
                <a:srgbClr val="000000"/>
              </a:solidFill>
              <a:effectLst/>
              <a:uFillTx/>
              <a:latin typeface="Arial"/>
            </a:endParaRPr>
          </a:p>
        </p:txBody>
      </p:sp>
      <p:sp>
        <p:nvSpPr>
          <p:cNvPr id="122" name="Shape 38"/>
          <p:cNvSpPr/>
          <p:nvPr/>
        </p:nvSpPr>
        <p:spPr>
          <a:xfrm>
            <a:off x="5989320" y="3282840"/>
            <a:ext cx="2742840" cy="31068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23" name="Text 39"/>
          <p:cNvSpPr/>
          <p:nvPr/>
        </p:nvSpPr>
        <p:spPr>
          <a:xfrm>
            <a:off x="5989320" y="3282840"/>
            <a:ext cx="2742840" cy="310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00" strike="noStrike" u="none">
                <a:solidFill>
                  <a:srgbClr val="2e6b4f"/>
                </a:solidFill>
                <a:effectLst/>
                <a:uFillTx/>
                <a:latin typeface="Consolas"/>
                <a:ea typeface="Consolas"/>
              </a:rPr>
              <a:t>"Ramesh"</a:t>
            </a:r>
            <a:endParaRPr b="0" lang="en-IN" sz="1100" strike="noStrike" u="none">
              <a:solidFill>
                <a:srgbClr val="000000"/>
              </a:solidFill>
              <a:effectLst/>
              <a:uFillTx/>
              <a:latin typeface="Arial"/>
            </a:endParaRPr>
          </a:p>
        </p:txBody>
      </p:sp>
      <p:sp>
        <p:nvSpPr>
          <p:cNvPr id="124" name="Shape 40"/>
          <p:cNvSpPr/>
          <p:nvPr/>
        </p:nvSpPr>
        <p:spPr>
          <a:xfrm>
            <a:off x="4480560" y="3648600"/>
            <a:ext cx="1462680" cy="3106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25" name="Text 41"/>
          <p:cNvSpPr/>
          <p:nvPr/>
        </p:nvSpPr>
        <p:spPr>
          <a:xfrm>
            <a:off x="4480560" y="3648600"/>
            <a:ext cx="1462680" cy="310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00" strike="noStrike" u="none">
                <a:solidFill>
                  <a:srgbClr val="9cd5ff"/>
                </a:solidFill>
                <a:effectLst/>
                <a:uFillTx/>
                <a:latin typeface="Consolas"/>
                <a:ea typeface="Consolas"/>
              </a:rPr>
              <a:t>rollNo:</a:t>
            </a:r>
            <a:endParaRPr b="0" lang="en-IN" sz="1100" strike="noStrike" u="none">
              <a:solidFill>
                <a:srgbClr val="000000"/>
              </a:solidFill>
              <a:effectLst/>
              <a:uFillTx/>
              <a:latin typeface="Arial"/>
            </a:endParaRPr>
          </a:p>
        </p:txBody>
      </p:sp>
      <p:sp>
        <p:nvSpPr>
          <p:cNvPr id="126" name="Shape 42"/>
          <p:cNvSpPr/>
          <p:nvPr/>
        </p:nvSpPr>
        <p:spPr>
          <a:xfrm>
            <a:off x="5989320" y="3648600"/>
            <a:ext cx="2742840" cy="31068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27" name="Text 43"/>
          <p:cNvSpPr/>
          <p:nvPr/>
        </p:nvSpPr>
        <p:spPr>
          <a:xfrm>
            <a:off x="5989320" y="3648600"/>
            <a:ext cx="2742840" cy="310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00" strike="noStrike" u="none">
                <a:solidFill>
                  <a:srgbClr val="2e6b4f"/>
                </a:solidFill>
                <a:effectLst/>
                <a:uFillTx/>
                <a:latin typeface="Consolas"/>
                <a:ea typeface="Consolas"/>
              </a:rPr>
              <a:t>102</a:t>
            </a:r>
            <a:endParaRPr b="0" lang="en-IN" sz="1100" strike="noStrike" u="none">
              <a:solidFill>
                <a:srgbClr val="000000"/>
              </a:solidFill>
              <a:effectLst/>
              <a:uFillTx/>
              <a:latin typeface="Arial"/>
            </a:endParaRPr>
          </a:p>
        </p:txBody>
      </p:sp>
      <p:sp>
        <p:nvSpPr>
          <p:cNvPr id="128" name="Shape 44"/>
          <p:cNvSpPr/>
          <p:nvPr/>
        </p:nvSpPr>
        <p:spPr>
          <a:xfrm>
            <a:off x="4480560" y="4014360"/>
            <a:ext cx="1462680" cy="3106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29" name="Text 45"/>
          <p:cNvSpPr/>
          <p:nvPr/>
        </p:nvSpPr>
        <p:spPr>
          <a:xfrm>
            <a:off x="4480560" y="4014360"/>
            <a:ext cx="1462680" cy="310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00" strike="noStrike" u="none">
                <a:solidFill>
                  <a:srgbClr val="9cd5ff"/>
                </a:solidFill>
                <a:effectLst/>
                <a:uFillTx/>
                <a:latin typeface="Consolas"/>
                <a:ea typeface="Consolas"/>
              </a:rPr>
              <a:t>marks:</a:t>
            </a:r>
            <a:endParaRPr b="0" lang="en-IN" sz="1100" strike="noStrike" u="none">
              <a:solidFill>
                <a:srgbClr val="000000"/>
              </a:solidFill>
              <a:effectLst/>
              <a:uFillTx/>
              <a:latin typeface="Arial"/>
            </a:endParaRPr>
          </a:p>
        </p:txBody>
      </p:sp>
      <p:sp>
        <p:nvSpPr>
          <p:cNvPr id="130" name="Shape 46"/>
          <p:cNvSpPr/>
          <p:nvPr/>
        </p:nvSpPr>
        <p:spPr>
          <a:xfrm>
            <a:off x="5989320" y="4014360"/>
            <a:ext cx="2742840" cy="31068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31" name="Text 47"/>
          <p:cNvSpPr/>
          <p:nvPr/>
        </p:nvSpPr>
        <p:spPr>
          <a:xfrm>
            <a:off x="5989320" y="4014360"/>
            <a:ext cx="2742840" cy="310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00" strike="noStrike" u="none">
                <a:solidFill>
                  <a:srgbClr val="2e6b4f"/>
                </a:solidFill>
                <a:effectLst/>
                <a:uFillTx/>
                <a:latin typeface="Consolas"/>
                <a:ea typeface="Consolas"/>
              </a:rPr>
              <a:t>91</a:t>
            </a:r>
            <a:endParaRPr b="0" lang="en-IN"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55872"/>
        </a:solidFill>
      </p:bgPr>
    </p:bg>
    <p:spTree>
      <p:nvGrpSpPr>
        <p:cNvPr id="1" name=""/>
        <p:cNvGrpSpPr/>
        <p:nvPr/>
      </p:nvGrpSpPr>
      <p:grpSpPr>
        <a:xfrm>
          <a:off x="0" y="0"/>
          <a:ext cx="0" cy="0"/>
          <a:chOff x="0" y="0"/>
          <a:chExt cx="0" cy="0"/>
        </a:xfrm>
      </p:grpSpPr>
      <p:sp>
        <p:nvSpPr>
          <p:cNvPr id="132" name="Shape 0"/>
          <p:cNvSpPr/>
          <p:nvPr/>
        </p:nvSpPr>
        <p:spPr>
          <a:xfrm>
            <a:off x="0" y="0"/>
            <a:ext cx="3291480" cy="5143320"/>
          </a:xfrm>
          <a:prstGeom prst="rect">
            <a:avLst/>
          </a:prstGeom>
          <a:solidFill>
            <a:srgbClr val="2a4e66"/>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33" name="Shape 1"/>
          <p:cNvSpPr/>
          <p:nvPr/>
        </p:nvSpPr>
        <p:spPr>
          <a:xfrm>
            <a:off x="0" y="0"/>
            <a:ext cx="164160" cy="5143320"/>
          </a:xfrm>
          <a:prstGeom prst="rect">
            <a:avLst/>
          </a:prstGeom>
          <a:solidFill>
            <a:srgbClr val="9cd5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34" name="Text 2"/>
          <p:cNvSpPr/>
          <p:nvPr/>
        </p:nvSpPr>
        <p:spPr>
          <a:xfrm>
            <a:off x="228600" y="1371600"/>
            <a:ext cx="2925720" cy="146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0" strike="noStrike" u="none">
                <a:solidFill>
                  <a:srgbClr val="1e3d52"/>
                </a:solidFill>
                <a:effectLst/>
                <a:uFillTx/>
                <a:latin typeface="Calibri"/>
                <a:ea typeface="Calibri"/>
              </a:rPr>
              <a:t>02</a:t>
            </a:r>
            <a:endParaRPr b="0" lang="en-IN" sz="11000" strike="noStrike" u="none">
              <a:solidFill>
                <a:srgbClr val="ffffff"/>
              </a:solidFill>
              <a:effectLst/>
              <a:uFillTx/>
              <a:latin typeface="Arial"/>
            </a:endParaRPr>
          </a:p>
        </p:txBody>
      </p:sp>
      <p:sp>
        <p:nvSpPr>
          <p:cNvPr id="135" name="Text 3"/>
          <p:cNvSpPr/>
          <p:nvPr/>
        </p:nvSpPr>
        <p:spPr>
          <a:xfrm>
            <a:off x="228600" y="320040"/>
            <a:ext cx="2925720" cy="255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00" spc="400" strike="noStrike" u="none">
                <a:solidFill>
                  <a:srgbClr val="9cd5ff"/>
                </a:solidFill>
                <a:effectLst/>
                <a:uFillTx/>
                <a:latin typeface="Calibri"/>
                <a:ea typeface="Calibri"/>
              </a:rPr>
              <a:t>SECTION</a:t>
            </a:r>
            <a:endParaRPr b="0" lang="en-IN" sz="1000" strike="noStrike" u="none">
              <a:solidFill>
                <a:srgbClr val="ffffff"/>
              </a:solidFill>
              <a:effectLst/>
              <a:uFillTx/>
              <a:latin typeface="Arial"/>
            </a:endParaRPr>
          </a:p>
        </p:txBody>
      </p:sp>
      <p:sp>
        <p:nvSpPr>
          <p:cNvPr id="136" name="Text 4"/>
          <p:cNvSpPr/>
          <p:nvPr/>
        </p:nvSpPr>
        <p:spPr>
          <a:xfrm>
            <a:off x="3520440" y="914400"/>
            <a:ext cx="5394600" cy="914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800" strike="noStrike" u="none">
                <a:solidFill>
                  <a:srgbClr val="ffffff"/>
                </a:solidFill>
                <a:effectLst/>
                <a:uFillTx/>
                <a:latin typeface="Calibri"/>
                <a:ea typeface="Calibri"/>
              </a:rPr>
              <a:t>Constructor</a:t>
            </a:r>
            <a:endParaRPr b="0" lang="en-IN" sz="3800" strike="noStrike" u="none">
              <a:solidFill>
                <a:srgbClr val="ffffff"/>
              </a:solidFill>
              <a:effectLst/>
              <a:uFillTx/>
              <a:latin typeface="Arial"/>
            </a:endParaRPr>
          </a:p>
        </p:txBody>
      </p:sp>
      <p:sp>
        <p:nvSpPr>
          <p:cNvPr id="137" name="Text 5"/>
          <p:cNvSpPr/>
          <p:nvPr/>
        </p:nvSpPr>
        <p:spPr>
          <a:xfrm>
            <a:off x="3520440" y="1920240"/>
            <a:ext cx="5394600" cy="411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500" strike="noStrike" u="none">
                <a:solidFill>
                  <a:srgbClr val="9cd5ff"/>
                </a:solidFill>
                <a:effectLst/>
                <a:uFillTx/>
                <a:latin typeface="Calibri"/>
                <a:ea typeface="Calibri"/>
              </a:rPr>
              <a:t>Auto-called when an object is born</a:t>
            </a:r>
            <a:endParaRPr b="0" lang="en-IN" sz="1500" strike="noStrike" u="none">
              <a:solidFill>
                <a:srgbClr val="ffffff"/>
              </a:solidFill>
              <a:effectLst/>
              <a:uFillTx/>
              <a:latin typeface="Arial"/>
            </a:endParaRPr>
          </a:p>
        </p:txBody>
      </p:sp>
      <p:sp>
        <p:nvSpPr>
          <p:cNvPr id="138" name="Shape 6"/>
          <p:cNvSpPr/>
          <p:nvPr/>
        </p:nvSpPr>
        <p:spPr>
          <a:xfrm>
            <a:off x="3520440" y="2514600"/>
            <a:ext cx="5394600" cy="1371240"/>
          </a:xfrm>
          <a:prstGeom prst="rect">
            <a:avLst/>
          </a:prstGeom>
          <a:solidFill>
            <a:srgbClr val="1e3d52"/>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39" name="Shape 7"/>
          <p:cNvSpPr/>
          <p:nvPr/>
        </p:nvSpPr>
        <p:spPr>
          <a:xfrm>
            <a:off x="3520440" y="2514600"/>
            <a:ext cx="72720" cy="1371240"/>
          </a:xfrm>
          <a:prstGeom prst="rect">
            <a:avLst/>
          </a:prstGeom>
          <a:solidFill>
            <a:srgbClr val="9cd5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40" name="Text 8"/>
          <p:cNvSpPr/>
          <p:nvPr/>
        </p:nvSpPr>
        <p:spPr>
          <a:xfrm>
            <a:off x="3703320" y="2514600"/>
            <a:ext cx="5138640" cy="1371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350" strike="noStrike" u="none">
                <a:solidFill>
                  <a:srgbClr val="c8dff0"/>
                </a:solidFill>
                <a:effectLst/>
                <a:uFillTx/>
                <a:latin typeface="Calibri"/>
                <a:ea typeface="Calibri"/>
              </a:rPr>
              <a:t>A constructor is a special method that runs automatically every time you create an object. Its only job is to initialise fields with meaningful starting values — so your object is ready to use the moment it is created.</a:t>
            </a:r>
            <a:endParaRPr b="0" lang="en-IN" sz="135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8f0"/>
        </a:solidFill>
      </p:bgPr>
    </p:bg>
    <p:spTree>
      <p:nvGrpSpPr>
        <p:cNvPr id="1" name=""/>
        <p:cNvGrpSpPr/>
        <p:nvPr/>
      </p:nvGrpSpPr>
      <p:grpSpPr>
        <a:xfrm>
          <a:off x="0" y="0"/>
          <a:ext cx="0" cy="0"/>
          <a:chOff x="0" y="0"/>
          <a:chExt cx="0" cy="0"/>
        </a:xfrm>
      </p:grpSpPr>
      <p:sp>
        <p:nvSpPr>
          <p:cNvPr id="141" name="Shape 0"/>
          <p:cNvSpPr/>
          <p:nvPr/>
        </p:nvSpPr>
        <p:spPr>
          <a:xfrm>
            <a:off x="0" y="0"/>
            <a:ext cx="914364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42" name="Text 1"/>
          <p:cNvSpPr/>
          <p:nvPr/>
        </p:nvSpPr>
        <p:spPr>
          <a:xfrm>
            <a:off x="320040" y="91440"/>
            <a:ext cx="7131960" cy="612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ffffff"/>
                </a:solidFill>
                <a:effectLst/>
                <a:uFillTx/>
                <a:latin typeface="Calibri"/>
                <a:ea typeface="Calibri"/>
              </a:rPr>
              <a:t>Constructor — Rules, Types &amp; Usage</a:t>
            </a:r>
            <a:endParaRPr b="0" lang="en-IN" sz="2200" strike="noStrike" u="none">
              <a:solidFill>
                <a:srgbClr val="000000"/>
              </a:solidFill>
              <a:effectLst/>
              <a:uFillTx/>
              <a:latin typeface="Arial"/>
            </a:endParaRPr>
          </a:p>
        </p:txBody>
      </p:sp>
      <p:sp>
        <p:nvSpPr>
          <p:cNvPr id="143" name="Text 2"/>
          <p:cNvSpPr/>
          <p:nvPr/>
        </p:nvSpPr>
        <p:spPr>
          <a:xfrm>
            <a:off x="6858000" y="274320"/>
            <a:ext cx="2148480" cy="255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99" strike="noStrike" u="none">
                <a:solidFill>
                  <a:srgbClr val="9cd5ff"/>
                </a:solidFill>
                <a:effectLst/>
                <a:uFillTx/>
                <a:latin typeface="Calibri"/>
                <a:ea typeface="Calibri"/>
              </a:rPr>
              <a:t>Section 2 — Constructor</a:t>
            </a:r>
            <a:endParaRPr b="0" lang="en-IN" sz="900" strike="noStrike" u="none">
              <a:solidFill>
                <a:srgbClr val="000000"/>
              </a:solidFill>
              <a:effectLst/>
              <a:uFillTx/>
              <a:latin typeface="Arial"/>
            </a:endParaRPr>
          </a:p>
        </p:txBody>
      </p:sp>
      <p:sp>
        <p:nvSpPr>
          <p:cNvPr id="144" name="Shape 3"/>
          <p:cNvSpPr/>
          <p:nvPr/>
        </p:nvSpPr>
        <p:spPr>
          <a:xfrm>
            <a:off x="182880" y="896040"/>
            <a:ext cx="8777880" cy="776880"/>
          </a:xfrm>
          <a:prstGeom prst="rect">
            <a:avLst/>
          </a:prstGeom>
          <a:solidFill>
            <a:srgbClr val="d6eaf8"/>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45" name="Shape 4"/>
          <p:cNvSpPr/>
          <p:nvPr/>
        </p:nvSpPr>
        <p:spPr>
          <a:xfrm>
            <a:off x="182880" y="896040"/>
            <a:ext cx="6372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46" name="Text 5"/>
          <p:cNvSpPr/>
          <p:nvPr/>
        </p:nvSpPr>
        <p:spPr>
          <a:xfrm>
            <a:off x="320040" y="932760"/>
            <a:ext cx="85035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DEFINITION</a:t>
            </a:r>
            <a:endParaRPr b="0" lang="en-IN" sz="900" strike="noStrike" u="none">
              <a:solidFill>
                <a:srgbClr val="000000"/>
              </a:solidFill>
              <a:effectLst/>
              <a:uFillTx/>
              <a:latin typeface="Arial"/>
            </a:endParaRPr>
          </a:p>
        </p:txBody>
      </p:sp>
      <p:sp>
        <p:nvSpPr>
          <p:cNvPr id="147" name="Text 6"/>
          <p:cNvSpPr/>
          <p:nvPr/>
        </p:nvSpPr>
        <p:spPr>
          <a:xfrm>
            <a:off x="320040" y="1152000"/>
            <a:ext cx="850356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00" strike="noStrike" u="none">
                <a:solidFill>
                  <a:srgbClr val="1e3a4a"/>
                </a:solidFill>
                <a:effectLst/>
                <a:uFillTx/>
                <a:latin typeface="Calibri"/>
                <a:ea typeface="Calibri"/>
              </a:rPr>
              <a:t>A constructor has the same name as the class and no return type (not even void). Java provides a free default constructor if you do not write one. You can write your own default or parameterized constructors.</a:t>
            </a:r>
            <a:endParaRPr b="0" lang="en-IN" sz="1300" strike="noStrike" u="none">
              <a:solidFill>
                <a:srgbClr val="000000"/>
              </a:solidFill>
              <a:effectLst/>
              <a:uFillTx/>
              <a:latin typeface="Arial"/>
            </a:endParaRPr>
          </a:p>
        </p:txBody>
      </p:sp>
      <p:sp>
        <p:nvSpPr>
          <p:cNvPr id="148" name="Shape 7"/>
          <p:cNvSpPr/>
          <p:nvPr/>
        </p:nvSpPr>
        <p:spPr>
          <a:xfrm>
            <a:off x="182880" y="1801440"/>
            <a:ext cx="4278960" cy="226728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49" name="Shape 8"/>
          <p:cNvSpPr/>
          <p:nvPr/>
        </p:nvSpPr>
        <p:spPr>
          <a:xfrm>
            <a:off x="182880" y="1801440"/>
            <a:ext cx="63720" cy="226728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50" name="Text 9"/>
          <p:cNvSpPr/>
          <p:nvPr/>
        </p:nvSpPr>
        <p:spPr>
          <a:xfrm>
            <a:off x="320040" y="1837800"/>
            <a:ext cx="402300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KEY POINTS</a:t>
            </a:r>
            <a:endParaRPr b="0" lang="en-IN" sz="900" strike="noStrike" u="none">
              <a:solidFill>
                <a:srgbClr val="000000"/>
              </a:solidFill>
              <a:effectLst/>
              <a:uFillTx/>
              <a:latin typeface="Arial"/>
            </a:endParaRPr>
          </a:p>
        </p:txBody>
      </p:sp>
      <p:sp>
        <p:nvSpPr>
          <p:cNvPr id="151" name="Text 10"/>
          <p:cNvSpPr/>
          <p:nvPr/>
        </p:nvSpPr>
        <p:spPr>
          <a:xfrm>
            <a:off x="320040" y="2075760"/>
            <a:ext cx="4023000" cy="193824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Same name as class — no return type</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Called automatically with new ClassName()</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Default constructor: no parameters, Java auto-creates if absent</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Parameterized constructor: accepts arguments to set field values</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Constructor overloading: multiple constructors, different parameter lists</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this() calls another constructor in the same class (constructor chaining)</a:t>
            </a:r>
            <a:endParaRPr b="0" lang="en-IN" sz="1250" strike="noStrike" u="none">
              <a:solidFill>
                <a:srgbClr val="000000"/>
              </a:solidFill>
              <a:effectLst/>
              <a:uFillTx/>
              <a:latin typeface="Arial"/>
            </a:endParaRPr>
          </a:p>
        </p:txBody>
      </p:sp>
      <p:sp>
        <p:nvSpPr>
          <p:cNvPr id="152" name="Shape 11"/>
          <p:cNvSpPr/>
          <p:nvPr/>
        </p:nvSpPr>
        <p:spPr>
          <a:xfrm>
            <a:off x="4645080" y="1801440"/>
            <a:ext cx="4315680" cy="2267280"/>
          </a:xfrm>
          <a:prstGeom prst="rect">
            <a:avLst/>
          </a:prstGeom>
          <a:solidFill>
            <a:srgbClr val="1e2d3d"/>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53" name="Shape 12"/>
          <p:cNvSpPr/>
          <p:nvPr/>
        </p:nvSpPr>
        <p:spPr>
          <a:xfrm>
            <a:off x="4645080" y="1801440"/>
            <a:ext cx="4315680" cy="273960"/>
          </a:xfrm>
          <a:prstGeom prst="rect">
            <a:avLst/>
          </a:prstGeom>
          <a:solidFill>
            <a:srgbClr val="182634"/>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54" name="Text 13"/>
          <p:cNvSpPr/>
          <p:nvPr/>
        </p:nvSpPr>
        <p:spPr>
          <a:xfrm>
            <a:off x="4754880" y="1801440"/>
            <a:ext cx="41144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201" strike="noStrike" u="none">
                <a:solidFill>
                  <a:srgbClr val="9cd5ff"/>
                </a:solidFill>
                <a:effectLst/>
                <a:uFillTx/>
                <a:latin typeface="Calibri"/>
                <a:ea typeface="Calibri"/>
              </a:rPr>
              <a:t>JAVA CODE</a:t>
            </a:r>
            <a:endParaRPr b="0" lang="en-IN" sz="900" strike="noStrike" u="none">
              <a:solidFill>
                <a:srgbClr val="000000"/>
              </a:solidFill>
              <a:effectLst/>
              <a:uFillTx/>
              <a:latin typeface="Arial"/>
            </a:endParaRPr>
          </a:p>
        </p:txBody>
      </p:sp>
      <p:sp>
        <p:nvSpPr>
          <p:cNvPr id="155" name="Text 14"/>
          <p:cNvSpPr/>
          <p:nvPr/>
        </p:nvSpPr>
        <p:spPr>
          <a:xfrm>
            <a:off x="4599000" y="2067120"/>
            <a:ext cx="2241000" cy="1919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trike="noStrike" u="none">
                <a:solidFill>
                  <a:srgbClr val="c8dff0"/>
                </a:solidFill>
                <a:effectLst/>
                <a:uFillTx/>
                <a:latin typeface="Consolas"/>
                <a:ea typeface="Consolas"/>
              </a:rPr>
              <a:t>class Student {</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  String name;</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  int    rollNo;</a:t>
            </a:r>
            <a:endParaRPr b="0" lang="en-IN" sz="950" strike="noStrike" u="none">
              <a:solidFill>
                <a:srgbClr val="000000"/>
              </a:solidFill>
              <a:effectLst/>
              <a:uFillTx/>
              <a:latin typeface="Arial"/>
            </a:endParaRPr>
          </a:p>
          <a:p>
            <a:pPr defTabSz="914400">
              <a:lnSpc>
                <a:spcPct val="100000"/>
              </a:lnSpc>
              <a:tabLst>
                <a:tab algn="l" pos="0"/>
              </a:tabLst>
            </a:pP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  // Default constructor</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  Student() {</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    name   = "Unknown";</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    rollNo = 0;</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  }</a:t>
            </a:r>
            <a:endParaRPr b="0" lang="en-IN" sz="950" strike="noStrike" u="none">
              <a:solidFill>
                <a:srgbClr val="000000"/>
              </a:solidFill>
              <a:effectLst/>
              <a:uFillTx/>
              <a:latin typeface="Arial"/>
            </a:endParaRPr>
          </a:p>
          <a:p>
            <a:pPr defTabSz="914400">
              <a:lnSpc>
                <a:spcPct val="100000"/>
              </a:lnSpc>
              <a:tabLst>
                <a:tab algn="l" pos="0"/>
              </a:tabLst>
            </a:pPr>
            <a:endParaRPr b="0" lang="en-IN" sz="950" strike="noStrike" u="none">
              <a:solidFill>
                <a:srgbClr val="000000"/>
              </a:solidFill>
              <a:effectLst/>
              <a:uFillTx/>
              <a:latin typeface="Arial"/>
            </a:endParaRPr>
          </a:p>
          <a:p>
            <a:pPr defTabSz="914400">
              <a:lnSpc>
                <a:spcPct val="100000"/>
              </a:lnSpc>
              <a:tabLst>
                <a:tab algn="l" pos="0"/>
              </a:tabLst>
            </a:pPr>
            <a:endParaRPr b="0" lang="en-IN" sz="950" strike="noStrike" u="none">
              <a:solidFill>
                <a:srgbClr val="000000"/>
              </a:solidFill>
              <a:effectLst/>
              <a:uFillTx/>
              <a:latin typeface="Arial"/>
            </a:endParaRPr>
          </a:p>
        </p:txBody>
      </p:sp>
      <p:sp>
        <p:nvSpPr>
          <p:cNvPr id="156" name="Shape 15"/>
          <p:cNvSpPr/>
          <p:nvPr/>
        </p:nvSpPr>
        <p:spPr>
          <a:xfrm>
            <a:off x="182880" y="4206240"/>
            <a:ext cx="8777880" cy="749520"/>
          </a:xfrm>
          <a:prstGeom prst="rect">
            <a:avLst/>
          </a:prstGeom>
          <a:solidFill>
            <a:srgbClr val="e3f2f5"/>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57" name="Shape 16"/>
          <p:cNvSpPr/>
          <p:nvPr/>
        </p:nvSpPr>
        <p:spPr>
          <a:xfrm>
            <a:off x="182880" y="4206240"/>
            <a:ext cx="63720" cy="749520"/>
          </a:xfrm>
          <a:prstGeom prst="rect">
            <a:avLst/>
          </a:prstGeom>
          <a:solidFill>
            <a:srgbClr val="2a6e7a"/>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58" name="Text 17"/>
          <p:cNvSpPr/>
          <p:nvPr/>
        </p:nvSpPr>
        <p:spPr>
          <a:xfrm>
            <a:off x="320040" y="4242960"/>
            <a:ext cx="85035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2a6e7a"/>
                </a:solidFill>
                <a:effectLst/>
                <a:uFillTx/>
                <a:latin typeface="Calibri"/>
                <a:ea typeface="Calibri"/>
              </a:rPr>
              <a:t>REAL-WORLD ANALOGY</a:t>
            </a:r>
            <a:endParaRPr b="0" lang="en-IN" sz="900" strike="noStrike" u="none">
              <a:solidFill>
                <a:srgbClr val="000000"/>
              </a:solidFill>
              <a:effectLst/>
              <a:uFillTx/>
              <a:latin typeface="Arial"/>
            </a:endParaRPr>
          </a:p>
        </p:txBody>
      </p:sp>
      <p:sp>
        <p:nvSpPr>
          <p:cNvPr id="159" name="Text 18"/>
          <p:cNvSpPr/>
          <p:nvPr/>
        </p:nvSpPr>
        <p:spPr>
          <a:xfrm>
            <a:off x="320040" y="4453200"/>
            <a:ext cx="8503560" cy="438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50" strike="noStrike" u="none">
                <a:solidFill>
                  <a:srgbClr val="1e3a4a"/>
                </a:solidFill>
                <a:effectLst/>
                <a:uFillTx/>
                <a:latin typeface="Calibri"/>
                <a:ea typeface="Calibri"/>
              </a:rPr>
              <a:t>When Suresh joins a coaching class, an enrollment form is filled automatically. Default constructor = form with blank defaults. Parameterized = form filled with Suresh's actual details the moment he joins.</a:t>
            </a:r>
            <a:endParaRPr b="0" lang="en-IN" sz="1250" strike="noStrike" u="none">
              <a:solidFill>
                <a:srgbClr val="000000"/>
              </a:solidFill>
              <a:effectLst/>
              <a:uFillTx/>
              <a:latin typeface="Arial"/>
            </a:endParaRPr>
          </a:p>
        </p:txBody>
      </p:sp>
      <p:sp>
        <p:nvSpPr>
          <p:cNvPr id="160" name="Text 48"/>
          <p:cNvSpPr/>
          <p:nvPr/>
        </p:nvSpPr>
        <p:spPr>
          <a:xfrm>
            <a:off x="6719760" y="1801440"/>
            <a:ext cx="2241000" cy="2278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trike="noStrike" u="none">
                <a:solidFill>
                  <a:srgbClr val="c8dff0"/>
                </a:solidFill>
                <a:effectLst/>
                <a:uFillTx/>
                <a:latin typeface="Consolas"/>
                <a:ea typeface="Consolas"/>
              </a:rPr>
              <a:t>  // Parameterized constructor</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  Student(String n, int r) {</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    name   = n;</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    rollNo = r;</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  }</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a:t>
            </a:r>
            <a:endParaRPr b="0" lang="en-IN" sz="950" strike="noStrike" u="none">
              <a:solidFill>
                <a:srgbClr val="000000"/>
              </a:solidFill>
              <a:effectLst/>
              <a:uFillTx/>
              <a:latin typeface="Arial"/>
            </a:endParaRPr>
          </a:p>
          <a:p>
            <a:pPr defTabSz="914400">
              <a:lnSpc>
                <a:spcPct val="100000"/>
              </a:lnSpc>
              <a:tabLst>
                <a:tab algn="l" pos="0"/>
              </a:tabLst>
            </a:pP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 Usage</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Student s1 = new Student();</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Student s2 = new Student("Suresh", 101);</a:t>
            </a:r>
            <a:endParaRPr b="0" lang="en-IN" sz="9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1" name="Shape 0"/>
          <p:cNvSpPr/>
          <p:nvPr/>
        </p:nvSpPr>
        <p:spPr>
          <a:xfrm>
            <a:off x="0" y="0"/>
            <a:ext cx="914364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62" name="Text 1"/>
          <p:cNvSpPr/>
          <p:nvPr/>
        </p:nvSpPr>
        <p:spPr>
          <a:xfrm>
            <a:off x="320040" y="91440"/>
            <a:ext cx="7131960" cy="612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ffffff"/>
                </a:solidFill>
                <a:effectLst/>
                <a:uFillTx/>
                <a:latin typeface="Calibri"/>
                <a:ea typeface="Calibri"/>
              </a:rPr>
              <a:t>Constructor — Step-by-Step Flow</a:t>
            </a:r>
            <a:endParaRPr b="0" lang="en-IN" sz="2200" strike="noStrike" u="none">
              <a:solidFill>
                <a:srgbClr val="000000"/>
              </a:solidFill>
              <a:effectLst/>
              <a:uFillTx/>
              <a:latin typeface="Arial"/>
            </a:endParaRPr>
          </a:p>
        </p:txBody>
      </p:sp>
      <p:sp>
        <p:nvSpPr>
          <p:cNvPr id="163" name="Text 2"/>
          <p:cNvSpPr/>
          <p:nvPr/>
        </p:nvSpPr>
        <p:spPr>
          <a:xfrm>
            <a:off x="6858000" y="274320"/>
            <a:ext cx="2148480" cy="255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99" strike="noStrike" u="none">
                <a:solidFill>
                  <a:srgbClr val="9cd5ff"/>
                </a:solidFill>
                <a:effectLst/>
                <a:uFillTx/>
                <a:latin typeface="Calibri"/>
                <a:ea typeface="Calibri"/>
              </a:rPr>
              <a:t>Section 2 — Constructor</a:t>
            </a:r>
            <a:endParaRPr b="0" lang="en-IN" sz="900" strike="noStrike" u="none">
              <a:solidFill>
                <a:srgbClr val="000000"/>
              </a:solidFill>
              <a:effectLst/>
              <a:uFillTx/>
              <a:latin typeface="Arial"/>
            </a:endParaRPr>
          </a:p>
        </p:txBody>
      </p:sp>
      <p:sp>
        <p:nvSpPr>
          <p:cNvPr id="164" name="Shape 3"/>
          <p:cNvSpPr/>
          <p:nvPr/>
        </p:nvSpPr>
        <p:spPr>
          <a:xfrm>
            <a:off x="201240" y="987480"/>
            <a:ext cx="1572480" cy="248688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65" name="Shape 4"/>
          <p:cNvSpPr/>
          <p:nvPr/>
        </p:nvSpPr>
        <p:spPr>
          <a:xfrm>
            <a:off x="201240" y="987480"/>
            <a:ext cx="1572480" cy="38376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66" name="Text 5"/>
          <p:cNvSpPr/>
          <p:nvPr/>
        </p:nvSpPr>
        <p:spPr>
          <a:xfrm>
            <a:off x="201240" y="987480"/>
            <a:ext cx="38376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00" strike="noStrike" u="none">
                <a:solidFill>
                  <a:srgbClr val="ffffff"/>
                </a:solidFill>
                <a:effectLst/>
                <a:uFillTx/>
                <a:latin typeface="Calibri"/>
                <a:ea typeface="Calibri"/>
              </a:rPr>
              <a:t>1</a:t>
            </a:r>
            <a:endParaRPr b="0" lang="en-IN" sz="1500" strike="noStrike" u="none">
              <a:solidFill>
                <a:srgbClr val="000000"/>
              </a:solidFill>
              <a:effectLst/>
              <a:uFillTx/>
              <a:latin typeface="Arial"/>
            </a:endParaRPr>
          </a:p>
        </p:txBody>
      </p:sp>
      <p:sp>
        <p:nvSpPr>
          <p:cNvPr id="167" name="Text 6"/>
          <p:cNvSpPr/>
          <p:nvPr/>
        </p:nvSpPr>
        <p:spPr>
          <a:xfrm>
            <a:off x="603360" y="987480"/>
            <a:ext cx="115164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trike="noStrike" u="none">
                <a:solidFill>
                  <a:srgbClr val="ffffff"/>
                </a:solidFill>
                <a:effectLst/>
                <a:uFillTx/>
                <a:latin typeface="Calibri"/>
                <a:ea typeface="Calibri"/>
              </a:rPr>
              <a:t>Write</a:t>
            </a:r>
            <a:endParaRPr b="0" lang="en-IN" sz="1000" strike="noStrike" u="none">
              <a:solidFill>
                <a:srgbClr val="000000"/>
              </a:solidFill>
              <a:effectLst/>
              <a:uFillTx/>
              <a:latin typeface="Arial"/>
            </a:endParaRPr>
          </a:p>
          <a:p>
            <a:pPr defTabSz="914400">
              <a:lnSpc>
                <a:spcPct val="100000"/>
              </a:lnSpc>
              <a:tabLst>
                <a:tab algn="l" pos="0"/>
              </a:tabLst>
            </a:pPr>
            <a:r>
              <a:rPr b="1" lang="en-US" sz="1000" strike="noStrike" u="none">
                <a:solidFill>
                  <a:srgbClr val="ffffff"/>
                </a:solidFill>
                <a:effectLst/>
                <a:uFillTx/>
                <a:latin typeface="Calibri"/>
                <a:ea typeface="Calibri"/>
              </a:rPr>
              <a:t>new Statement</a:t>
            </a:r>
            <a:endParaRPr b="0" lang="en-IN" sz="1000" strike="noStrike" u="none">
              <a:solidFill>
                <a:srgbClr val="000000"/>
              </a:solidFill>
              <a:effectLst/>
              <a:uFillTx/>
              <a:latin typeface="Arial"/>
            </a:endParaRPr>
          </a:p>
        </p:txBody>
      </p:sp>
      <p:sp>
        <p:nvSpPr>
          <p:cNvPr id="168" name="Shape 7"/>
          <p:cNvSpPr/>
          <p:nvPr/>
        </p:nvSpPr>
        <p:spPr>
          <a:xfrm>
            <a:off x="274320" y="1408320"/>
            <a:ext cx="1425960" cy="1389600"/>
          </a:xfrm>
          <a:prstGeom prst="rect">
            <a:avLst/>
          </a:prstGeom>
          <a:solidFill>
            <a:srgbClr val="1e2d3d"/>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69" name="Text 8"/>
          <p:cNvSpPr/>
          <p:nvPr/>
        </p:nvSpPr>
        <p:spPr>
          <a:xfrm>
            <a:off x="292680" y="1426320"/>
            <a:ext cx="1389600" cy="135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trike="noStrike" u="none">
                <a:solidFill>
                  <a:srgbClr val="c8dff0"/>
                </a:solidFill>
                <a:effectLst/>
                <a:uFillTx/>
                <a:latin typeface="Consolas"/>
                <a:ea typeface="Consolas"/>
              </a:rPr>
              <a:t>Student s2 =</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new Student</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("Suresh",101);</a:t>
            </a:r>
            <a:endParaRPr b="0" lang="en-IN" sz="950" strike="noStrike" u="none">
              <a:solidFill>
                <a:srgbClr val="000000"/>
              </a:solidFill>
              <a:effectLst/>
              <a:uFillTx/>
              <a:latin typeface="Arial"/>
            </a:endParaRPr>
          </a:p>
        </p:txBody>
      </p:sp>
      <p:sp>
        <p:nvSpPr>
          <p:cNvPr id="170" name="Text 9"/>
          <p:cNvSpPr/>
          <p:nvPr/>
        </p:nvSpPr>
        <p:spPr>
          <a:xfrm>
            <a:off x="1774080" y="1965960"/>
            <a:ext cx="18252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000" strike="noStrike" u="none">
                <a:solidFill>
                  <a:srgbClr val="7aaace"/>
                </a:solidFill>
                <a:effectLst/>
                <a:uFillTx/>
                <a:latin typeface="Calibri"/>
                <a:ea typeface="Calibri"/>
              </a:rPr>
              <a:t>›</a:t>
            </a:r>
            <a:endParaRPr b="0" lang="en-IN" sz="2000" strike="noStrike" u="none">
              <a:solidFill>
                <a:srgbClr val="000000"/>
              </a:solidFill>
              <a:effectLst/>
              <a:uFillTx/>
              <a:latin typeface="Arial"/>
            </a:endParaRPr>
          </a:p>
        </p:txBody>
      </p:sp>
      <p:sp>
        <p:nvSpPr>
          <p:cNvPr id="171" name="Shape 10"/>
          <p:cNvSpPr/>
          <p:nvPr/>
        </p:nvSpPr>
        <p:spPr>
          <a:xfrm>
            <a:off x="1965960" y="987480"/>
            <a:ext cx="1572480" cy="248688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72" name="Shape 11"/>
          <p:cNvSpPr/>
          <p:nvPr/>
        </p:nvSpPr>
        <p:spPr>
          <a:xfrm>
            <a:off x="1965960" y="987480"/>
            <a:ext cx="1572480" cy="383760"/>
          </a:xfrm>
          <a:prstGeom prst="rect">
            <a:avLst/>
          </a:prstGeom>
          <a:solidFill>
            <a:srgbClr val="2a6e7a"/>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73" name="Text 12"/>
          <p:cNvSpPr/>
          <p:nvPr/>
        </p:nvSpPr>
        <p:spPr>
          <a:xfrm>
            <a:off x="1965960" y="987480"/>
            <a:ext cx="38376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00" strike="noStrike" u="none">
                <a:solidFill>
                  <a:srgbClr val="ffffff"/>
                </a:solidFill>
                <a:effectLst/>
                <a:uFillTx/>
                <a:latin typeface="Calibri"/>
                <a:ea typeface="Calibri"/>
              </a:rPr>
              <a:t>2</a:t>
            </a:r>
            <a:endParaRPr b="0" lang="en-IN" sz="1500" strike="noStrike" u="none">
              <a:solidFill>
                <a:srgbClr val="000000"/>
              </a:solidFill>
              <a:effectLst/>
              <a:uFillTx/>
              <a:latin typeface="Arial"/>
            </a:endParaRPr>
          </a:p>
        </p:txBody>
      </p:sp>
      <p:sp>
        <p:nvSpPr>
          <p:cNvPr id="174" name="Text 13"/>
          <p:cNvSpPr/>
          <p:nvPr/>
        </p:nvSpPr>
        <p:spPr>
          <a:xfrm>
            <a:off x="2368440" y="987480"/>
            <a:ext cx="115164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trike="noStrike" u="none">
                <a:solidFill>
                  <a:srgbClr val="ffffff"/>
                </a:solidFill>
                <a:effectLst/>
                <a:uFillTx/>
                <a:latin typeface="Calibri"/>
                <a:ea typeface="Calibri"/>
              </a:rPr>
              <a:t>Heap Memory</a:t>
            </a:r>
            <a:endParaRPr b="0" lang="en-IN" sz="1000" strike="noStrike" u="none">
              <a:solidFill>
                <a:srgbClr val="000000"/>
              </a:solidFill>
              <a:effectLst/>
              <a:uFillTx/>
              <a:latin typeface="Arial"/>
            </a:endParaRPr>
          </a:p>
          <a:p>
            <a:pPr defTabSz="914400">
              <a:lnSpc>
                <a:spcPct val="100000"/>
              </a:lnSpc>
              <a:tabLst>
                <a:tab algn="l" pos="0"/>
              </a:tabLst>
            </a:pPr>
            <a:r>
              <a:rPr b="1" lang="en-US" sz="1000" strike="noStrike" u="none">
                <a:solidFill>
                  <a:srgbClr val="ffffff"/>
                </a:solidFill>
                <a:effectLst/>
                <a:uFillTx/>
                <a:latin typeface="Calibri"/>
                <a:ea typeface="Calibri"/>
              </a:rPr>
              <a:t>Allocated</a:t>
            </a:r>
            <a:endParaRPr b="0" lang="en-IN" sz="1000" strike="noStrike" u="none">
              <a:solidFill>
                <a:srgbClr val="000000"/>
              </a:solidFill>
              <a:effectLst/>
              <a:uFillTx/>
              <a:latin typeface="Arial"/>
            </a:endParaRPr>
          </a:p>
        </p:txBody>
      </p:sp>
      <p:sp>
        <p:nvSpPr>
          <p:cNvPr id="175" name="Shape 14"/>
          <p:cNvSpPr/>
          <p:nvPr/>
        </p:nvSpPr>
        <p:spPr>
          <a:xfrm>
            <a:off x="2039040" y="1408320"/>
            <a:ext cx="1425960" cy="1389600"/>
          </a:xfrm>
          <a:prstGeom prst="rect">
            <a:avLst/>
          </a:prstGeom>
          <a:solidFill>
            <a:srgbClr val="1e2d3d"/>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76" name="Text 15"/>
          <p:cNvSpPr/>
          <p:nvPr/>
        </p:nvSpPr>
        <p:spPr>
          <a:xfrm>
            <a:off x="2057400" y="1426320"/>
            <a:ext cx="1389600" cy="135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trike="noStrike" u="none">
                <a:solidFill>
                  <a:srgbClr val="c8dff0"/>
                </a:solidFill>
                <a:effectLst/>
                <a:uFillTx/>
                <a:latin typeface="Consolas"/>
                <a:ea typeface="Consolas"/>
              </a:rPr>
              <a:t>JVM allocates</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space for a new</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Student object</a:t>
            </a:r>
            <a:endParaRPr b="0" lang="en-IN" sz="950" strike="noStrike" u="none">
              <a:solidFill>
                <a:srgbClr val="000000"/>
              </a:solidFill>
              <a:effectLst/>
              <a:uFillTx/>
              <a:latin typeface="Arial"/>
            </a:endParaRPr>
          </a:p>
        </p:txBody>
      </p:sp>
      <p:sp>
        <p:nvSpPr>
          <p:cNvPr id="177" name="Text 16"/>
          <p:cNvSpPr/>
          <p:nvPr/>
        </p:nvSpPr>
        <p:spPr>
          <a:xfrm>
            <a:off x="3538800" y="1965960"/>
            <a:ext cx="18252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000" strike="noStrike" u="none">
                <a:solidFill>
                  <a:srgbClr val="7aaace"/>
                </a:solidFill>
                <a:effectLst/>
                <a:uFillTx/>
                <a:latin typeface="Calibri"/>
                <a:ea typeface="Calibri"/>
              </a:rPr>
              <a:t>›</a:t>
            </a:r>
            <a:endParaRPr b="0" lang="en-IN" sz="2000" strike="noStrike" u="none">
              <a:solidFill>
                <a:srgbClr val="000000"/>
              </a:solidFill>
              <a:effectLst/>
              <a:uFillTx/>
              <a:latin typeface="Arial"/>
            </a:endParaRPr>
          </a:p>
        </p:txBody>
      </p:sp>
      <p:sp>
        <p:nvSpPr>
          <p:cNvPr id="178" name="Shape 17"/>
          <p:cNvSpPr/>
          <p:nvPr/>
        </p:nvSpPr>
        <p:spPr>
          <a:xfrm>
            <a:off x="3730680" y="987480"/>
            <a:ext cx="1572480" cy="248688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79" name="Shape 18"/>
          <p:cNvSpPr/>
          <p:nvPr/>
        </p:nvSpPr>
        <p:spPr>
          <a:xfrm>
            <a:off x="3730680" y="987480"/>
            <a:ext cx="1572480" cy="383760"/>
          </a:xfrm>
          <a:prstGeom prst="rect">
            <a:avLst/>
          </a:prstGeom>
          <a:solidFill>
            <a:srgbClr val="2e6b4f"/>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80" name="Text 19"/>
          <p:cNvSpPr/>
          <p:nvPr/>
        </p:nvSpPr>
        <p:spPr>
          <a:xfrm>
            <a:off x="3730680" y="987480"/>
            <a:ext cx="38376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00" strike="noStrike" u="none">
                <a:solidFill>
                  <a:srgbClr val="ffffff"/>
                </a:solidFill>
                <a:effectLst/>
                <a:uFillTx/>
                <a:latin typeface="Calibri"/>
                <a:ea typeface="Calibri"/>
              </a:rPr>
              <a:t>3</a:t>
            </a:r>
            <a:endParaRPr b="0" lang="en-IN" sz="1500" strike="noStrike" u="none">
              <a:solidFill>
                <a:srgbClr val="000000"/>
              </a:solidFill>
              <a:effectLst/>
              <a:uFillTx/>
              <a:latin typeface="Arial"/>
            </a:endParaRPr>
          </a:p>
        </p:txBody>
      </p:sp>
      <p:sp>
        <p:nvSpPr>
          <p:cNvPr id="181" name="Text 20"/>
          <p:cNvSpPr/>
          <p:nvPr/>
        </p:nvSpPr>
        <p:spPr>
          <a:xfrm>
            <a:off x="4133160" y="987480"/>
            <a:ext cx="115164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trike="noStrike" u="none">
                <a:solidFill>
                  <a:srgbClr val="ffffff"/>
                </a:solidFill>
                <a:effectLst/>
                <a:uFillTx/>
                <a:latin typeface="Calibri"/>
                <a:ea typeface="Calibri"/>
              </a:rPr>
              <a:t>Constructor</a:t>
            </a:r>
            <a:endParaRPr b="0" lang="en-IN" sz="1000" strike="noStrike" u="none">
              <a:solidFill>
                <a:srgbClr val="000000"/>
              </a:solidFill>
              <a:effectLst/>
              <a:uFillTx/>
              <a:latin typeface="Arial"/>
            </a:endParaRPr>
          </a:p>
          <a:p>
            <a:pPr defTabSz="914400">
              <a:lnSpc>
                <a:spcPct val="100000"/>
              </a:lnSpc>
              <a:tabLst>
                <a:tab algn="l" pos="0"/>
              </a:tabLst>
            </a:pPr>
            <a:r>
              <a:rPr b="1" lang="en-US" sz="1000" strike="noStrike" u="none">
                <a:solidFill>
                  <a:srgbClr val="ffffff"/>
                </a:solidFill>
                <a:effectLst/>
                <a:uFillTx/>
                <a:latin typeface="Calibri"/>
                <a:ea typeface="Calibri"/>
              </a:rPr>
              <a:t>Called</a:t>
            </a:r>
            <a:endParaRPr b="0" lang="en-IN" sz="1000" strike="noStrike" u="none">
              <a:solidFill>
                <a:srgbClr val="000000"/>
              </a:solidFill>
              <a:effectLst/>
              <a:uFillTx/>
              <a:latin typeface="Arial"/>
            </a:endParaRPr>
          </a:p>
        </p:txBody>
      </p:sp>
      <p:sp>
        <p:nvSpPr>
          <p:cNvPr id="182" name="Shape 21"/>
          <p:cNvSpPr/>
          <p:nvPr/>
        </p:nvSpPr>
        <p:spPr>
          <a:xfrm>
            <a:off x="3803760" y="1408320"/>
            <a:ext cx="1425960" cy="1389600"/>
          </a:xfrm>
          <a:prstGeom prst="rect">
            <a:avLst/>
          </a:prstGeom>
          <a:solidFill>
            <a:srgbClr val="1e2d3d"/>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83" name="Text 22"/>
          <p:cNvSpPr/>
          <p:nvPr/>
        </p:nvSpPr>
        <p:spPr>
          <a:xfrm>
            <a:off x="3822120" y="1426320"/>
            <a:ext cx="1389600" cy="135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trike="noStrike" u="none">
                <a:solidFill>
                  <a:srgbClr val="c8dff0"/>
                </a:solidFill>
                <a:effectLst/>
                <a:uFillTx/>
                <a:latin typeface="Consolas"/>
                <a:ea typeface="Consolas"/>
              </a:rPr>
              <a:t>Student(String n,</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int r) {</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  ...runs now</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a:t>
            </a:r>
            <a:endParaRPr b="0" lang="en-IN" sz="950" strike="noStrike" u="none">
              <a:solidFill>
                <a:srgbClr val="000000"/>
              </a:solidFill>
              <a:effectLst/>
              <a:uFillTx/>
              <a:latin typeface="Arial"/>
            </a:endParaRPr>
          </a:p>
        </p:txBody>
      </p:sp>
      <p:sp>
        <p:nvSpPr>
          <p:cNvPr id="184" name="Text 23"/>
          <p:cNvSpPr/>
          <p:nvPr/>
        </p:nvSpPr>
        <p:spPr>
          <a:xfrm>
            <a:off x="5303520" y="1965960"/>
            <a:ext cx="18252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000" strike="noStrike" u="none">
                <a:solidFill>
                  <a:srgbClr val="7aaace"/>
                </a:solidFill>
                <a:effectLst/>
                <a:uFillTx/>
                <a:latin typeface="Calibri"/>
                <a:ea typeface="Calibri"/>
              </a:rPr>
              <a:t>›</a:t>
            </a:r>
            <a:endParaRPr b="0" lang="en-IN" sz="2000" strike="noStrike" u="none">
              <a:solidFill>
                <a:srgbClr val="000000"/>
              </a:solidFill>
              <a:effectLst/>
              <a:uFillTx/>
              <a:latin typeface="Arial"/>
            </a:endParaRPr>
          </a:p>
        </p:txBody>
      </p:sp>
      <p:sp>
        <p:nvSpPr>
          <p:cNvPr id="185" name="Shape 24"/>
          <p:cNvSpPr/>
          <p:nvPr/>
        </p:nvSpPr>
        <p:spPr>
          <a:xfrm>
            <a:off x="5495400" y="987480"/>
            <a:ext cx="1572480" cy="248688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86" name="Shape 25"/>
          <p:cNvSpPr/>
          <p:nvPr/>
        </p:nvSpPr>
        <p:spPr>
          <a:xfrm>
            <a:off x="5495400" y="987480"/>
            <a:ext cx="1572480" cy="38376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87" name="Text 26"/>
          <p:cNvSpPr/>
          <p:nvPr/>
        </p:nvSpPr>
        <p:spPr>
          <a:xfrm>
            <a:off x="5495400" y="987480"/>
            <a:ext cx="38376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00" strike="noStrike" u="none">
                <a:solidFill>
                  <a:srgbClr val="ffffff"/>
                </a:solidFill>
                <a:effectLst/>
                <a:uFillTx/>
                <a:latin typeface="Calibri"/>
                <a:ea typeface="Calibri"/>
              </a:rPr>
              <a:t>4</a:t>
            </a:r>
            <a:endParaRPr b="0" lang="en-IN" sz="1500" strike="noStrike" u="none">
              <a:solidFill>
                <a:srgbClr val="000000"/>
              </a:solidFill>
              <a:effectLst/>
              <a:uFillTx/>
              <a:latin typeface="Arial"/>
            </a:endParaRPr>
          </a:p>
        </p:txBody>
      </p:sp>
      <p:sp>
        <p:nvSpPr>
          <p:cNvPr id="188" name="Text 27"/>
          <p:cNvSpPr/>
          <p:nvPr/>
        </p:nvSpPr>
        <p:spPr>
          <a:xfrm>
            <a:off x="5897880" y="987480"/>
            <a:ext cx="115164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trike="noStrike" u="none">
                <a:solidFill>
                  <a:srgbClr val="ffffff"/>
                </a:solidFill>
                <a:effectLst/>
                <a:uFillTx/>
                <a:latin typeface="Calibri"/>
                <a:ea typeface="Calibri"/>
              </a:rPr>
              <a:t>Fields</a:t>
            </a:r>
            <a:endParaRPr b="0" lang="en-IN" sz="1000" strike="noStrike" u="none">
              <a:solidFill>
                <a:srgbClr val="000000"/>
              </a:solidFill>
              <a:effectLst/>
              <a:uFillTx/>
              <a:latin typeface="Arial"/>
            </a:endParaRPr>
          </a:p>
          <a:p>
            <a:pPr defTabSz="914400">
              <a:lnSpc>
                <a:spcPct val="100000"/>
              </a:lnSpc>
              <a:tabLst>
                <a:tab algn="l" pos="0"/>
              </a:tabLst>
            </a:pPr>
            <a:r>
              <a:rPr b="1" lang="en-US" sz="1000" strike="noStrike" u="none">
                <a:solidFill>
                  <a:srgbClr val="ffffff"/>
                </a:solidFill>
                <a:effectLst/>
                <a:uFillTx/>
                <a:latin typeface="Calibri"/>
                <a:ea typeface="Calibri"/>
              </a:rPr>
              <a:t>Initialised</a:t>
            </a:r>
            <a:endParaRPr b="0" lang="en-IN" sz="1000" strike="noStrike" u="none">
              <a:solidFill>
                <a:srgbClr val="000000"/>
              </a:solidFill>
              <a:effectLst/>
              <a:uFillTx/>
              <a:latin typeface="Arial"/>
            </a:endParaRPr>
          </a:p>
        </p:txBody>
      </p:sp>
      <p:sp>
        <p:nvSpPr>
          <p:cNvPr id="189" name="Shape 28"/>
          <p:cNvSpPr/>
          <p:nvPr/>
        </p:nvSpPr>
        <p:spPr>
          <a:xfrm>
            <a:off x="5568840" y="1408320"/>
            <a:ext cx="1425960" cy="1389600"/>
          </a:xfrm>
          <a:prstGeom prst="rect">
            <a:avLst/>
          </a:prstGeom>
          <a:solidFill>
            <a:srgbClr val="1e2d3d"/>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90" name="Text 29"/>
          <p:cNvSpPr/>
          <p:nvPr/>
        </p:nvSpPr>
        <p:spPr>
          <a:xfrm>
            <a:off x="5586840" y="1426320"/>
            <a:ext cx="1389600" cy="135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trike="noStrike" u="none">
                <a:solidFill>
                  <a:srgbClr val="c8dff0"/>
                </a:solidFill>
                <a:effectLst/>
                <a:uFillTx/>
                <a:latin typeface="Consolas"/>
                <a:ea typeface="Consolas"/>
              </a:rPr>
              <a:t>name   = "Suresh"</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rollNo = 101</a:t>
            </a:r>
            <a:endParaRPr b="0" lang="en-IN" sz="950" strike="noStrike" u="none">
              <a:solidFill>
                <a:srgbClr val="000000"/>
              </a:solidFill>
              <a:effectLst/>
              <a:uFillTx/>
              <a:latin typeface="Arial"/>
            </a:endParaRPr>
          </a:p>
        </p:txBody>
      </p:sp>
      <p:sp>
        <p:nvSpPr>
          <p:cNvPr id="191" name="Text 30"/>
          <p:cNvSpPr/>
          <p:nvPr/>
        </p:nvSpPr>
        <p:spPr>
          <a:xfrm>
            <a:off x="7068240" y="1965960"/>
            <a:ext cx="18252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000" strike="noStrike" u="none">
                <a:solidFill>
                  <a:srgbClr val="7aaace"/>
                </a:solidFill>
                <a:effectLst/>
                <a:uFillTx/>
                <a:latin typeface="Calibri"/>
                <a:ea typeface="Calibri"/>
              </a:rPr>
              <a:t>›</a:t>
            </a:r>
            <a:endParaRPr b="0" lang="en-IN" sz="2000" strike="noStrike" u="none">
              <a:solidFill>
                <a:srgbClr val="000000"/>
              </a:solidFill>
              <a:effectLst/>
              <a:uFillTx/>
              <a:latin typeface="Arial"/>
            </a:endParaRPr>
          </a:p>
        </p:txBody>
      </p:sp>
      <p:sp>
        <p:nvSpPr>
          <p:cNvPr id="192" name="Shape 31"/>
          <p:cNvSpPr/>
          <p:nvPr/>
        </p:nvSpPr>
        <p:spPr>
          <a:xfrm>
            <a:off x="7260480" y="987480"/>
            <a:ext cx="1572480" cy="248688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93" name="Shape 32"/>
          <p:cNvSpPr/>
          <p:nvPr/>
        </p:nvSpPr>
        <p:spPr>
          <a:xfrm>
            <a:off x="7260480" y="987480"/>
            <a:ext cx="1572480" cy="383760"/>
          </a:xfrm>
          <a:prstGeom prst="rect">
            <a:avLst/>
          </a:prstGeom>
          <a:solidFill>
            <a:srgbClr val="4a6070"/>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94" name="Text 33"/>
          <p:cNvSpPr/>
          <p:nvPr/>
        </p:nvSpPr>
        <p:spPr>
          <a:xfrm>
            <a:off x="7260480" y="987480"/>
            <a:ext cx="38376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00" strike="noStrike" u="none">
                <a:solidFill>
                  <a:srgbClr val="ffffff"/>
                </a:solidFill>
                <a:effectLst/>
                <a:uFillTx/>
                <a:latin typeface="Calibri"/>
                <a:ea typeface="Calibri"/>
              </a:rPr>
              <a:t>5</a:t>
            </a:r>
            <a:endParaRPr b="0" lang="en-IN" sz="1500" strike="noStrike" u="none">
              <a:solidFill>
                <a:srgbClr val="000000"/>
              </a:solidFill>
              <a:effectLst/>
              <a:uFillTx/>
              <a:latin typeface="Arial"/>
            </a:endParaRPr>
          </a:p>
        </p:txBody>
      </p:sp>
      <p:sp>
        <p:nvSpPr>
          <p:cNvPr id="195" name="Text 34"/>
          <p:cNvSpPr/>
          <p:nvPr/>
        </p:nvSpPr>
        <p:spPr>
          <a:xfrm>
            <a:off x="7662600" y="987480"/>
            <a:ext cx="115164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trike="noStrike" u="none">
                <a:solidFill>
                  <a:srgbClr val="ffffff"/>
                </a:solidFill>
                <a:effectLst/>
                <a:uFillTx/>
                <a:latin typeface="Calibri"/>
                <a:ea typeface="Calibri"/>
              </a:rPr>
              <a:t>Reference</a:t>
            </a:r>
            <a:endParaRPr b="0" lang="en-IN" sz="1000" strike="noStrike" u="none">
              <a:solidFill>
                <a:srgbClr val="000000"/>
              </a:solidFill>
              <a:effectLst/>
              <a:uFillTx/>
              <a:latin typeface="Arial"/>
            </a:endParaRPr>
          </a:p>
          <a:p>
            <a:pPr defTabSz="914400">
              <a:lnSpc>
                <a:spcPct val="100000"/>
              </a:lnSpc>
              <a:tabLst>
                <a:tab algn="l" pos="0"/>
              </a:tabLst>
            </a:pPr>
            <a:r>
              <a:rPr b="1" lang="en-US" sz="1000" strike="noStrike" u="none">
                <a:solidFill>
                  <a:srgbClr val="ffffff"/>
                </a:solidFill>
                <a:effectLst/>
                <a:uFillTx/>
                <a:latin typeface="Calibri"/>
                <a:ea typeface="Calibri"/>
              </a:rPr>
              <a:t>Returned</a:t>
            </a:r>
            <a:endParaRPr b="0" lang="en-IN" sz="1000" strike="noStrike" u="none">
              <a:solidFill>
                <a:srgbClr val="000000"/>
              </a:solidFill>
              <a:effectLst/>
              <a:uFillTx/>
              <a:latin typeface="Arial"/>
            </a:endParaRPr>
          </a:p>
        </p:txBody>
      </p:sp>
      <p:sp>
        <p:nvSpPr>
          <p:cNvPr id="196" name="Shape 35"/>
          <p:cNvSpPr/>
          <p:nvPr/>
        </p:nvSpPr>
        <p:spPr>
          <a:xfrm>
            <a:off x="7333560" y="1408320"/>
            <a:ext cx="1425960" cy="1389600"/>
          </a:xfrm>
          <a:prstGeom prst="rect">
            <a:avLst/>
          </a:prstGeom>
          <a:solidFill>
            <a:srgbClr val="1e2d3d"/>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197" name="Text 36"/>
          <p:cNvSpPr/>
          <p:nvPr/>
        </p:nvSpPr>
        <p:spPr>
          <a:xfrm>
            <a:off x="7351920" y="1426320"/>
            <a:ext cx="1389600" cy="135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trike="noStrike" u="none">
                <a:solidFill>
                  <a:srgbClr val="c8dff0"/>
                </a:solidFill>
                <a:effectLst/>
                <a:uFillTx/>
                <a:latin typeface="Consolas"/>
                <a:ea typeface="Consolas"/>
              </a:rPr>
              <a:t>s2 now points</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to the new</a:t>
            </a:r>
            <a:endParaRPr b="0" lang="en-IN" sz="950" strike="noStrike" u="none">
              <a:solidFill>
                <a:srgbClr val="000000"/>
              </a:solidFill>
              <a:effectLst/>
              <a:uFillTx/>
              <a:latin typeface="Arial"/>
            </a:endParaRPr>
          </a:p>
          <a:p>
            <a:pPr defTabSz="914400">
              <a:lnSpc>
                <a:spcPct val="100000"/>
              </a:lnSpc>
              <a:tabLst>
                <a:tab algn="l" pos="0"/>
              </a:tabLst>
            </a:pPr>
            <a:r>
              <a:rPr b="0" lang="en-US" sz="950" strike="noStrike" u="none">
                <a:solidFill>
                  <a:srgbClr val="c8dff0"/>
                </a:solidFill>
                <a:effectLst/>
                <a:uFillTx/>
                <a:latin typeface="Consolas"/>
                <a:ea typeface="Consolas"/>
              </a:rPr>
              <a:t>Student object</a:t>
            </a:r>
            <a:endParaRPr b="0" lang="en-IN" sz="950" strike="noStrike" u="none">
              <a:solidFill>
                <a:srgbClr val="000000"/>
              </a:solidFill>
              <a:effectLst/>
              <a:uFillTx/>
              <a:latin typeface="Arial"/>
            </a:endParaRPr>
          </a:p>
        </p:txBody>
      </p:sp>
      <p:sp>
        <p:nvSpPr>
          <p:cNvPr id="198" name="Shape 37"/>
          <p:cNvSpPr/>
          <p:nvPr/>
        </p:nvSpPr>
        <p:spPr>
          <a:xfrm>
            <a:off x="201240" y="3730680"/>
            <a:ext cx="2815920" cy="1261440"/>
          </a:xfrm>
          <a:prstGeom prst="rect">
            <a:avLst/>
          </a:prstGeom>
          <a:solidFill>
            <a:srgbClr val="d6eaf8"/>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99" name="Shape 38"/>
          <p:cNvSpPr/>
          <p:nvPr/>
        </p:nvSpPr>
        <p:spPr>
          <a:xfrm>
            <a:off x="201240" y="3730680"/>
            <a:ext cx="63720" cy="126144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00" name="Text 39"/>
          <p:cNvSpPr/>
          <p:nvPr/>
        </p:nvSpPr>
        <p:spPr>
          <a:xfrm>
            <a:off x="311040" y="3758040"/>
            <a:ext cx="2633040" cy="246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trike="noStrike" u="none">
                <a:solidFill>
                  <a:srgbClr val="355872"/>
                </a:solidFill>
                <a:effectLst/>
                <a:uFillTx/>
                <a:latin typeface="Calibri"/>
                <a:ea typeface="Calibri"/>
              </a:rPr>
              <a:t>Default Constructor</a:t>
            </a:r>
            <a:endParaRPr b="0" lang="en-IN" sz="1000" strike="noStrike" u="none">
              <a:solidFill>
                <a:srgbClr val="000000"/>
              </a:solidFill>
              <a:effectLst/>
              <a:uFillTx/>
              <a:latin typeface="Arial"/>
            </a:endParaRPr>
          </a:p>
        </p:txBody>
      </p:sp>
      <p:sp>
        <p:nvSpPr>
          <p:cNvPr id="201" name="Text 40"/>
          <p:cNvSpPr/>
          <p:nvPr/>
        </p:nvSpPr>
        <p:spPr>
          <a:xfrm>
            <a:off x="311040" y="4014360"/>
            <a:ext cx="263304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trike="noStrike" u="none">
                <a:solidFill>
                  <a:srgbClr val="1e3a4a"/>
                </a:solidFill>
                <a:effectLst/>
                <a:uFillTx/>
                <a:latin typeface="Calibri"/>
                <a:ea typeface="Calibri"/>
              </a:rPr>
              <a:t>No parameters. Java creates one automatically if no constructor exists. All fields get default values.</a:t>
            </a:r>
            <a:endParaRPr b="0" lang="en-IN" sz="1000" strike="noStrike" u="none">
              <a:solidFill>
                <a:srgbClr val="000000"/>
              </a:solidFill>
              <a:effectLst/>
              <a:uFillTx/>
              <a:latin typeface="Arial"/>
            </a:endParaRPr>
          </a:p>
        </p:txBody>
      </p:sp>
      <p:sp>
        <p:nvSpPr>
          <p:cNvPr id="202" name="Text 41"/>
          <p:cNvSpPr/>
          <p:nvPr/>
        </p:nvSpPr>
        <p:spPr>
          <a:xfrm>
            <a:off x="311040" y="4526280"/>
            <a:ext cx="263304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trike="noStrike" u="none">
                <a:solidFill>
                  <a:srgbClr val="2a6e7a"/>
                </a:solidFill>
                <a:effectLst/>
                <a:uFillTx/>
                <a:latin typeface="Consolas"/>
                <a:ea typeface="Consolas"/>
              </a:rPr>
              <a:t>Student() { name="Unknown"; rollNo=0; }</a:t>
            </a:r>
            <a:endParaRPr b="0" lang="en-IN" sz="950" strike="noStrike" u="none">
              <a:solidFill>
                <a:srgbClr val="000000"/>
              </a:solidFill>
              <a:effectLst/>
              <a:uFillTx/>
              <a:latin typeface="Arial"/>
            </a:endParaRPr>
          </a:p>
        </p:txBody>
      </p:sp>
      <p:sp>
        <p:nvSpPr>
          <p:cNvPr id="203" name="Shape 42"/>
          <p:cNvSpPr/>
          <p:nvPr/>
        </p:nvSpPr>
        <p:spPr>
          <a:xfrm>
            <a:off x="3173040" y="3730680"/>
            <a:ext cx="2815920" cy="1261440"/>
          </a:xfrm>
          <a:prstGeom prst="rect">
            <a:avLst/>
          </a:prstGeom>
          <a:solidFill>
            <a:srgbClr val="d6eaf8"/>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04" name="Shape 43"/>
          <p:cNvSpPr/>
          <p:nvPr/>
        </p:nvSpPr>
        <p:spPr>
          <a:xfrm>
            <a:off x="3173040" y="3730680"/>
            <a:ext cx="63720" cy="126144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05" name="Text 44"/>
          <p:cNvSpPr/>
          <p:nvPr/>
        </p:nvSpPr>
        <p:spPr>
          <a:xfrm>
            <a:off x="3282840" y="3758040"/>
            <a:ext cx="2633040" cy="246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trike="noStrike" u="none">
                <a:solidFill>
                  <a:srgbClr val="355872"/>
                </a:solidFill>
                <a:effectLst/>
                <a:uFillTx/>
                <a:latin typeface="Calibri"/>
                <a:ea typeface="Calibri"/>
              </a:rPr>
              <a:t>Parameterized Constructor</a:t>
            </a:r>
            <a:endParaRPr b="0" lang="en-IN" sz="1000" strike="noStrike" u="none">
              <a:solidFill>
                <a:srgbClr val="000000"/>
              </a:solidFill>
              <a:effectLst/>
              <a:uFillTx/>
              <a:latin typeface="Arial"/>
            </a:endParaRPr>
          </a:p>
        </p:txBody>
      </p:sp>
      <p:sp>
        <p:nvSpPr>
          <p:cNvPr id="206" name="Text 45"/>
          <p:cNvSpPr/>
          <p:nvPr/>
        </p:nvSpPr>
        <p:spPr>
          <a:xfrm>
            <a:off x="3282840" y="4014360"/>
            <a:ext cx="263304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trike="noStrike" u="none">
                <a:solidFill>
                  <a:srgbClr val="1e3a4a"/>
                </a:solidFill>
                <a:effectLst/>
                <a:uFillTx/>
                <a:latin typeface="Calibri"/>
                <a:ea typeface="Calibri"/>
              </a:rPr>
              <a:t>Accepts arguments and uses them to initialise fields. You decide what an object starts with.</a:t>
            </a:r>
            <a:endParaRPr b="0" lang="en-IN" sz="1000" strike="noStrike" u="none">
              <a:solidFill>
                <a:srgbClr val="000000"/>
              </a:solidFill>
              <a:effectLst/>
              <a:uFillTx/>
              <a:latin typeface="Arial"/>
            </a:endParaRPr>
          </a:p>
        </p:txBody>
      </p:sp>
      <p:sp>
        <p:nvSpPr>
          <p:cNvPr id="207" name="Text 46"/>
          <p:cNvSpPr/>
          <p:nvPr/>
        </p:nvSpPr>
        <p:spPr>
          <a:xfrm>
            <a:off x="3282840" y="4526280"/>
            <a:ext cx="263304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trike="noStrike" u="none">
                <a:solidFill>
                  <a:srgbClr val="2a6e7a"/>
                </a:solidFill>
                <a:effectLst/>
                <a:uFillTx/>
                <a:latin typeface="Consolas"/>
                <a:ea typeface="Consolas"/>
              </a:rPr>
              <a:t>Student(String n, int r){ name=n; rollNo=r; }</a:t>
            </a:r>
            <a:endParaRPr b="0" lang="en-IN" sz="950" strike="noStrike" u="none">
              <a:solidFill>
                <a:srgbClr val="000000"/>
              </a:solidFill>
              <a:effectLst/>
              <a:uFillTx/>
              <a:latin typeface="Arial"/>
            </a:endParaRPr>
          </a:p>
        </p:txBody>
      </p:sp>
      <p:sp>
        <p:nvSpPr>
          <p:cNvPr id="208" name="Shape 47"/>
          <p:cNvSpPr/>
          <p:nvPr/>
        </p:nvSpPr>
        <p:spPr>
          <a:xfrm>
            <a:off x="6144840" y="3730680"/>
            <a:ext cx="2815920" cy="1261440"/>
          </a:xfrm>
          <a:prstGeom prst="rect">
            <a:avLst/>
          </a:prstGeom>
          <a:solidFill>
            <a:srgbClr val="d6eaf8"/>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09" name="Shape 48"/>
          <p:cNvSpPr/>
          <p:nvPr/>
        </p:nvSpPr>
        <p:spPr>
          <a:xfrm>
            <a:off x="6144840" y="3730680"/>
            <a:ext cx="63720" cy="126144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10" name="Text 49"/>
          <p:cNvSpPr/>
          <p:nvPr/>
        </p:nvSpPr>
        <p:spPr>
          <a:xfrm>
            <a:off x="6254640" y="3758040"/>
            <a:ext cx="2633040" cy="246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trike="noStrike" u="none">
                <a:solidFill>
                  <a:srgbClr val="355872"/>
                </a:solidFill>
                <a:effectLst/>
                <a:uFillTx/>
                <a:latin typeface="Calibri"/>
                <a:ea typeface="Calibri"/>
              </a:rPr>
              <a:t>Constructor Overloading</a:t>
            </a:r>
            <a:endParaRPr b="0" lang="en-IN" sz="1000" strike="noStrike" u="none">
              <a:solidFill>
                <a:srgbClr val="000000"/>
              </a:solidFill>
              <a:effectLst/>
              <a:uFillTx/>
              <a:latin typeface="Arial"/>
            </a:endParaRPr>
          </a:p>
        </p:txBody>
      </p:sp>
      <p:sp>
        <p:nvSpPr>
          <p:cNvPr id="211" name="Text 50"/>
          <p:cNvSpPr/>
          <p:nvPr/>
        </p:nvSpPr>
        <p:spPr>
          <a:xfrm>
            <a:off x="6254640" y="4014360"/>
            <a:ext cx="263304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trike="noStrike" u="none">
                <a:solidFill>
                  <a:srgbClr val="1e3a4a"/>
                </a:solidFill>
                <a:effectLst/>
                <a:uFillTx/>
                <a:latin typeface="Calibri"/>
                <a:ea typeface="Calibri"/>
              </a:rPr>
              <a:t>Multiple constructors with different parameter lists live in the same class. Java picks the right one automatically.</a:t>
            </a:r>
            <a:endParaRPr b="0" lang="en-IN" sz="1000" strike="noStrike" u="none">
              <a:solidFill>
                <a:srgbClr val="000000"/>
              </a:solidFill>
              <a:effectLst/>
              <a:uFillTx/>
              <a:latin typeface="Arial"/>
            </a:endParaRPr>
          </a:p>
        </p:txBody>
      </p:sp>
      <p:sp>
        <p:nvSpPr>
          <p:cNvPr id="212" name="Text 51"/>
          <p:cNvSpPr/>
          <p:nvPr/>
        </p:nvSpPr>
        <p:spPr>
          <a:xfrm>
            <a:off x="6254640" y="4526280"/>
            <a:ext cx="263304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trike="noStrike" u="none">
                <a:solidFill>
                  <a:srgbClr val="2a6e7a"/>
                </a:solidFill>
                <a:effectLst/>
                <a:uFillTx/>
                <a:latin typeface="Consolas"/>
                <a:ea typeface="Consolas"/>
              </a:rPr>
              <a:t>Both constructors above can coexist in one class.</a:t>
            </a:r>
            <a:endParaRPr b="0" lang="en-IN" sz="9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55872"/>
        </a:solidFill>
      </p:bgPr>
    </p:bg>
    <p:spTree>
      <p:nvGrpSpPr>
        <p:cNvPr id="1" name=""/>
        <p:cNvGrpSpPr/>
        <p:nvPr/>
      </p:nvGrpSpPr>
      <p:grpSpPr>
        <a:xfrm>
          <a:off x="0" y="0"/>
          <a:ext cx="0" cy="0"/>
          <a:chOff x="0" y="0"/>
          <a:chExt cx="0" cy="0"/>
        </a:xfrm>
      </p:grpSpPr>
      <p:sp>
        <p:nvSpPr>
          <p:cNvPr id="213" name="Shape 0"/>
          <p:cNvSpPr/>
          <p:nvPr/>
        </p:nvSpPr>
        <p:spPr>
          <a:xfrm>
            <a:off x="0" y="0"/>
            <a:ext cx="3291480" cy="5143320"/>
          </a:xfrm>
          <a:prstGeom prst="rect">
            <a:avLst/>
          </a:prstGeom>
          <a:solidFill>
            <a:srgbClr val="2a4e66"/>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14" name="Shape 1"/>
          <p:cNvSpPr/>
          <p:nvPr/>
        </p:nvSpPr>
        <p:spPr>
          <a:xfrm>
            <a:off x="0" y="0"/>
            <a:ext cx="164160" cy="5143320"/>
          </a:xfrm>
          <a:prstGeom prst="rect">
            <a:avLst/>
          </a:prstGeom>
          <a:solidFill>
            <a:srgbClr val="9cd5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15" name="Text 2"/>
          <p:cNvSpPr/>
          <p:nvPr/>
        </p:nvSpPr>
        <p:spPr>
          <a:xfrm>
            <a:off x="228600" y="1371600"/>
            <a:ext cx="2925720" cy="146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0" strike="noStrike" u="none">
                <a:solidFill>
                  <a:srgbClr val="1e3d52"/>
                </a:solidFill>
                <a:effectLst/>
                <a:uFillTx/>
                <a:latin typeface="Calibri"/>
                <a:ea typeface="Calibri"/>
              </a:rPr>
              <a:t>03</a:t>
            </a:r>
            <a:endParaRPr b="0" lang="en-IN" sz="11000" strike="noStrike" u="none">
              <a:solidFill>
                <a:srgbClr val="ffffff"/>
              </a:solidFill>
              <a:effectLst/>
              <a:uFillTx/>
              <a:latin typeface="Arial"/>
            </a:endParaRPr>
          </a:p>
        </p:txBody>
      </p:sp>
      <p:sp>
        <p:nvSpPr>
          <p:cNvPr id="216" name="Text 3"/>
          <p:cNvSpPr/>
          <p:nvPr/>
        </p:nvSpPr>
        <p:spPr>
          <a:xfrm>
            <a:off x="228600" y="320040"/>
            <a:ext cx="2925720" cy="255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00" spc="400" strike="noStrike" u="none">
                <a:solidFill>
                  <a:srgbClr val="9cd5ff"/>
                </a:solidFill>
                <a:effectLst/>
                <a:uFillTx/>
                <a:latin typeface="Calibri"/>
                <a:ea typeface="Calibri"/>
              </a:rPr>
              <a:t>SECTION</a:t>
            </a:r>
            <a:endParaRPr b="0" lang="en-IN" sz="1000" strike="noStrike" u="none">
              <a:solidFill>
                <a:srgbClr val="ffffff"/>
              </a:solidFill>
              <a:effectLst/>
              <a:uFillTx/>
              <a:latin typeface="Arial"/>
            </a:endParaRPr>
          </a:p>
        </p:txBody>
      </p:sp>
      <p:sp>
        <p:nvSpPr>
          <p:cNvPr id="217" name="Text 4"/>
          <p:cNvSpPr/>
          <p:nvPr/>
        </p:nvSpPr>
        <p:spPr>
          <a:xfrm>
            <a:off x="3520440" y="914400"/>
            <a:ext cx="5394600" cy="914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800" strike="noStrike" u="none">
                <a:solidFill>
                  <a:srgbClr val="ffffff"/>
                </a:solidFill>
                <a:effectLst/>
                <a:uFillTx/>
                <a:latin typeface="Calibri"/>
                <a:ea typeface="Calibri"/>
              </a:rPr>
              <a:t>Access Modifiers</a:t>
            </a:r>
            <a:endParaRPr b="0" lang="en-IN" sz="3800" strike="noStrike" u="none">
              <a:solidFill>
                <a:srgbClr val="ffffff"/>
              </a:solidFill>
              <a:effectLst/>
              <a:uFillTx/>
              <a:latin typeface="Arial"/>
            </a:endParaRPr>
          </a:p>
        </p:txBody>
      </p:sp>
      <p:sp>
        <p:nvSpPr>
          <p:cNvPr id="218" name="Text 5"/>
          <p:cNvSpPr/>
          <p:nvPr/>
        </p:nvSpPr>
        <p:spPr>
          <a:xfrm>
            <a:off x="3520440" y="1920240"/>
            <a:ext cx="5394600" cy="411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500" strike="noStrike" u="none">
                <a:solidFill>
                  <a:srgbClr val="9cd5ff"/>
                </a:solidFill>
                <a:effectLst/>
                <a:uFillTx/>
                <a:latin typeface="Calibri"/>
                <a:ea typeface="Calibri"/>
              </a:rPr>
              <a:t>Who is allowed to see what?</a:t>
            </a:r>
            <a:endParaRPr b="0" lang="en-IN" sz="1500" strike="noStrike" u="none">
              <a:solidFill>
                <a:srgbClr val="ffffff"/>
              </a:solidFill>
              <a:effectLst/>
              <a:uFillTx/>
              <a:latin typeface="Arial"/>
            </a:endParaRPr>
          </a:p>
        </p:txBody>
      </p:sp>
      <p:sp>
        <p:nvSpPr>
          <p:cNvPr id="219" name="Shape 6"/>
          <p:cNvSpPr/>
          <p:nvPr/>
        </p:nvSpPr>
        <p:spPr>
          <a:xfrm>
            <a:off x="3520440" y="2514600"/>
            <a:ext cx="5394600" cy="1371240"/>
          </a:xfrm>
          <a:prstGeom prst="rect">
            <a:avLst/>
          </a:prstGeom>
          <a:solidFill>
            <a:srgbClr val="1e3d52"/>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20" name="Shape 7"/>
          <p:cNvSpPr/>
          <p:nvPr/>
        </p:nvSpPr>
        <p:spPr>
          <a:xfrm>
            <a:off x="3520440" y="2514600"/>
            <a:ext cx="72720" cy="1371240"/>
          </a:xfrm>
          <a:prstGeom prst="rect">
            <a:avLst/>
          </a:prstGeom>
          <a:solidFill>
            <a:srgbClr val="9cd5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21" name="Text 8"/>
          <p:cNvSpPr/>
          <p:nvPr/>
        </p:nvSpPr>
        <p:spPr>
          <a:xfrm>
            <a:off x="3703320" y="2514600"/>
            <a:ext cx="5138640" cy="1371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350" strike="noStrike" u="none">
                <a:solidFill>
                  <a:srgbClr val="c8dff0"/>
                </a:solidFill>
                <a:effectLst/>
                <a:uFillTx/>
                <a:latin typeface="Calibri"/>
                <a:ea typeface="Calibri"/>
              </a:rPr>
              <a:t>Access modifiers are the security gates of your class. They decide which classes, packages, or objects are allowed to read or change your fields and methods. This is how Java enforces Encapsulation.</a:t>
            </a:r>
            <a:endParaRPr b="0" lang="en-IN" sz="135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8f0"/>
        </a:solidFill>
      </p:bgPr>
    </p:bg>
    <p:spTree>
      <p:nvGrpSpPr>
        <p:cNvPr id="1" name=""/>
        <p:cNvGrpSpPr/>
        <p:nvPr/>
      </p:nvGrpSpPr>
      <p:grpSpPr>
        <a:xfrm>
          <a:off x="0" y="0"/>
          <a:ext cx="0" cy="0"/>
          <a:chOff x="0" y="0"/>
          <a:chExt cx="0" cy="0"/>
        </a:xfrm>
      </p:grpSpPr>
      <p:sp>
        <p:nvSpPr>
          <p:cNvPr id="222" name="Shape 0"/>
          <p:cNvSpPr/>
          <p:nvPr/>
        </p:nvSpPr>
        <p:spPr>
          <a:xfrm>
            <a:off x="0" y="0"/>
            <a:ext cx="914364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23" name="Text 1"/>
          <p:cNvSpPr/>
          <p:nvPr/>
        </p:nvSpPr>
        <p:spPr>
          <a:xfrm>
            <a:off x="320040" y="91440"/>
            <a:ext cx="7131960" cy="612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ffffff"/>
                </a:solidFill>
                <a:effectLst/>
                <a:uFillTx/>
                <a:latin typeface="Calibri"/>
                <a:ea typeface="Calibri"/>
              </a:rPr>
              <a:t>Access Modifiers — public, private, protected, default</a:t>
            </a:r>
            <a:endParaRPr b="0" lang="en-IN" sz="2200" strike="noStrike" u="none">
              <a:solidFill>
                <a:srgbClr val="000000"/>
              </a:solidFill>
              <a:effectLst/>
              <a:uFillTx/>
              <a:latin typeface="Arial"/>
            </a:endParaRPr>
          </a:p>
        </p:txBody>
      </p:sp>
      <p:sp>
        <p:nvSpPr>
          <p:cNvPr id="224" name="Text 2"/>
          <p:cNvSpPr/>
          <p:nvPr/>
        </p:nvSpPr>
        <p:spPr>
          <a:xfrm>
            <a:off x="6858000" y="274320"/>
            <a:ext cx="2148480" cy="255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99" strike="noStrike" u="none">
                <a:solidFill>
                  <a:srgbClr val="9cd5ff"/>
                </a:solidFill>
                <a:effectLst/>
                <a:uFillTx/>
                <a:latin typeface="Calibri"/>
                <a:ea typeface="Calibri"/>
              </a:rPr>
              <a:t>Section 3 — Access Modifiers</a:t>
            </a:r>
            <a:endParaRPr b="0" lang="en-IN" sz="900" strike="noStrike" u="none">
              <a:solidFill>
                <a:srgbClr val="000000"/>
              </a:solidFill>
              <a:effectLst/>
              <a:uFillTx/>
              <a:latin typeface="Arial"/>
            </a:endParaRPr>
          </a:p>
        </p:txBody>
      </p:sp>
      <p:sp>
        <p:nvSpPr>
          <p:cNvPr id="225" name="Shape 3"/>
          <p:cNvSpPr/>
          <p:nvPr/>
        </p:nvSpPr>
        <p:spPr>
          <a:xfrm>
            <a:off x="182880" y="896040"/>
            <a:ext cx="8777880" cy="776880"/>
          </a:xfrm>
          <a:prstGeom prst="rect">
            <a:avLst/>
          </a:prstGeom>
          <a:solidFill>
            <a:srgbClr val="d6eaf8"/>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26" name="Shape 4"/>
          <p:cNvSpPr/>
          <p:nvPr/>
        </p:nvSpPr>
        <p:spPr>
          <a:xfrm>
            <a:off x="182880" y="896040"/>
            <a:ext cx="6372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27" name="Text 5"/>
          <p:cNvSpPr/>
          <p:nvPr/>
        </p:nvSpPr>
        <p:spPr>
          <a:xfrm>
            <a:off x="320040" y="932760"/>
            <a:ext cx="85035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DEFINITION</a:t>
            </a:r>
            <a:endParaRPr b="0" lang="en-IN" sz="900" strike="noStrike" u="none">
              <a:solidFill>
                <a:srgbClr val="000000"/>
              </a:solidFill>
              <a:effectLst/>
              <a:uFillTx/>
              <a:latin typeface="Arial"/>
            </a:endParaRPr>
          </a:p>
        </p:txBody>
      </p:sp>
      <p:sp>
        <p:nvSpPr>
          <p:cNvPr id="228" name="Text 6"/>
          <p:cNvSpPr/>
          <p:nvPr/>
        </p:nvSpPr>
        <p:spPr>
          <a:xfrm>
            <a:off x="320040" y="1152000"/>
            <a:ext cx="850356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00" strike="noStrike" u="none">
                <a:solidFill>
                  <a:srgbClr val="1e3a4a"/>
                </a:solidFill>
                <a:effectLst/>
                <a:uFillTx/>
                <a:latin typeface="Calibri"/>
                <a:ea typeface="Calibri"/>
              </a:rPr>
              <a:t>Access modifiers control the visibility (scope) of classes, fields, constructors, and methods. They are the main tool for encapsulation — hiding internal details and exposing only what is necessary.</a:t>
            </a:r>
            <a:endParaRPr b="0" lang="en-IN" sz="1300" strike="noStrike" u="none">
              <a:solidFill>
                <a:srgbClr val="000000"/>
              </a:solidFill>
              <a:effectLst/>
              <a:uFillTx/>
              <a:latin typeface="Arial"/>
            </a:endParaRPr>
          </a:p>
        </p:txBody>
      </p:sp>
      <p:sp>
        <p:nvSpPr>
          <p:cNvPr id="229" name="Shape 7"/>
          <p:cNvSpPr/>
          <p:nvPr/>
        </p:nvSpPr>
        <p:spPr>
          <a:xfrm>
            <a:off x="182880" y="1801440"/>
            <a:ext cx="4278960" cy="226728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30" name="Shape 8"/>
          <p:cNvSpPr/>
          <p:nvPr/>
        </p:nvSpPr>
        <p:spPr>
          <a:xfrm>
            <a:off x="182880" y="1801440"/>
            <a:ext cx="63720" cy="226728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31" name="Text 9"/>
          <p:cNvSpPr/>
          <p:nvPr/>
        </p:nvSpPr>
        <p:spPr>
          <a:xfrm>
            <a:off x="320040" y="1837800"/>
            <a:ext cx="402300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KEY POINTS</a:t>
            </a:r>
            <a:endParaRPr b="0" lang="en-IN" sz="900" strike="noStrike" u="none">
              <a:solidFill>
                <a:srgbClr val="000000"/>
              </a:solidFill>
              <a:effectLst/>
              <a:uFillTx/>
              <a:latin typeface="Arial"/>
            </a:endParaRPr>
          </a:p>
        </p:txBody>
      </p:sp>
      <p:sp>
        <p:nvSpPr>
          <p:cNvPr id="232" name="Text 10"/>
          <p:cNvSpPr/>
          <p:nvPr/>
        </p:nvSpPr>
        <p:spPr>
          <a:xfrm>
            <a:off x="320040" y="2075760"/>
            <a:ext cx="4023000" cy="193824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public     — visible from anywhere in the project</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private    — visible only inside the same class</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protected  — same class + same package + subclasses</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default    — same package only (no keyword needed)</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Best practice: all fields private, methods public</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Use public getter/setter methods to access private fields safely</a:t>
            </a:r>
            <a:endParaRPr b="0" lang="en-IN" sz="1250" strike="noStrike" u="none">
              <a:solidFill>
                <a:srgbClr val="000000"/>
              </a:solidFill>
              <a:effectLst/>
              <a:uFillTx/>
              <a:latin typeface="Arial"/>
            </a:endParaRPr>
          </a:p>
        </p:txBody>
      </p:sp>
      <p:sp>
        <p:nvSpPr>
          <p:cNvPr id="233" name="Shape 11"/>
          <p:cNvSpPr/>
          <p:nvPr/>
        </p:nvSpPr>
        <p:spPr>
          <a:xfrm>
            <a:off x="4645080" y="1801440"/>
            <a:ext cx="4315680" cy="2267280"/>
          </a:xfrm>
          <a:prstGeom prst="rect">
            <a:avLst/>
          </a:prstGeom>
          <a:solidFill>
            <a:srgbClr val="1e2d3d"/>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34" name="Shape 12"/>
          <p:cNvSpPr/>
          <p:nvPr/>
        </p:nvSpPr>
        <p:spPr>
          <a:xfrm>
            <a:off x="4645080" y="1801440"/>
            <a:ext cx="4315680" cy="273960"/>
          </a:xfrm>
          <a:prstGeom prst="rect">
            <a:avLst/>
          </a:prstGeom>
          <a:solidFill>
            <a:srgbClr val="182634"/>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35" name="Text 13"/>
          <p:cNvSpPr/>
          <p:nvPr/>
        </p:nvSpPr>
        <p:spPr>
          <a:xfrm>
            <a:off x="4754880" y="1801440"/>
            <a:ext cx="41144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201" strike="noStrike" u="none">
                <a:solidFill>
                  <a:srgbClr val="9cd5ff"/>
                </a:solidFill>
                <a:effectLst/>
                <a:uFillTx/>
                <a:latin typeface="Calibri"/>
                <a:ea typeface="Calibri"/>
              </a:rPr>
              <a:t>JAVA CODE</a:t>
            </a:r>
            <a:endParaRPr b="0" lang="en-IN" sz="900" strike="noStrike" u="none">
              <a:solidFill>
                <a:srgbClr val="000000"/>
              </a:solidFill>
              <a:effectLst/>
              <a:uFillTx/>
              <a:latin typeface="Arial"/>
            </a:endParaRPr>
          </a:p>
        </p:txBody>
      </p:sp>
      <p:sp>
        <p:nvSpPr>
          <p:cNvPr id="236" name="Text 14"/>
          <p:cNvSpPr/>
          <p:nvPr/>
        </p:nvSpPr>
        <p:spPr>
          <a:xfrm>
            <a:off x="5906880" y="1959120"/>
            <a:ext cx="3345120" cy="1919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00" strike="noStrike" u="none">
                <a:solidFill>
                  <a:srgbClr val="c8dff0"/>
                </a:solidFill>
                <a:effectLst/>
                <a:uFillTx/>
                <a:latin typeface="Consolas"/>
                <a:ea typeface="Consolas"/>
              </a:rPr>
              <a:t>class BankAccount {</a:t>
            </a: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  // private — hidden from outside</a:t>
            </a: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  private double balance;</a:t>
            </a: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  private String pin;</a:t>
            </a:r>
            <a:endParaRPr b="0" lang="en-IN" sz="800" strike="noStrike" u="none">
              <a:solidFill>
                <a:srgbClr val="000000"/>
              </a:solidFill>
              <a:effectLst/>
              <a:uFillTx/>
              <a:latin typeface="Arial"/>
            </a:endParaRPr>
          </a:p>
          <a:p>
            <a:pPr defTabSz="914400">
              <a:lnSpc>
                <a:spcPct val="100000"/>
              </a:lnSpc>
              <a:tabLst>
                <a:tab algn="l" pos="0"/>
              </a:tabLst>
            </a:pP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  // public — accessible to anyone</a:t>
            </a: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  public String accountHolder;</a:t>
            </a:r>
            <a:endParaRPr b="0" lang="en-IN" sz="800" strike="noStrike" u="none">
              <a:solidFill>
                <a:srgbClr val="000000"/>
              </a:solidFill>
              <a:effectLst/>
              <a:uFillTx/>
              <a:latin typeface="Arial"/>
            </a:endParaRPr>
          </a:p>
          <a:p>
            <a:pPr defTabSz="914400">
              <a:lnSpc>
                <a:spcPct val="100000"/>
              </a:lnSpc>
              <a:tabLst>
                <a:tab algn="l" pos="0"/>
              </a:tabLst>
            </a:pP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  // getter — controlled read access</a:t>
            </a: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  public double getBalance() {</a:t>
            </a: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    return balance;</a:t>
            </a: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  }</a:t>
            </a:r>
            <a:endParaRPr b="0" lang="en-IN" sz="800" strike="noStrike" u="none">
              <a:solidFill>
                <a:srgbClr val="000000"/>
              </a:solidFill>
              <a:effectLst/>
              <a:uFillTx/>
              <a:latin typeface="Arial"/>
            </a:endParaRPr>
          </a:p>
          <a:p>
            <a:pPr defTabSz="914400">
              <a:lnSpc>
                <a:spcPct val="100000"/>
              </a:lnSpc>
              <a:tabLst>
                <a:tab algn="l" pos="0"/>
              </a:tabLst>
            </a:pP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  // setter — controlled write with validation</a:t>
            </a: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  public void deposit(double amt) {</a:t>
            </a: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    if (amt &gt; 0) balance += amt;</a:t>
            </a: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  }</a:t>
            </a: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a:t>
            </a:r>
            <a:endParaRPr b="0" lang="en-IN" sz="800" strike="noStrike" u="none">
              <a:solidFill>
                <a:srgbClr val="000000"/>
              </a:solidFill>
              <a:effectLst/>
              <a:uFillTx/>
              <a:latin typeface="Arial"/>
            </a:endParaRPr>
          </a:p>
        </p:txBody>
      </p:sp>
      <p:sp>
        <p:nvSpPr>
          <p:cNvPr id="237" name="Shape 15"/>
          <p:cNvSpPr/>
          <p:nvPr/>
        </p:nvSpPr>
        <p:spPr>
          <a:xfrm>
            <a:off x="182880" y="4206240"/>
            <a:ext cx="8777880" cy="749520"/>
          </a:xfrm>
          <a:prstGeom prst="rect">
            <a:avLst/>
          </a:prstGeom>
          <a:solidFill>
            <a:srgbClr val="e3f2f5"/>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38" name="Shape 16"/>
          <p:cNvSpPr/>
          <p:nvPr/>
        </p:nvSpPr>
        <p:spPr>
          <a:xfrm>
            <a:off x="182880" y="4206240"/>
            <a:ext cx="63720" cy="749520"/>
          </a:xfrm>
          <a:prstGeom prst="rect">
            <a:avLst/>
          </a:prstGeom>
          <a:solidFill>
            <a:srgbClr val="2a6e7a"/>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39" name="Text 17"/>
          <p:cNvSpPr/>
          <p:nvPr/>
        </p:nvSpPr>
        <p:spPr>
          <a:xfrm>
            <a:off x="320040" y="4242960"/>
            <a:ext cx="85035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2a6e7a"/>
                </a:solidFill>
                <a:effectLst/>
                <a:uFillTx/>
                <a:latin typeface="Calibri"/>
                <a:ea typeface="Calibri"/>
              </a:rPr>
              <a:t>REAL-WORLD ANALOGY</a:t>
            </a:r>
            <a:endParaRPr b="0" lang="en-IN" sz="900" strike="noStrike" u="none">
              <a:solidFill>
                <a:srgbClr val="000000"/>
              </a:solidFill>
              <a:effectLst/>
              <a:uFillTx/>
              <a:latin typeface="Arial"/>
            </a:endParaRPr>
          </a:p>
        </p:txBody>
      </p:sp>
      <p:sp>
        <p:nvSpPr>
          <p:cNvPr id="240" name="Text 18"/>
          <p:cNvSpPr/>
          <p:nvPr/>
        </p:nvSpPr>
        <p:spPr>
          <a:xfrm>
            <a:off x="320040" y="4453200"/>
            <a:ext cx="8503560" cy="438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50" strike="noStrike" u="none">
                <a:solidFill>
                  <a:srgbClr val="1e3a4a"/>
                </a:solidFill>
                <a:effectLst/>
                <a:uFillTx/>
                <a:latin typeface="Calibri"/>
                <a:ea typeface="Calibri"/>
              </a:rPr>
              <a:t>Your ATM PIN is private — only you (the class) know it. Your name on the bank receipt is public. The bank's internal balance engine is protected — locked away, accessible only through official methods.</a:t>
            </a:r>
            <a:endParaRPr b="0" lang="en-IN" sz="12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1" name="Shape 0"/>
          <p:cNvSpPr/>
          <p:nvPr/>
        </p:nvSpPr>
        <p:spPr>
          <a:xfrm>
            <a:off x="0" y="0"/>
            <a:ext cx="914364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42" name="Text 1"/>
          <p:cNvSpPr/>
          <p:nvPr/>
        </p:nvSpPr>
        <p:spPr>
          <a:xfrm>
            <a:off x="320040" y="91440"/>
            <a:ext cx="7131960" cy="612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ffffff"/>
                </a:solidFill>
                <a:effectLst/>
                <a:uFillTx/>
                <a:latin typeface="Calibri"/>
                <a:ea typeface="Calibri"/>
              </a:rPr>
              <a:t>Access Modifiers — Visibility Table &amp; Getter/Setter</a:t>
            </a:r>
            <a:endParaRPr b="0" lang="en-IN" sz="2200" strike="noStrike" u="none">
              <a:solidFill>
                <a:srgbClr val="000000"/>
              </a:solidFill>
              <a:effectLst/>
              <a:uFillTx/>
              <a:latin typeface="Arial"/>
            </a:endParaRPr>
          </a:p>
        </p:txBody>
      </p:sp>
      <p:sp>
        <p:nvSpPr>
          <p:cNvPr id="243" name="Text 2"/>
          <p:cNvSpPr/>
          <p:nvPr/>
        </p:nvSpPr>
        <p:spPr>
          <a:xfrm>
            <a:off x="6858000" y="274320"/>
            <a:ext cx="2148480" cy="255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99" strike="noStrike" u="none">
                <a:solidFill>
                  <a:srgbClr val="9cd5ff"/>
                </a:solidFill>
                <a:effectLst/>
                <a:uFillTx/>
                <a:latin typeface="Calibri"/>
                <a:ea typeface="Calibri"/>
              </a:rPr>
              <a:t>Section 3 — Access Modifiers</a:t>
            </a:r>
            <a:endParaRPr b="0" lang="en-IN" sz="900" strike="noStrike" u="none">
              <a:solidFill>
                <a:srgbClr val="000000"/>
              </a:solidFill>
              <a:effectLst/>
              <a:uFillTx/>
              <a:latin typeface="Arial"/>
            </a:endParaRPr>
          </a:p>
        </p:txBody>
      </p:sp>
      <p:sp>
        <p:nvSpPr>
          <p:cNvPr id="244" name="Shape 3"/>
          <p:cNvSpPr/>
          <p:nvPr/>
        </p:nvSpPr>
        <p:spPr>
          <a:xfrm>
            <a:off x="201240" y="960120"/>
            <a:ext cx="8741160" cy="36540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45" name="Text 4"/>
          <p:cNvSpPr/>
          <p:nvPr/>
        </p:nvSpPr>
        <p:spPr>
          <a:xfrm>
            <a:off x="201240" y="960120"/>
            <a:ext cx="187416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trike="noStrike" u="none">
                <a:solidFill>
                  <a:srgbClr val="ffffff"/>
                </a:solidFill>
                <a:effectLst/>
                <a:uFillTx/>
                <a:latin typeface="Calibri"/>
                <a:ea typeface="Calibri"/>
              </a:rPr>
              <a:t>Modifier</a:t>
            </a:r>
            <a:endParaRPr b="0" lang="en-IN" sz="1100" strike="noStrike" u="none">
              <a:solidFill>
                <a:srgbClr val="000000"/>
              </a:solidFill>
              <a:effectLst/>
              <a:uFillTx/>
              <a:latin typeface="Arial"/>
            </a:endParaRPr>
          </a:p>
        </p:txBody>
      </p:sp>
      <p:sp>
        <p:nvSpPr>
          <p:cNvPr id="246" name="Text 5"/>
          <p:cNvSpPr/>
          <p:nvPr/>
        </p:nvSpPr>
        <p:spPr>
          <a:xfrm>
            <a:off x="2176200" y="960120"/>
            <a:ext cx="138960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trike="noStrike" u="none">
                <a:solidFill>
                  <a:srgbClr val="ffffff"/>
                </a:solidFill>
                <a:effectLst/>
                <a:uFillTx/>
                <a:latin typeface="Calibri"/>
                <a:ea typeface="Calibri"/>
              </a:rPr>
              <a:t>Same Class</a:t>
            </a:r>
            <a:endParaRPr b="0" lang="en-IN" sz="1100" strike="noStrike" u="none">
              <a:solidFill>
                <a:srgbClr val="000000"/>
              </a:solidFill>
              <a:effectLst/>
              <a:uFillTx/>
              <a:latin typeface="Arial"/>
            </a:endParaRPr>
          </a:p>
        </p:txBody>
      </p:sp>
      <p:sp>
        <p:nvSpPr>
          <p:cNvPr id="247" name="Text 6"/>
          <p:cNvSpPr/>
          <p:nvPr/>
        </p:nvSpPr>
        <p:spPr>
          <a:xfrm>
            <a:off x="3657600" y="960120"/>
            <a:ext cx="138960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trike="noStrike" u="none">
                <a:solidFill>
                  <a:srgbClr val="ffffff"/>
                </a:solidFill>
                <a:effectLst/>
                <a:uFillTx/>
                <a:latin typeface="Calibri"/>
                <a:ea typeface="Calibri"/>
              </a:rPr>
              <a:t>Same Package</a:t>
            </a:r>
            <a:endParaRPr b="0" lang="en-IN" sz="1100" strike="noStrike" u="none">
              <a:solidFill>
                <a:srgbClr val="000000"/>
              </a:solidFill>
              <a:effectLst/>
              <a:uFillTx/>
              <a:latin typeface="Arial"/>
            </a:endParaRPr>
          </a:p>
        </p:txBody>
      </p:sp>
      <p:sp>
        <p:nvSpPr>
          <p:cNvPr id="248" name="Text 7"/>
          <p:cNvSpPr/>
          <p:nvPr/>
        </p:nvSpPr>
        <p:spPr>
          <a:xfrm>
            <a:off x="5139000" y="960120"/>
            <a:ext cx="138960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trike="noStrike" u="none">
                <a:solidFill>
                  <a:srgbClr val="ffffff"/>
                </a:solidFill>
                <a:effectLst/>
                <a:uFillTx/>
                <a:latin typeface="Calibri"/>
                <a:ea typeface="Calibri"/>
              </a:rPr>
              <a:t>Subclass</a:t>
            </a:r>
            <a:endParaRPr b="0" lang="en-IN" sz="1100" strike="noStrike" u="none">
              <a:solidFill>
                <a:srgbClr val="000000"/>
              </a:solidFill>
              <a:effectLst/>
              <a:uFillTx/>
              <a:latin typeface="Arial"/>
            </a:endParaRPr>
          </a:p>
        </p:txBody>
      </p:sp>
      <p:sp>
        <p:nvSpPr>
          <p:cNvPr id="249" name="Text 8"/>
          <p:cNvSpPr/>
          <p:nvPr/>
        </p:nvSpPr>
        <p:spPr>
          <a:xfrm>
            <a:off x="6620400" y="960120"/>
            <a:ext cx="138960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trike="noStrike" u="none">
                <a:solidFill>
                  <a:srgbClr val="ffffff"/>
                </a:solidFill>
                <a:effectLst/>
                <a:uFillTx/>
                <a:latin typeface="Calibri"/>
                <a:ea typeface="Calibri"/>
              </a:rPr>
              <a:t>Everywhere</a:t>
            </a:r>
            <a:endParaRPr b="0" lang="en-IN" sz="1100" strike="noStrike" u="none">
              <a:solidFill>
                <a:srgbClr val="000000"/>
              </a:solidFill>
              <a:effectLst/>
              <a:uFillTx/>
              <a:latin typeface="Arial"/>
            </a:endParaRPr>
          </a:p>
        </p:txBody>
      </p:sp>
      <p:sp>
        <p:nvSpPr>
          <p:cNvPr id="250" name="Shape 9"/>
          <p:cNvSpPr/>
          <p:nvPr/>
        </p:nvSpPr>
        <p:spPr>
          <a:xfrm>
            <a:off x="201240" y="1344240"/>
            <a:ext cx="8741160" cy="456840"/>
          </a:xfrm>
          <a:prstGeom prst="rect">
            <a:avLst/>
          </a:prstGeom>
          <a:solidFill>
            <a:srgbClr val="ebf5fb"/>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51" name="Shape 10"/>
          <p:cNvSpPr/>
          <p:nvPr/>
        </p:nvSpPr>
        <p:spPr>
          <a:xfrm>
            <a:off x="201240" y="1344240"/>
            <a:ext cx="1874160" cy="456840"/>
          </a:xfrm>
          <a:prstGeom prst="rect">
            <a:avLst/>
          </a:prstGeom>
          <a:solidFill>
            <a:srgbClr val="2e6b4f"/>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52" name="Text 11"/>
          <p:cNvSpPr/>
          <p:nvPr/>
        </p:nvSpPr>
        <p:spPr>
          <a:xfrm>
            <a:off x="201240" y="1344240"/>
            <a:ext cx="18741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00" strike="noStrike" u="none">
                <a:solidFill>
                  <a:srgbClr val="ffffff"/>
                </a:solidFill>
                <a:effectLst/>
                <a:uFillTx/>
                <a:latin typeface="Consolas"/>
                <a:ea typeface="Consolas"/>
              </a:rPr>
              <a:t>public</a:t>
            </a:r>
            <a:endParaRPr b="0" lang="en-IN" sz="1200" strike="noStrike" u="none">
              <a:solidFill>
                <a:srgbClr val="000000"/>
              </a:solidFill>
              <a:effectLst/>
              <a:uFillTx/>
              <a:latin typeface="Arial"/>
            </a:endParaRPr>
          </a:p>
        </p:txBody>
      </p:sp>
      <p:sp>
        <p:nvSpPr>
          <p:cNvPr id="253" name="Text 12"/>
          <p:cNvSpPr/>
          <p:nvPr/>
        </p:nvSpPr>
        <p:spPr>
          <a:xfrm>
            <a:off x="2176200" y="1344240"/>
            <a:ext cx="13896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trike="noStrike" u="none">
                <a:solidFill>
                  <a:srgbClr val="2e6b4f"/>
                </a:solidFill>
                <a:effectLst/>
                <a:uFillTx/>
                <a:latin typeface="Calibri"/>
                <a:ea typeface="Calibri"/>
              </a:rPr>
              <a:t>✓</a:t>
            </a:r>
            <a:endParaRPr b="0" lang="en-IN" sz="1600" strike="noStrike" u="none">
              <a:solidFill>
                <a:srgbClr val="000000"/>
              </a:solidFill>
              <a:effectLst/>
              <a:uFillTx/>
              <a:latin typeface="Arial"/>
            </a:endParaRPr>
          </a:p>
        </p:txBody>
      </p:sp>
      <p:sp>
        <p:nvSpPr>
          <p:cNvPr id="254" name="Text 13"/>
          <p:cNvSpPr/>
          <p:nvPr/>
        </p:nvSpPr>
        <p:spPr>
          <a:xfrm>
            <a:off x="3657600" y="1344240"/>
            <a:ext cx="13896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trike="noStrike" u="none">
                <a:solidFill>
                  <a:srgbClr val="2e6b4f"/>
                </a:solidFill>
                <a:effectLst/>
                <a:uFillTx/>
                <a:latin typeface="Calibri"/>
                <a:ea typeface="Calibri"/>
              </a:rPr>
              <a:t>✓</a:t>
            </a:r>
            <a:endParaRPr b="0" lang="en-IN" sz="1600" strike="noStrike" u="none">
              <a:solidFill>
                <a:srgbClr val="000000"/>
              </a:solidFill>
              <a:effectLst/>
              <a:uFillTx/>
              <a:latin typeface="Arial"/>
            </a:endParaRPr>
          </a:p>
        </p:txBody>
      </p:sp>
      <p:sp>
        <p:nvSpPr>
          <p:cNvPr id="255" name="Text 14"/>
          <p:cNvSpPr/>
          <p:nvPr/>
        </p:nvSpPr>
        <p:spPr>
          <a:xfrm>
            <a:off x="5139000" y="1344240"/>
            <a:ext cx="13896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trike="noStrike" u="none">
                <a:solidFill>
                  <a:srgbClr val="2e6b4f"/>
                </a:solidFill>
                <a:effectLst/>
                <a:uFillTx/>
                <a:latin typeface="Calibri"/>
                <a:ea typeface="Calibri"/>
              </a:rPr>
              <a:t>✓</a:t>
            </a:r>
            <a:endParaRPr b="0" lang="en-IN" sz="1600" strike="noStrike" u="none">
              <a:solidFill>
                <a:srgbClr val="000000"/>
              </a:solidFill>
              <a:effectLst/>
              <a:uFillTx/>
              <a:latin typeface="Arial"/>
            </a:endParaRPr>
          </a:p>
        </p:txBody>
      </p:sp>
      <p:sp>
        <p:nvSpPr>
          <p:cNvPr id="256" name="Text 15"/>
          <p:cNvSpPr/>
          <p:nvPr/>
        </p:nvSpPr>
        <p:spPr>
          <a:xfrm>
            <a:off x="6620400" y="1344240"/>
            <a:ext cx="13896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trike="noStrike" u="none">
                <a:solidFill>
                  <a:srgbClr val="2e6b4f"/>
                </a:solidFill>
                <a:effectLst/>
                <a:uFillTx/>
                <a:latin typeface="Calibri"/>
                <a:ea typeface="Calibri"/>
              </a:rPr>
              <a:t>✓</a:t>
            </a:r>
            <a:endParaRPr b="0" lang="en-IN" sz="1600" strike="noStrike" u="none">
              <a:solidFill>
                <a:srgbClr val="000000"/>
              </a:solidFill>
              <a:effectLst/>
              <a:uFillTx/>
              <a:latin typeface="Arial"/>
            </a:endParaRPr>
          </a:p>
        </p:txBody>
      </p:sp>
      <p:sp>
        <p:nvSpPr>
          <p:cNvPr id="257" name="Shape 16"/>
          <p:cNvSpPr/>
          <p:nvPr/>
        </p:nvSpPr>
        <p:spPr>
          <a:xfrm>
            <a:off x="201240" y="1828800"/>
            <a:ext cx="8741160" cy="45684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58" name="Shape 17"/>
          <p:cNvSpPr/>
          <p:nvPr/>
        </p:nvSpPr>
        <p:spPr>
          <a:xfrm>
            <a:off x="201240" y="1828800"/>
            <a:ext cx="1874160" cy="456840"/>
          </a:xfrm>
          <a:prstGeom prst="rect">
            <a:avLst/>
          </a:prstGeom>
          <a:solidFill>
            <a:srgbClr val="2a6e7a"/>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59" name="Text 18"/>
          <p:cNvSpPr/>
          <p:nvPr/>
        </p:nvSpPr>
        <p:spPr>
          <a:xfrm>
            <a:off x="201240" y="1828800"/>
            <a:ext cx="18741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00" strike="noStrike" u="none">
                <a:solidFill>
                  <a:srgbClr val="ffffff"/>
                </a:solidFill>
                <a:effectLst/>
                <a:uFillTx/>
                <a:latin typeface="Consolas"/>
                <a:ea typeface="Consolas"/>
              </a:rPr>
              <a:t>protected</a:t>
            </a:r>
            <a:endParaRPr b="0" lang="en-IN" sz="1200" strike="noStrike" u="none">
              <a:solidFill>
                <a:srgbClr val="000000"/>
              </a:solidFill>
              <a:effectLst/>
              <a:uFillTx/>
              <a:latin typeface="Arial"/>
            </a:endParaRPr>
          </a:p>
        </p:txBody>
      </p:sp>
      <p:sp>
        <p:nvSpPr>
          <p:cNvPr id="260" name="Text 19"/>
          <p:cNvSpPr/>
          <p:nvPr/>
        </p:nvSpPr>
        <p:spPr>
          <a:xfrm>
            <a:off x="2176200" y="1828800"/>
            <a:ext cx="13896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trike="noStrike" u="none">
                <a:solidFill>
                  <a:srgbClr val="2e6b4f"/>
                </a:solidFill>
                <a:effectLst/>
                <a:uFillTx/>
                <a:latin typeface="Calibri"/>
                <a:ea typeface="Calibri"/>
              </a:rPr>
              <a:t>✓</a:t>
            </a:r>
            <a:endParaRPr b="0" lang="en-IN" sz="1600" strike="noStrike" u="none">
              <a:solidFill>
                <a:srgbClr val="000000"/>
              </a:solidFill>
              <a:effectLst/>
              <a:uFillTx/>
              <a:latin typeface="Arial"/>
            </a:endParaRPr>
          </a:p>
        </p:txBody>
      </p:sp>
      <p:sp>
        <p:nvSpPr>
          <p:cNvPr id="261" name="Text 20"/>
          <p:cNvSpPr/>
          <p:nvPr/>
        </p:nvSpPr>
        <p:spPr>
          <a:xfrm>
            <a:off x="3657600" y="1828800"/>
            <a:ext cx="13896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trike="noStrike" u="none">
                <a:solidFill>
                  <a:srgbClr val="2e6b4f"/>
                </a:solidFill>
                <a:effectLst/>
                <a:uFillTx/>
                <a:latin typeface="Calibri"/>
                <a:ea typeface="Calibri"/>
              </a:rPr>
              <a:t>✓</a:t>
            </a:r>
            <a:endParaRPr b="0" lang="en-IN" sz="1600" strike="noStrike" u="none">
              <a:solidFill>
                <a:srgbClr val="000000"/>
              </a:solidFill>
              <a:effectLst/>
              <a:uFillTx/>
              <a:latin typeface="Arial"/>
            </a:endParaRPr>
          </a:p>
        </p:txBody>
      </p:sp>
      <p:sp>
        <p:nvSpPr>
          <p:cNvPr id="262" name="Text 21"/>
          <p:cNvSpPr/>
          <p:nvPr/>
        </p:nvSpPr>
        <p:spPr>
          <a:xfrm>
            <a:off x="5139000" y="1828800"/>
            <a:ext cx="13896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trike="noStrike" u="none">
                <a:solidFill>
                  <a:srgbClr val="2e6b4f"/>
                </a:solidFill>
                <a:effectLst/>
                <a:uFillTx/>
                <a:latin typeface="Calibri"/>
                <a:ea typeface="Calibri"/>
              </a:rPr>
              <a:t>✓</a:t>
            </a:r>
            <a:endParaRPr b="0" lang="en-IN" sz="1600" strike="noStrike" u="none">
              <a:solidFill>
                <a:srgbClr val="000000"/>
              </a:solidFill>
              <a:effectLst/>
              <a:uFillTx/>
              <a:latin typeface="Arial"/>
            </a:endParaRPr>
          </a:p>
        </p:txBody>
      </p:sp>
      <p:sp>
        <p:nvSpPr>
          <p:cNvPr id="263" name="Text 22"/>
          <p:cNvSpPr/>
          <p:nvPr/>
        </p:nvSpPr>
        <p:spPr>
          <a:xfrm>
            <a:off x="6620400" y="1828800"/>
            <a:ext cx="13896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600" strike="noStrike" u="none">
                <a:solidFill>
                  <a:srgbClr val="8b2020"/>
                </a:solidFill>
                <a:effectLst/>
                <a:uFillTx/>
                <a:latin typeface="Calibri"/>
                <a:ea typeface="Calibri"/>
              </a:rPr>
              <a:t>✗</a:t>
            </a:r>
            <a:endParaRPr b="0" lang="en-IN" sz="1600" strike="noStrike" u="none">
              <a:solidFill>
                <a:srgbClr val="000000"/>
              </a:solidFill>
              <a:effectLst/>
              <a:uFillTx/>
              <a:latin typeface="Arial"/>
            </a:endParaRPr>
          </a:p>
        </p:txBody>
      </p:sp>
      <p:sp>
        <p:nvSpPr>
          <p:cNvPr id="264" name="Shape 23"/>
          <p:cNvSpPr/>
          <p:nvPr/>
        </p:nvSpPr>
        <p:spPr>
          <a:xfrm>
            <a:off x="201240" y="2313360"/>
            <a:ext cx="8741160" cy="456840"/>
          </a:xfrm>
          <a:prstGeom prst="rect">
            <a:avLst/>
          </a:prstGeom>
          <a:solidFill>
            <a:srgbClr val="ebf5fb"/>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65" name="Shape 24"/>
          <p:cNvSpPr/>
          <p:nvPr/>
        </p:nvSpPr>
        <p:spPr>
          <a:xfrm>
            <a:off x="201240" y="2313360"/>
            <a:ext cx="1874160" cy="45684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66" name="Text 25"/>
          <p:cNvSpPr/>
          <p:nvPr/>
        </p:nvSpPr>
        <p:spPr>
          <a:xfrm>
            <a:off x="201240" y="2313360"/>
            <a:ext cx="18741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00" strike="noStrike" u="none">
                <a:solidFill>
                  <a:srgbClr val="ffffff"/>
                </a:solidFill>
                <a:effectLst/>
                <a:uFillTx/>
                <a:latin typeface="Consolas"/>
                <a:ea typeface="Consolas"/>
              </a:rPr>
              <a:t>default</a:t>
            </a:r>
            <a:endParaRPr b="0" lang="en-IN" sz="1200" strike="noStrike" u="none">
              <a:solidFill>
                <a:srgbClr val="000000"/>
              </a:solidFill>
              <a:effectLst/>
              <a:uFillTx/>
              <a:latin typeface="Arial"/>
            </a:endParaRPr>
          </a:p>
        </p:txBody>
      </p:sp>
      <p:sp>
        <p:nvSpPr>
          <p:cNvPr id="267" name="Text 26"/>
          <p:cNvSpPr/>
          <p:nvPr/>
        </p:nvSpPr>
        <p:spPr>
          <a:xfrm>
            <a:off x="2176200" y="2313360"/>
            <a:ext cx="13896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trike="noStrike" u="none">
                <a:solidFill>
                  <a:srgbClr val="2e6b4f"/>
                </a:solidFill>
                <a:effectLst/>
                <a:uFillTx/>
                <a:latin typeface="Calibri"/>
                <a:ea typeface="Calibri"/>
              </a:rPr>
              <a:t>✓</a:t>
            </a:r>
            <a:endParaRPr b="0" lang="en-IN" sz="1600" strike="noStrike" u="none">
              <a:solidFill>
                <a:srgbClr val="000000"/>
              </a:solidFill>
              <a:effectLst/>
              <a:uFillTx/>
              <a:latin typeface="Arial"/>
            </a:endParaRPr>
          </a:p>
        </p:txBody>
      </p:sp>
      <p:sp>
        <p:nvSpPr>
          <p:cNvPr id="268" name="Text 27"/>
          <p:cNvSpPr/>
          <p:nvPr/>
        </p:nvSpPr>
        <p:spPr>
          <a:xfrm>
            <a:off x="3657600" y="2313360"/>
            <a:ext cx="13896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trike="noStrike" u="none">
                <a:solidFill>
                  <a:srgbClr val="2e6b4f"/>
                </a:solidFill>
                <a:effectLst/>
                <a:uFillTx/>
                <a:latin typeface="Calibri"/>
                <a:ea typeface="Calibri"/>
              </a:rPr>
              <a:t>✓</a:t>
            </a:r>
            <a:endParaRPr b="0" lang="en-IN" sz="1600" strike="noStrike" u="none">
              <a:solidFill>
                <a:srgbClr val="000000"/>
              </a:solidFill>
              <a:effectLst/>
              <a:uFillTx/>
              <a:latin typeface="Arial"/>
            </a:endParaRPr>
          </a:p>
        </p:txBody>
      </p:sp>
      <p:sp>
        <p:nvSpPr>
          <p:cNvPr id="269" name="Text 28"/>
          <p:cNvSpPr/>
          <p:nvPr/>
        </p:nvSpPr>
        <p:spPr>
          <a:xfrm>
            <a:off x="5139000" y="2313360"/>
            <a:ext cx="13896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600" strike="noStrike" u="none">
                <a:solidFill>
                  <a:srgbClr val="8b2020"/>
                </a:solidFill>
                <a:effectLst/>
                <a:uFillTx/>
                <a:latin typeface="Calibri"/>
                <a:ea typeface="Calibri"/>
              </a:rPr>
              <a:t>✗</a:t>
            </a:r>
            <a:endParaRPr b="0" lang="en-IN" sz="1600" strike="noStrike" u="none">
              <a:solidFill>
                <a:srgbClr val="000000"/>
              </a:solidFill>
              <a:effectLst/>
              <a:uFillTx/>
              <a:latin typeface="Arial"/>
            </a:endParaRPr>
          </a:p>
        </p:txBody>
      </p:sp>
      <p:sp>
        <p:nvSpPr>
          <p:cNvPr id="270" name="Text 29"/>
          <p:cNvSpPr/>
          <p:nvPr/>
        </p:nvSpPr>
        <p:spPr>
          <a:xfrm>
            <a:off x="6620400" y="2313360"/>
            <a:ext cx="13896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600" strike="noStrike" u="none">
                <a:solidFill>
                  <a:srgbClr val="8b2020"/>
                </a:solidFill>
                <a:effectLst/>
                <a:uFillTx/>
                <a:latin typeface="Calibri"/>
                <a:ea typeface="Calibri"/>
              </a:rPr>
              <a:t>✗</a:t>
            </a:r>
            <a:endParaRPr b="0" lang="en-IN" sz="1600" strike="noStrike" u="none">
              <a:solidFill>
                <a:srgbClr val="000000"/>
              </a:solidFill>
              <a:effectLst/>
              <a:uFillTx/>
              <a:latin typeface="Arial"/>
            </a:endParaRPr>
          </a:p>
        </p:txBody>
      </p:sp>
      <p:sp>
        <p:nvSpPr>
          <p:cNvPr id="271" name="Shape 30"/>
          <p:cNvSpPr/>
          <p:nvPr/>
        </p:nvSpPr>
        <p:spPr>
          <a:xfrm>
            <a:off x="201240" y="2797920"/>
            <a:ext cx="8741160" cy="45684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72" name="Shape 31"/>
          <p:cNvSpPr/>
          <p:nvPr/>
        </p:nvSpPr>
        <p:spPr>
          <a:xfrm>
            <a:off x="201240" y="2797920"/>
            <a:ext cx="1874160" cy="456840"/>
          </a:xfrm>
          <a:prstGeom prst="rect">
            <a:avLst/>
          </a:prstGeom>
          <a:solidFill>
            <a:srgbClr val="8b2020"/>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73" name="Text 32"/>
          <p:cNvSpPr/>
          <p:nvPr/>
        </p:nvSpPr>
        <p:spPr>
          <a:xfrm>
            <a:off x="201240" y="2797920"/>
            <a:ext cx="18741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00" strike="noStrike" u="none">
                <a:solidFill>
                  <a:srgbClr val="ffffff"/>
                </a:solidFill>
                <a:effectLst/>
                <a:uFillTx/>
                <a:latin typeface="Consolas"/>
                <a:ea typeface="Consolas"/>
              </a:rPr>
              <a:t>private</a:t>
            </a:r>
            <a:endParaRPr b="0" lang="en-IN" sz="1200" strike="noStrike" u="none">
              <a:solidFill>
                <a:srgbClr val="000000"/>
              </a:solidFill>
              <a:effectLst/>
              <a:uFillTx/>
              <a:latin typeface="Arial"/>
            </a:endParaRPr>
          </a:p>
        </p:txBody>
      </p:sp>
      <p:sp>
        <p:nvSpPr>
          <p:cNvPr id="274" name="Text 33"/>
          <p:cNvSpPr/>
          <p:nvPr/>
        </p:nvSpPr>
        <p:spPr>
          <a:xfrm>
            <a:off x="2176200" y="2797920"/>
            <a:ext cx="13896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trike="noStrike" u="none">
                <a:solidFill>
                  <a:srgbClr val="2e6b4f"/>
                </a:solidFill>
                <a:effectLst/>
                <a:uFillTx/>
                <a:latin typeface="Calibri"/>
                <a:ea typeface="Calibri"/>
              </a:rPr>
              <a:t>✓</a:t>
            </a:r>
            <a:endParaRPr b="0" lang="en-IN" sz="1600" strike="noStrike" u="none">
              <a:solidFill>
                <a:srgbClr val="000000"/>
              </a:solidFill>
              <a:effectLst/>
              <a:uFillTx/>
              <a:latin typeface="Arial"/>
            </a:endParaRPr>
          </a:p>
        </p:txBody>
      </p:sp>
      <p:sp>
        <p:nvSpPr>
          <p:cNvPr id="275" name="Text 34"/>
          <p:cNvSpPr/>
          <p:nvPr/>
        </p:nvSpPr>
        <p:spPr>
          <a:xfrm>
            <a:off x="3657600" y="2797920"/>
            <a:ext cx="13896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600" strike="noStrike" u="none">
                <a:solidFill>
                  <a:srgbClr val="8b2020"/>
                </a:solidFill>
                <a:effectLst/>
                <a:uFillTx/>
                <a:latin typeface="Calibri"/>
                <a:ea typeface="Calibri"/>
              </a:rPr>
              <a:t>✗</a:t>
            </a:r>
            <a:endParaRPr b="0" lang="en-IN" sz="1600" strike="noStrike" u="none">
              <a:solidFill>
                <a:srgbClr val="000000"/>
              </a:solidFill>
              <a:effectLst/>
              <a:uFillTx/>
              <a:latin typeface="Arial"/>
            </a:endParaRPr>
          </a:p>
        </p:txBody>
      </p:sp>
      <p:sp>
        <p:nvSpPr>
          <p:cNvPr id="276" name="Text 35"/>
          <p:cNvSpPr/>
          <p:nvPr/>
        </p:nvSpPr>
        <p:spPr>
          <a:xfrm>
            <a:off x="5139000" y="2797920"/>
            <a:ext cx="13896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600" strike="noStrike" u="none">
                <a:solidFill>
                  <a:srgbClr val="8b2020"/>
                </a:solidFill>
                <a:effectLst/>
                <a:uFillTx/>
                <a:latin typeface="Calibri"/>
                <a:ea typeface="Calibri"/>
              </a:rPr>
              <a:t>✗</a:t>
            </a:r>
            <a:endParaRPr b="0" lang="en-IN" sz="1600" strike="noStrike" u="none">
              <a:solidFill>
                <a:srgbClr val="000000"/>
              </a:solidFill>
              <a:effectLst/>
              <a:uFillTx/>
              <a:latin typeface="Arial"/>
            </a:endParaRPr>
          </a:p>
        </p:txBody>
      </p:sp>
      <p:sp>
        <p:nvSpPr>
          <p:cNvPr id="277" name="Text 36"/>
          <p:cNvSpPr/>
          <p:nvPr/>
        </p:nvSpPr>
        <p:spPr>
          <a:xfrm>
            <a:off x="6620400" y="2797920"/>
            <a:ext cx="13896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600" strike="noStrike" u="none">
                <a:solidFill>
                  <a:srgbClr val="8b2020"/>
                </a:solidFill>
                <a:effectLst/>
                <a:uFillTx/>
                <a:latin typeface="Calibri"/>
                <a:ea typeface="Calibri"/>
              </a:rPr>
              <a:t>✗</a:t>
            </a:r>
            <a:endParaRPr b="0" lang="en-IN" sz="1600" strike="noStrike" u="none">
              <a:solidFill>
                <a:srgbClr val="000000"/>
              </a:solidFill>
              <a:effectLst/>
              <a:uFillTx/>
              <a:latin typeface="Arial"/>
            </a:endParaRPr>
          </a:p>
        </p:txBody>
      </p:sp>
      <p:sp>
        <p:nvSpPr>
          <p:cNvPr id="278" name="Shape 37"/>
          <p:cNvSpPr/>
          <p:nvPr/>
        </p:nvSpPr>
        <p:spPr>
          <a:xfrm>
            <a:off x="201240" y="3383280"/>
            <a:ext cx="4278960" cy="1572480"/>
          </a:xfrm>
          <a:prstGeom prst="rect">
            <a:avLst/>
          </a:prstGeom>
          <a:solidFill>
            <a:srgbClr val="1e2d3d"/>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79" name="Text 38"/>
          <p:cNvSpPr/>
          <p:nvPr/>
        </p:nvSpPr>
        <p:spPr>
          <a:xfrm>
            <a:off x="311040" y="3438000"/>
            <a:ext cx="4059720" cy="219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201" strike="noStrike" u="none">
                <a:solidFill>
                  <a:srgbClr val="9cd5ff"/>
                </a:solidFill>
                <a:effectLst/>
                <a:uFillTx/>
                <a:latin typeface="Calibri"/>
                <a:ea typeface="Calibri"/>
              </a:rPr>
              <a:t>GETTER / SETTER PATTERN</a:t>
            </a:r>
            <a:endParaRPr b="0" lang="en-IN" sz="900" strike="noStrike" u="none">
              <a:solidFill>
                <a:srgbClr val="000000"/>
              </a:solidFill>
              <a:effectLst/>
              <a:uFillTx/>
              <a:latin typeface="Arial"/>
            </a:endParaRPr>
          </a:p>
        </p:txBody>
      </p:sp>
      <p:sp>
        <p:nvSpPr>
          <p:cNvPr id="280" name="Text 39"/>
          <p:cNvSpPr/>
          <p:nvPr/>
        </p:nvSpPr>
        <p:spPr>
          <a:xfrm>
            <a:off x="311040" y="3675960"/>
            <a:ext cx="4059720" cy="1206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00" strike="noStrike" u="none">
                <a:solidFill>
                  <a:srgbClr val="c8dff0"/>
                </a:solidFill>
                <a:effectLst/>
                <a:uFillTx/>
                <a:latin typeface="Consolas"/>
                <a:ea typeface="Consolas"/>
              </a:rPr>
              <a:t>private int age;        // cannot touch from outside</a:t>
            </a:r>
            <a:endParaRPr b="0" lang="en-IN" sz="800" strike="noStrike" u="none">
              <a:solidFill>
                <a:srgbClr val="000000"/>
              </a:solidFill>
              <a:effectLst/>
              <a:uFillTx/>
              <a:latin typeface="Arial"/>
            </a:endParaRPr>
          </a:p>
          <a:p>
            <a:pPr defTabSz="914400">
              <a:lnSpc>
                <a:spcPct val="100000"/>
              </a:lnSpc>
              <a:tabLst>
                <a:tab algn="l" pos="0"/>
              </a:tabLst>
            </a:pP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 getter — read the value</a:t>
            </a: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public int getAge() {</a:t>
            </a: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    return age;</a:t>
            </a: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a:t>
            </a:r>
            <a:endParaRPr b="0" lang="en-IN" sz="800" strike="noStrike" u="none">
              <a:solidFill>
                <a:srgbClr val="000000"/>
              </a:solidFill>
              <a:effectLst/>
              <a:uFillTx/>
              <a:latin typeface="Arial"/>
            </a:endParaRPr>
          </a:p>
          <a:p>
            <a:pPr defTabSz="914400">
              <a:lnSpc>
                <a:spcPct val="100000"/>
              </a:lnSpc>
              <a:tabLst>
                <a:tab algn="l" pos="0"/>
              </a:tabLst>
            </a:pP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 setter — write with validation</a:t>
            </a: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public void setAge(int a) {</a:t>
            </a: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    if (a &gt; 0) age = a;</a:t>
            </a:r>
            <a:endParaRPr b="0" lang="en-IN" sz="800" strike="noStrike" u="none">
              <a:solidFill>
                <a:srgbClr val="000000"/>
              </a:solidFill>
              <a:effectLst/>
              <a:uFillTx/>
              <a:latin typeface="Arial"/>
            </a:endParaRPr>
          </a:p>
          <a:p>
            <a:pPr defTabSz="914400">
              <a:lnSpc>
                <a:spcPct val="100000"/>
              </a:lnSpc>
              <a:tabLst>
                <a:tab algn="l" pos="0"/>
              </a:tabLst>
            </a:pPr>
            <a:r>
              <a:rPr b="0" lang="en-US" sz="800" strike="noStrike" u="none">
                <a:solidFill>
                  <a:srgbClr val="c8dff0"/>
                </a:solidFill>
                <a:effectLst/>
                <a:uFillTx/>
                <a:latin typeface="Consolas"/>
                <a:ea typeface="Consolas"/>
              </a:rPr>
              <a:t>}</a:t>
            </a:r>
            <a:endParaRPr b="0" lang="en-IN" sz="800" strike="noStrike" u="none">
              <a:solidFill>
                <a:srgbClr val="000000"/>
              </a:solidFill>
              <a:effectLst/>
              <a:uFillTx/>
              <a:latin typeface="Arial"/>
            </a:endParaRPr>
          </a:p>
        </p:txBody>
      </p:sp>
      <p:sp>
        <p:nvSpPr>
          <p:cNvPr id="281" name="Shape 40"/>
          <p:cNvSpPr/>
          <p:nvPr/>
        </p:nvSpPr>
        <p:spPr>
          <a:xfrm>
            <a:off x="4663440" y="3383280"/>
            <a:ext cx="4278960" cy="1572480"/>
          </a:xfrm>
          <a:prstGeom prst="rect">
            <a:avLst/>
          </a:prstGeom>
          <a:solidFill>
            <a:srgbClr val="e3f2f5"/>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82" name="Shape 41"/>
          <p:cNvSpPr/>
          <p:nvPr/>
        </p:nvSpPr>
        <p:spPr>
          <a:xfrm>
            <a:off x="4663440" y="3383280"/>
            <a:ext cx="63720" cy="1572480"/>
          </a:xfrm>
          <a:prstGeom prst="rect">
            <a:avLst/>
          </a:prstGeom>
          <a:solidFill>
            <a:srgbClr val="2a6e7a"/>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83" name="Text 42"/>
          <p:cNvSpPr/>
          <p:nvPr/>
        </p:nvSpPr>
        <p:spPr>
          <a:xfrm>
            <a:off x="4800600" y="3420000"/>
            <a:ext cx="4059720" cy="219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2a6e7a"/>
                </a:solidFill>
                <a:effectLst/>
                <a:uFillTx/>
                <a:latin typeface="Calibri"/>
                <a:ea typeface="Calibri"/>
              </a:rPr>
              <a:t>ENCAPSULATION RULES</a:t>
            </a:r>
            <a:endParaRPr b="0" lang="en-IN" sz="900" strike="noStrike" u="none">
              <a:solidFill>
                <a:srgbClr val="000000"/>
              </a:solidFill>
              <a:effectLst/>
              <a:uFillTx/>
              <a:latin typeface="Arial"/>
            </a:endParaRPr>
          </a:p>
        </p:txBody>
      </p:sp>
      <p:sp>
        <p:nvSpPr>
          <p:cNvPr id="284" name="Text 43"/>
          <p:cNvSpPr/>
          <p:nvPr/>
        </p:nvSpPr>
        <p:spPr>
          <a:xfrm>
            <a:off x="4800600" y="3657600"/>
            <a:ext cx="4059720" cy="123408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201"/>
              </a:spcAft>
              <a:buClr>
                <a:srgbClr val="1e3a4a"/>
              </a:buClr>
              <a:buFont typeface="Symbol" charset="2"/>
              <a:buChar char=""/>
            </a:pPr>
            <a:r>
              <a:rPr b="0" lang="en-US" sz="1150" strike="noStrike" u="none">
                <a:solidFill>
                  <a:srgbClr val="1e3a4a"/>
                </a:solidFill>
                <a:effectLst/>
                <a:uFillTx/>
                <a:latin typeface="Calibri"/>
                <a:ea typeface="Calibri"/>
              </a:rPr>
              <a:t>Declare ALL fields as private</a:t>
            </a:r>
            <a:endParaRPr b="0" lang="en-IN" sz="1150" strike="noStrike" u="none">
              <a:solidFill>
                <a:srgbClr val="000000"/>
              </a:solidFill>
              <a:effectLst/>
              <a:uFillTx/>
              <a:latin typeface="Arial"/>
            </a:endParaRPr>
          </a:p>
          <a:p>
            <a:pPr marL="343080" indent="-343080" defTabSz="914400">
              <a:lnSpc>
                <a:spcPct val="100000"/>
              </a:lnSpc>
              <a:spcAft>
                <a:spcPts val="201"/>
              </a:spcAft>
              <a:buClr>
                <a:srgbClr val="1e3a4a"/>
              </a:buClr>
              <a:buFont typeface="Symbol" charset="2"/>
              <a:buChar char=""/>
            </a:pPr>
            <a:r>
              <a:rPr b="0" lang="en-US" sz="1150" strike="noStrike" u="none">
                <a:solidFill>
                  <a:srgbClr val="1e3a4a"/>
                </a:solidFill>
                <a:effectLst/>
                <a:uFillTx/>
                <a:latin typeface="Calibri"/>
                <a:ea typeface="Calibri"/>
              </a:rPr>
              <a:t>Never allow direct field access from outside</a:t>
            </a:r>
            <a:endParaRPr b="0" lang="en-IN" sz="1150" strike="noStrike" u="none">
              <a:solidFill>
                <a:srgbClr val="000000"/>
              </a:solidFill>
              <a:effectLst/>
              <a:uFillTx/>
              <a:latin typeface="Arial"/>
            </a:endParaRPr>
          </a:p>
          <a:p>
            <a:pPr marL="343080" indent="-343080" defTabSz="914400">
              <a:lnSpc>
                <a:spcPct val="100000"/>
              </a:lnSpc>
              <a:spcAft>
                <a:spcPts val="201"/>
              </a:spcAft>
              <a:buClr>
                <a:srgbClr val="1e3a4a"/>
              </a:buClr>
              <a:buFont typeface="Symbol" charset="2"/>
              <a:buChar char=""/>
            </a:pPr>
            <a:r>
              <a:rPr b="0" lang="en-US" sz="1150" strike="noStrike" u="none">
                <a:solidFill>
                  <a:srgbClr val="1e3a4a"/>
                </a:solidFill>
                <a:effectLst/>
                <a:uFillTx/>
                <a:latin typeface="Calibri"/>
                <a:ea typeface="Calibri"/>
              </a:rPr>
              <a:t>Expose a public getter to allow reading</a:t>
            </a:r>
            <a:endParaRPr b="0" lang="en-IN" sz="1150" strike="noStrike" u="none">
              <a:solidFill>
                <a:srgbClr val="000000"/>
              </a:solidFill>
              <a:effectLst/>
              <a:uFillTx/>
              <a:latin typeface="Arial"/>
            </a:endParaRPr>
          </a:p>
          <a:p>
            <a:pPr marL="343080" indent="-343080" defTabSz="914400">
              <a:lnSpc>
                <a:spcPct val="100000"/>
              </a:lnSpc>
              <a:spcAft>
                <a:spcPts val="201"/>
              </a:spcAft>
              <a:buClr>
                <a:srgbClr val="1e3a4a"/>
              </a:buClr>
              <a:buFont typeface="Symbol" charset="2"/>
              <a:buChar char=""/>
            </a:pPr>
            <a:r>
              <a:rPr b="0" lang="en-US" sz="1150" strike="noStrike" u="none">
                <a:solidFill>
                  <a:srgbClr val="1e3a4a"/>
                </a:solidFill>
                <a:effectLst/>
                <a:uFillTx/>
                <a:latin typeface="Calibri"/>
                <a:ea typeface="Calibri"/>
              </a:rPr>
              <a:t>Expose a public setter only if writing is needed</a:t>
            </a:r>
            <a:endParaRPr b="0" lang="en-IN" sz="1150" strike="noStrike" u="none">
              <a:solidFill>
                <a:srgbClr val="000000"/>
              </a:solidFill>
              <a:effectLst/>
              <a:uFillTx/>
              <a:latin typeface="Arial"/>
            </a:endParaRPr>
          </a:p>
          <a:p>
            <a:pPr marL="343080" indent="-343080" defTabSz="914400">
              <a:lnSpc>
                <a:spcPct val="100000"/>
              </a:lnSpc>
              <a:spcAft>
                <a:spcPts val="201"/>
              </a:spcAft>
              <a:buClr>
                <a:srgbClr val="1e3a4a"/>
              </a:buClr>
              <a:buFont typeface="Symbol" charset="2"/>
              <a:buChar char=""/>
            </a:pPr>
            <a:r>
              <a:rPr b="0" lang="en-US" sz="1150" strike="noStrike" u="none">
                <a:solidFill>
                  <a:srgbClr val="1e3a4a"/>
                </a:solidFill>
                <a:effectLst/>
                <a:uFillTx/>
                <a:latin typeface="Calibri"/>
                <a:ea typeface="Calibri"/>
              </a:rPr>
              <a:t>Add validation logic inside setters</a:t>
            </a:r>
            <a:endParaRPr b="0" lang="en-IN" sz="1150" strike="noStrike" u="none">
              <a:solidFill>
                <a:srgbClr val="000000"/>
              </a:solidFill>
              <a:effectLst/>
              <a:uFillTx/>
              <a:latin typeface="Arial"/>
            </a:endParaRPr>
          </a:p>
          <a:p>
            <a:pPr marL="343080" indent="-343080" defTabSz="914400">
              <a:lnSpc>
                <a:spcPct val="100000"/>
              </a:lnSpc>
              <a:spcAft>
                <a:spcPts val="201"/>
              </a:spcAft>
              <a:buClr>
                <a:srgbClr val="1e3a4a"/>
              </a:buClr>
              <a:buFont typeface="Symbol" charset="2"/>
              <a:buChar char=""/>
            </a:pPr>
            <a:r>
              <a:rPr b="0" lang="en-US" sz="1150" strike="noStrike" u="none">
                <a:solidFill>
                  <a:srgbClr val="1e3a4a"/>
                </a:solidFill>
                <a:effectLst/>
                <a:uFillTx/>
                <a:latin typeface="Calibri"/>
                <a:ea typeface="Calibri"/>
              </a:rPr>
              <a:t>This pattern is called Encapsulation</a:t>
            </a:r>
            <a:endParaRPr b="0" lang="en-IN" sz="11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55872"/>
        </a:solidFill>
      </p:bgPr>
    </p:bg>
    <p:spTree>
      <p:nvGrpSpPr>
        <p:cNvPr id="1" name=""/>
        <p:cNvGrpSpPr/>
        <p:nvPr/>
      </p:nvGrpSpPr>
      <p:grpSpPr>
        <a:xfrm>
          <a:off x="0" y="0"/>
          <a:ext cx="0" cy="0"/>
          <a:chOff x="0" y="0"/>
          <a:chExt cx="0" cy="0"/>
        </a:xfrm>
      </p:grpSpPr>
      <p:sp>
        <p:nvSpPr>
          <p:cNvPr id="285" name="Shape 0"/>
          <p:cNvSpPr/>
          <p:nvPr/>
        </p:nvSpPr>
        <p:spPr>
          <a:xfrm>
            <a:off x="0" y="0"/>
            <a:ext cx="3291480" cy="5143320"/>
          </a:xfrm>
          <a:prstGeom prst="rect">
            <a:avLst/>
          </a:prstGeom>
          <a:solidFill>
            <a:srgbClr val="2a4e66"/>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86" name="Shape 1"/>
          <p:cNvSpPr/>
          <p:nvPr/>
        </p:nvSpPr>
        <p:spPr>
          <a:xfrm>
            <a:off x="0" y="0"/>
            <a:ext cx="164160" cy="5143320"/>
          </a:xfrm>
          <a:prstGeom prst="rect">
            <a:avLst/>
          </a:prstGeom>
          <a:solidFill>
            <a:srgbClr val="9cd5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87" name="Text 2"/>
          <p:cNvSpPr/>
          <p:nvPr/>
        </p:nvSpPr>
        <p:spPr>
          <a:xfrm>
            <a:off x="228600" y="1371600"/>
            <a:ext cx="2925720" cy="146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0" strike="noStrike" u="none">
                <a:solidFill>
                  <a:srgbClr val="1e3d52"/>
                </a:solidFill>
                <a:effectLst/>
                <a:uFillTx/>
                <a:latin typeface="Calibri"/>
                <a:ea typeface="Calibri"/>
              </a:rPr>
              <a:t>04</a:t>
            </a:r>
            <a:endParaRPr b="0" lang="en-IN" sz="11000" strike="noStrike" u="none">
              <a:solidFill>
                <a:srgbClr val="ffffff"/>
              </a:solidFill>
              <a:effectLst/>
              <a:uFillTx/>
              <a:latin typeface="Arial"/>
            </a:endParaRPr>
          </a:p>
        </p:txBody>
      </p:sp>
      <p:sp>
        <p:nvSpPr>
          <p:cNvPr id="288" name="Text 3"/>
          <p:cNvSpPr/>
          <p:nvPr/>
        </p:nvSpPr>
        <p:spPr>
          <a:xfrm>
            <a:off x="228600" y="320040"/>
            <a:ext cx="2925720" cy="255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00" spc="400" strike="noStrike" u="none">
                <a:solidFill>
                  <a:srgbClr val="9cd5ff"/>
                </a:solidFill>
                <a:effectLst/>
                <a:uFillTx/>
                <a:latin typeface="Calibri"/>
                <a:ea typeface="Calibri"/>
              </a:rPr>
              <a:t>SECTION</a:t>
            </a:r>
            <a:endParaRPr b="0" lang="en-IN" sz="1000" strike="noStrike" u="none">
              <a:solidFill>
                <a:srgbClr val="ffffff"/>
              </a:solidFill>
              <a:effectLst/>
              <a:uFillTx/>
              <a:latin typeface="Arial"/>
            </a:endParaRPr>
          </a:p>
        </p:txBody>
      </p:sp>
      <p:sp>
        <p:nvSpPr>
          <p:cNvPr id="289" name="Text 4"/>
          <p:cNvSpPr/>
          <p:nvPr/>
        </p:nvSpPr>
        <p:spPr>
          <a:xfrm>
            <a:off x="3520440" y="914400"/>
            <a:ext cx="5394600" cy="914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800" strike="noStrike" u="none">
                <a:solidFill>
                  <a:srgbClr val="ffffff"/>
                </a:solidFill>
                <a:effectLst/>
                <a:uFillTx/>
                <a:latin typeface="Calibri"/>
                <a:ea typeface="Calibri"/>
              </a:rPr>
              <a:t>Static Keyword</a:t>
            </a:r>
            <a:endParaRPr b="0" lang="en-IN" sz="3800" strike="noStrike" u="none">
              <a:solidFill>
                <a:srgbClr val="ffffff"/>
              </a:solidFill>
              <a:effectLst/>
              <a:uFillTx/>
              <a:latin typeface="Arial"/>
            </a:endParaRPr>
          </a:p>
        </p:txBody>
      </p:sp>
      <p:sp>
        <p:nvSpPr>
          <p:cNvPr id="290" name="Text 5"/>
          <p:cNvSpPr/>
          <p:nvPr/>
        </p:nvSpPr>
        <p:spPr>
          <a:xfrm>
            <a:off x="3520440" y="1920240"/>
            <a:ext cx="5394600" cy="411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500" strike="noStrike" u="none">
                <a:solidFill>
                  <a:srgbClr val="9cd5ff"/>
                </a:solidFill>
                <a:effectLst/>
                <a:uFillTx/>
                <a:latin typeface="Calibri"/>
                <a:ea typeface="Calibri"/>
              </a:rPr>
              <a:t>Belongs to the class — not any single object</a:t>
            </a:r>
            <a:endParaRPr b="0" lang="en-IN" sz="1500" strike="noStrike" u="none">
              <a:solidFill>
                <a:srgbClr val="ffffff"/>
              </a:solidFill>
              <a:effectLst/>
              <a:uFillTx/>
              <a:latin typeface="Arial"/>
            </a:endParaRPr>
          </a:p>
        </p:txBody>
      </p:sp>
      <p:sp>
        <p:nvSpPr>
          <p:cNvPr id="291" name="Shape 6"/>
          <p:cNvSpPr/>
          <p:nvPr/>
        </p:nvSpPr>
        <p:spPr>
          <a:xfrm>
            <a:off x="3520440" y="2514600"/>
            <a:ext cx="5394600" cy="1371240"/>
          </a:xfrm>
          <a:prstGeom prst="rect">
            <a:avLst/>
          </a:prstGeom>
          <a:solidFill>
            <a:srgbClr val="1e3d52"/>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92" name="Shape 7"/>
          <p:cNvSpPr/>
          <p:nvPr/>
        </p:nvSpPr>
        <p:spPr>
          <a:xfrm>
            <a:off x="3520440" y="2514600"/>
            <a:ext cx="72720" cy="1371240"/>
          </a:xfrm>
          <a:prstGeom prst="rect">
            <a:avLst/>
          </a:prstGeom>
          <a:solidFill>
            <a:srgbClr val="9cd5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93" name="Text 8"/>
          <p:cNvSpPr/>
          <p:nvPr/>
        </p:nvSpPr>
        <p:spPr>
          <a:xfrm>
            <a:off x="3703320" y="2514600"/>
            <a:ext cx="5138640" cy="1371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350" strike="noStrike" u="none">
                <a:solidFill>
                  <a:srgbClr val="c8dff0"/>
                </a:solidFill>
                <a:effectLst/>
                <a:uFillTx/>
                <a:latin typeface="Calibri"/>
                <a:ea typeface="Calibri"/>
              </a:rPr>
              <a:t>static makes a field or method belong to the class itself rather than to individual objects. You do not need to create an object to use a static member. All objects of the class share the exact same static field.</a:t>
            </a:r>
            <a:endParaRPr b="0" lang="en-IN" sz="135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8f0"/>
        </a:solidFill>
      </p:bgPr>
    </p:bg>
    <p:spTree>
      <p:nvGrpSpPr>
        <p:cNvPr id="1" name=""/>
        <p:cNvGrpSpPr/>
        <p:nvPr/>
      </p:nvGrpSpPr>
      <p:grpSpPr>
        <a:xfrm>
          <a:off x="0" y="0"/>
          <a:ext cx="0" cy="0"/>
          <a:chOff x="0" y="0"/>
          <a:chExt cx="0" cy="0"/>
        </a:xfrm>
      </p:grpSpPr>
      <p:sp>
        <p:nvSpPr>
          <p:cNvPr id="294" name="Shape 0"/>
          <p:cNvSpPr/>
          <p:nvPr/>
        </p:nvSpPr>
        <p:spPr>
          <a:xfrm>
            <a:off x="0" y="0"/>
            <a:ext cx="914364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95" name="Text 1"/>
          <p:cNvSpPr/>
          <p:nvPr/>
        </p:nvSpPr>
        <p:spPr>
          <a:xfrm>
            <a:off x="320040" y="91440"/>
            <a:ext cx="7131960" cy="612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ffffff"/>
                </a:solidFill>
                <a:effectLst/>
                <a:uFillTx/>
                <a:latin typeface="Calibri"/>
                <a:ea typeface="Calibri"/>
              </a:rPr>
              <a:t>static Field, static Method &amp; static Block</a:t>
            </a:r>
            <a:endParaRPr b="0" lang="en-IN" sz="2200" strike="noStrike" u="none">
              <a:solidFill>
                <a:srgbClr val="000000"/>
              </a:solidFill>
              <a:effectLst/>
              <a:uFillTx/>
              <a:latin typeface="Arial"/>
            </a:endParaRPr>
          </a:p>
        </p:txBody>
      </p:sp>
      <p:sp>
        <p:nvSpPr>
          <p:cNvPr id="296" name="Text 2"/>
          <p:cNvSpPr/>
          <p:nvPr/>
        </p:nvSpPr>
        <p:spPr>
          <a:xfrm>
            <a:off x="6858000" y="274320"/>
            <a:ext cx="2148480" cy="255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99" strike="noStrike" u="none">
                <a:solidFill>
                  <a:srgbClr val="9cd5ff"/>
                </a:solidFill>
                <a:effectLst/>
                <a:uFillTx/>
                <a:latin typeface="Calibri"/>
                <a:ea typeface="Calibri"/>
              </a:rPr>
              <a:t>Section 4 — Static</a:t>
            </a:r>
            <a:endParaRPr b="0" lang="en-IN" sz="900" strike="noStrike" u="none">
              <a:solidFill>
                <a:srgbClr val="000000"/>
              </a:solidFill>
              <a:effectLst/>
              <a:uFillTx/>
              <a:latin typeface="Arial"/>
            </a:endParaRPr>
          </a:p>
        </p:txBody>
      </p:sp>
      <p:sp>
        <p:nvSpPr>
          <p:cNvPr id="297" name="Shape 3"/>
          <p:cNvSpPr/>
          <p:nvPr/>
        </p:nvSpPr>
        <p:spPr>
          <a:xfrm>
            <a:off x="182880" y="896040"/>
            <a:ext cx="8777880" cy="776880"/>
          </a:xfrm>
          <a:prstGeom prst="rect">
            <a:avLst/>
          </a:prstGeom>
          <a:solidFill>
            <a:srgbClr val="d6eaf8"/>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98" name="Shape 4"/>
          <p:cNvSpPr/>
          <p:nvPr/>
        </p:nvSpPr>
        <p:spPr>
          <a:xfrm>
            <a:off x="182880" y="896040"/>
            <a:ext cx="6372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99" name="Text 5"/>
          <p:cNvSpPr/>
          <p:nvPr/>
        </p:nvSpPr>
        <p:spPr>
          <a:xfrm>
            <a:off x="320040" y="932760"/>
            <a:ext cx="85035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DEFINITION</a:t>
            </a:r>
            <a:endParaRPr b="0" lang="en-IN" sz="900" strike="noStrike" u="none">
              <a:solidFill>
                <a:srgbClr val="000000"/>
              </a:solidFill>
              <a:effectLst/>
              <a:uFillTx/>
              <a:latin typeface="Arial"/>
            </a:endParaRPr>
          </a:p>
        </p:txBody>
      </p:sp>
      <p:sp>
        <p:nvSpPr>
          <p:cNvPr id="300" name="Text 6"/>
          <p:cNvSpPr/>
          <p:nvPr/>
        </p:nvSpPr>
        <p:spPr>
          <a:xfrm>
            <a:off x="320040" y="1152000"/>
            <a:ext cx="850356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00" strike="noStrike" u="none">
                <a:solidFill>
                  <a:srgbClr val="1e3a4a"/>
                </a:solidFill>
                <a:effectLst/>
                <a:uFillTx/>
                <a:latin typeface="Calibri"/>
                <a:ea typeface="Calibri"/>
              </a:rPr>
              <a:t>The static keyword means the member is associated with the class, not with instances of the class. Static fields hold one shared value. Static methods run without any object. Static blocks run once when the class loads.</a:t>
            </a:r>
            <a:endParaRPr b="0" lang="en-IN" sz="1300" strike="noStrike" u="none">
              <a:solidFill>
                <a:srgbClr val="000000"/>
              </a:solidFill>
              <a:effectLst/>
              <a:uFillTx/>
              <a:latin typeface="Arial"/>
            </a:endParaRPr>
          </a:p>
        </p:txBody>
      </p:sp>
      <p:sp>
        <p:nvSpPr>
          <p:cNvPr id="301" name="Shape 7"/>
          <p:cNvSpPr/>
          <p:nvPr/>
        </p:nvSpPr>
        <p:spPr>
          <a:xfrm>
            <a:off x="182880" y="1801440"/>
            <a:ext cx="4278960" cy="226728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02" name="Shape 8"/>
          <p:cNvSpPr/>
          <p:nvPr/>
        </p:nvSpPr>
        <p:spPr>
          <a:xfrm>
            <a:off x="182880" y="1801440"/>
            <a:ext cx="63720" cy="226728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03" name="Text 9"/>
          <p:cNvSpPr/>
          <p:nvPr/>
        </p:nvSpPr>
        <p:spPr>
          <a:xfrm>
            <a:off x="320040" y="1837800"/>
            <a:ext cx="402300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KEY POINTS</a:t>
            </a:r>
            <a:endParaRPr b="0" lang="en-IN" sz="900" strike="noStrike" u="none">
              <a:solidFill>
                <a:srgbClr val="000000"/>
              </a:solidFill>
              <a:effectLst/>
              <a:uFillTx/>
              <a:latin typeface="Arial"/>
            </a:endParaRPr>
          </a:p>
        </p:txBody>
      </p:sp>
      <p:sp>
        <p:nvSpPr>
          <p:cNvPr id="304" name="Text 10"/>
          <p:cNvSpPr/>
          <p:nvPr/>
        </p:nvSpPr>
        <p:spPr>
          <a:xfrm>
            <a:off x="320040" y="2075760"/>
            <a:ext cx="4023000" cy="193824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static field: one copy shared by all objects of the class</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static method: called as   ClassName.methodName()</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Cannot use this inside a static method</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Static members are loaded before any object is created</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static block: runs once automatically when class first loads</a:t>
            </a:r>
            <a:endParaRPr b="0" lang="en-IN" sz="1250" strike="noStrike" u="none">
              <a:solidFill>
                <a:srgbClr val="000000"/>
              </a:solidFill>
              <a:effectLst/>
              <a:uFillTx/>
              <a:latin typeface="Arial"/>
            </a:endParaRPr>
          </a:p>
          <a:p>
            <a:pPr marL="343080" indent="-343080" defTabSz="914400">
              <a:lnSpc>
                <a:spcPct val="100000"/>
              </a:lnSpc>
              <a:spcAft>
                <a:spcPts val="499"/>
              </a:spcAft>
              <a:buClr>
                <a:srgbClr val="1e3a4a"/>
              </a:buClr>
              <a:buFont typeface="Symbol" charset="2"/>
              <a:buChar char=""/>
            </a:pPr>
            <a:r>
              <a:rPr b="0" lang="en-US" sz="1250" strike="noStrike" u="none">
                <a:solidFill>
                  <a:srgbClr val="1e3a4a"/>
                </a:solidFill>
                <a:effectLst/>
                <a:uFillTx/>
                <a:latin typeface="Calibri"/>
                <a:ea typeface="Calibri"/>
              </a:rPr>
              <a:t>Cannot access non-static (instance) members from a static method directly</a:t>
            </a:r>
            <a:endParaRPr b="0" lang="en-IN" sz="1250" strike="noStrike" u="none">
              <a:solidFill>
                <a:srgbClr val="000000"/>
              </a:solidFill>
              <a:effectLst/>
              <a:uFillTx/>
              <a:latin typeface="Arial"/>
            </a:endParaRPr>
          </a:p>
        </p:txBody>
      </p:sp>
      <p:sp>
        <p:nvSpPr>
          <p:cNvPr id="305" name="Shape 11"/>
          <p:cNvSpPr/>
          <p:nvPr/>
        </p:nvSpPr>
        <p:spPr>
          <a:xfrm>
            <a:off x="4645080" y="1801440"/>
            <a:ext cx="4315680" cy="2267280"/>
          </a:xfrm>
          <a:prstGeom prst="rect">
            <a:avLst/>
          </a:prstGeom>
          <a:solidFill>
            <a:srgbClr val="1e2d3d"/>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06" name="Shape 12"/>
          <p:cNvSpPr/>
          <p:nvPr/>
        </p:nvSpPr>
        <p:spPr>
          <a:xfrm>
            <a:off x="4645080" y="1801440"/>
            <a:ext cx="4315680" cy="273960"/>
          </a:xfrm>
          <a:prstGeom prst="rect">
            <a:avLst/>
          </a:prstGeom>
          <a:solidFill>
            <a:srgbClr val="182634"/>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07" name="Text 13"/>
          <p:cNvSpPr/>
          <p:nvPr/>
        </p:nvSpPr>
        <p:spPr>
          <a:xfrm>
            <a:off x="4754880" y="1801440"/>
            <a:ext cx="41144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201" strike="noStrike" u="none">
                <a:solidFill>
                  <a:srgbClr val="9cd5ff"/>
                </a:solidFill>
                <a:effectLst/>
                <a:uFillTx/>
                <a:latin typeface="Calibri"/>
                <a:ea typeface="Calibri"/>
              </a:rPr>
              <a:t>JAVA CODE</a:t>
            </a:r>
            <a:endParaRPr b="0" lang="en-IN" sz="900" strike="noStrike" u="none">
              <a:solidFill>
                <a:srgbClr val="000000"/>
              </a:solidFill>
              <a:effectLst/>
              <a:uFillTx/>
              <a:latin typeface="Arial"/>
            </a:endParaRPr>
          </a:p>
        </p:txBody>
      </p:sp>
      <p:sp>
        <p:nvSpPr>
          <p:cNvPr id="308" name="Text 14"/>
          <p:cNvSpPr/>
          <p:nvPr/>
        </p:nvSpPr>
        <p:spPr>
          <a:xfrm>
            <a:off x="5870880" y="1980000"/>
            <a:ext cx="2949120" cy="1919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trike="noStrike" u="none">
                <a:solidFill>
                  <a:srgbClr val="c8dff0"/>
                </a:solidFill>
                <a:effectLst/>
                <a:uFillTx/>
                <a:latin typeface="Consolas"/>
                <a:ea typeface="Consolas"/>
              </a:rPr>
              <a:t>class Counter {</a:t>
            </a:r>
            <a:endParaRPr b="0" lang="en-IN" sz="700" strike="noStrike" u="none">
              <a:solidFill>
                <a:srgbClr val="000000"/>
              </a:solidFill>
              <a:effectLst/>
              <a:uFillTx/>
              <a:latin typeface="Arial"/>
            </a:endParaRPr>
          </a:p>
          <a:p>
            <a:pPr defTabSz="914400">
              <a:lnSpc>
                <a:spcPct val="100000"/>
              </a:lnSpc>
              <a:tabLst>
                <a:tab algn="l" pos="0"/>
              </a:tabLst>
            </a:pPr>
            <a:r>
              <a:rPr b="0" lang="en-US" sz="700" strike="noStrike" u="none">
                <a:solidFill>
                  <a:srgbClr val="c8dff0"/>
                </a:solidFill>
                <a:effectLst/>
                <a:uFillTx/>
                <a:latin typeface="Consolas"/>
                <a:ea typeface="Consolas"/>
              </a:rPr>
              <a:t>  static int count = 0; // shared by all</a:t>
            </a:r>
            <a:endParaRPr b="0" lang="en-IN" sz="700" strike="noStrike" u="none">
              <a:solidFill>
                <a:srgbClr val="000000"/>
              </a:solidFill>
              <a:effectLst/>
              <a:uFillTx/>
              <a:latin typeface="Arial"/>
            </a:endParaRPr>
          </a:p>
          <a:p>
            <a:pPr defTabSz="914400">
              <a:lnSpc>
                <a:spcPct val="100000"/>
              </a:lnSpc>
              <a:tabLst>
                <a:tab algn="l" pos="0"/>
              </a:tabLst>
            </a:pPr>
            <a:endParaRPr b="0" lang="en-IN" sz="700" strike="noStrike" u="none">
              <a:solidFill>
                <a:srgbClr val="000000"/>
              </a:solidFill>
              <a:effectLst/>
              <a:uFillTx/>
              <a:latin typeface="Arial"/>
            </a:endParaRPr>
          </a:p>
          <a:p>
            <a:pPr defTabSz="914400">
              <a:lnSpc>
                <a:spcPct val="100000"/>
              </a:lnSpc>
              <a:tabLst>
                <a:tab algn="l" pos="0"/>
              </a:tabLst>
            </a:pPr>
            <a:r>
              <a:rPr b="0" lang="en-US" sz="700" strike="noStrike" u="none">
                <a:solidFill>
                  <a:srgbClr val="c8dff0"/>
                </a:solidFill>
                <a:effectLst/>
                <a:uFillTx/>
                <a:latin typeface="Consolas"/>
                <a:ea typeface="Consolas"/>
              </a:rPr>
              <a:t>  String name;          // each object has its own</a:t>
            </a:r>
            <a:endParaRPr b="0" lang="en-IN" sz="700" strike="noStrike" u="none">
              <a:solidFill>
                <a:srgbClr val="000000"/>
              </a:solidFill>
              <a:effectLst/>
              <a:uFillTx/>
              <a:latin typeface="Arial"/>
            </a:endParaRPr>
          </a:p>
          <a:p>
            <a:pPr defTabSz="914400">
              <a:lnSpc>
                <a:spcPct val="100000"/>
              </a:lnSpc>
              <a:tabLst>
                <a:tab algn="l" pos="0"/>
              </a:tabLst>
            </a:pPr>
            <a:endParaRPr b="0" lang="en-IN" sz="700" strike="noStrike" u="none">
              <a:solidFill>
                <a:srgbClr val="000000"/>
              </a:solidFill>
              <a:effectLst/>
              <a:uFillTx/>
              <a:latin typeface="Arial"/>
            </a:endParaRPr>
          </a:p>
          <a:p>
            <a:pPr defTabSz="914400">
              <a:lnSpc>
                <a:spcPct val="100000"/>
              </a:lnSpc>
              <a:tabLst>
                <a:tab algn="l" pos="0"/>
              </a:tabLst>
            </a:pPr>
            <a:r>
              <a:rPr b="0" lang="en-US" sz="700" strike="noStrike" u="none">
                <a:solidFill>
                  <a:srgbClr val="c8dff0"/>
                </a:solidFill>
                <a:effectLst/>
                <a:uFillTx/>
                <a:latin typeface="Consolas"/>
                <a:ea typeface="Consolas"/>
              </a:rPr>
              <a:t>  // Constructor increments shared count</a:t>
            </a:r>
            <a:endParaRPr b="0" lang="en-IN" sz="700" strike="noStrike" u="none">
              <a:solidFill>
                <a:srgbClr val="000000"/>
              </a:solidFill>
              <a:effectLst/>
              <a:uFillTx/>
              <a:latin typeface="Arial"/>
            </a:endParaRPr>
          </a:p>
          <a:p>
            <a:pPr defTabSz="914400">
              <a:lnSpc>
                <a:spcPct val="100000"/>
              </a:lnSpc>
              <a:tabLst>
                <a:tab algn="l" pos="0"/>
              </a:tabLst>
            </a:pPr>
            <a:r>
              <a:rPr b="0" lang="en-US" sz="700" strike="noStrike" u="none">
                <a:solidFill>
                  <a:srgbClr val="c8dff0"/>
                </a:solidFill>
                <a:effectLst/>
                <a:uFillTx/>
                <a:latin typeface="Consolas"/>
                <a:ea typeface="Consolas"/>
              </a:rPr>
              <a:t>  Counter(String n) {</a:t>
            </a:r>
            <a:endParaRPr b="0" lang="en-IN" sz="700" strike="noStrike" u="none">
              <a:solidFill>
                <a:srgbClr val="000000"/>
              </a:solidFill>
              <a:effectLst/>
              <a:uFillTx/>
              <a:latin typeface="Arial"/>
            </a:endParaRPr>
          </a:p>
          <a:p>
            <a:pPr defTabSz="914400">
              <a:lnSpc>
                <a:spcPct val="100000"/>
              </a:lnSpc>
              <a:tabLst>
                <a:tab algn="l" pos="0"/>
              </a:tabLst>
            </a:pPr>
            <a:r>
              <a:rPr b="0" lang="en-US" sz="700" strike="noStrike" u="none">
                <a:solidFill>
                  <a:srgbClr val="c8dff0"/>
                </a:solidFill>
                <a:effectLst/>
                <a:uFillTx/>
                <a:latin typeface="Consolas"/>
                <a:ea typeface="Consolas"/>
              </a:rPr>
              <a:t>    name = n;</a:t>
            </a:r>
            <a:endParaRPr b="0" lang="en-IN" sz="700" strike="noStrike" u="none">
              <a:solidFill>
                <a:srgbClr val="000000"/>
              </a:solidFill>
              <a:effectLst/>
              <a:uFillTx/>
              <a:latin typeface="Arial"/>
            </a:endParaRPr>
          </a:p>
          <a:p>
            <a:pPr defTabSz="914400">
              <a:lnSpc>
                <a:spcPct val="100000"/>
              </a:lnSpc>
              <a:tabLst>
                <a:tab algn="l" pos="0"/>
              </a:tabLst>
            </a:pPr>
            <a:r>
              <a:rPr b="0" lang="en-US" sz="700" strike="noStrike" u="none">
                <a:solidFill>
                  <a:srgbClr val="c8dff0"/>
                </a:solidFill>
                <a:effectLst/>
                <a:uFillTx/>
                <a:latin typeface="Consolas"/>
                <a:ea typeface="Consolas"/>
              </a:rPr>
              <a:t>    count++;</a:t>
            </a:r>
            <a:endParaRPr b="0" lang="en-IN" sz="700" strike="noStrike" u="none">
              <a:solidFill>
                <a:srgbClr val="000000"/>
              </a:solidFill>
              <a:effectLst/>
              <a:uFillTx/>
              <a:latin typeface="Arial"/>
            </a:endParaRPr>
          </a:p>
          <a:p>
            <a:pPr defTabSz="914400">
              <a:lnSpc>
                <a:spcPct val="100000"/>
              </a:lnSpc>
              <a:tabLst>
                <a:tab algn="l" pos="0"/>
              </a:tabLst>
            </a:pPr>
            <a:r>
              <a:rPr b="0" lang="en-US" sz="700" strike="noStrike" u="none">
                <a:solidFill>
                  <a:srgbClr val="c8dff0"/>
                </a:solidFill>
                <a:effectLst/>
                <a:uFillTx/>
                <a:latin typeface="Consolas"/>
                <a:ea typeface="Consolas"/>
              </a:rPr>
              <a:t>  }</a:t>
            </a:r>
            <a:endParaRPr b="0" lang="en-IN" sz="700" strike="noStrike" u="none">
              <a:solidFill>
                <a:srgbClr val="000000"/>
              </a:solidFill>
              <a:effectLst/>
              <a:uFillTx/>
              <a:latin typeface="Arial"/>
            </a:endParaRPr>
          </a:p>
          <a:p>
            <a:pPr defTabSz="914400">
              <a:lnSpc>
                <a:spcPct val="100000"/>
              </a:lnSpc>
              <a:tabLst>
                <a:tab algn="l" pos="0"/>
              </a:tabLst>
            </a:pPr>
            <a:endParaRPr b="0" lang="en-IN" sz="700" strike="noStrike" u="none">
              <a:solidFill>
                <a:srgbClr val="000000"/>
              </a:solidFill>
              <a:effectLst/>
              <a:uFillTx/>
              <a:latin typeface="Arial"/>
            </a:endParaRPr>
          </a:p>
          <a:p>
            <a:pPr defTabSz="914400">
              <a:lnSpc>
                <a:spcPct val="100000"/>
              </a:lnSpc>
              <a:tabLst>
                <a:tab algn="l" pos="0"/>
              </a:tabLst>
            </a:pPr>
            <a:r>
              <a:rPr b="0" lang="en-US" sz="700" strike="noStrike" u="none">
                <a:solidFill>
                  <a:srgbClr val="c8dff0"/>
                </a:solidFill>
                <a:effectLst/>
                <a:uFillTx/>
                <a:latin typeface="Consolas"/>
                <a:ea typeface="Consolas"/>
              </a:rPr>
              <a:t>  // Static method — no object needed to call this</a:t>
            </a:r>
            <a:endParaRPr b="0" lang="en-IN" sz="700" strike="noStrike" u="none">
              <a:solidFill>
                <a:srgbClr val="000000"/>
              </a:solidFill>
              <a:effectLst/>
              <a:uFillTx/>
              <a:latin typeface="Arial"/>
            </a:endParaRPr>
          </a:p>
          <a:p>
            <a:pPr defTabSz="914400">
              <a:lnSpc>
                <a:spcPct val="100000"/>
              </a:lnSpc>
              <a:tabLst>
                <a:tab algn="l" pos="0"/>
              </a:tabLst>
            </a:pPr>
            <a:r>
              <a:rPr b="0" lang="en-US" sz="700" strike="noStrike" u="none">
                <a:solidFill>
                  <a:srgbClr val="c8dff0"/>
                </a:solidFill>
                <a:effectLst/>
                <a:uFillTx/>
                <a:latin typeface="Consolas"/>
                <a:ea typeface="Consolas"/>
              </a:rPr>
              <a:t>  static void showCount() {</a:t>
            </a:r>
            <a:endParaRPr b="0" lang="en-IN" sz="700" strike="noStrike" u="none">
              <a:solidFill>
                <a:srgbClr val="000000"/>
              </a:solidFill>
              <a:effectLst/>
              <a:uFillTx/>
              <a:latin typeface="Arial"/>
            </a:endParaRPr>
          </a:p>
          <a:p>
            <a:pPr defTabSz="914400">
              <a:lnSpc>
                <a:spcPct val="100000"/>
              </a:lnSpc>
              <a:tabLst>
                <a:tab algn="l" pos="0"/>
              </a:tabLst>
            </a:pPr>
            <a:r>
              <a:rPr b="0" lang="en-US" sz="700" strike="noStrike" u="none">
                <a:solidFill>
                  <a:srgbClr val="c8dff0"/>
                </a:solidFill>
                <a:effectLst/>
                <a:uFillTx/>
                <a:latin typeface="Consolas"/>
                <a:ea typeface="Consolas"/>
              </a:rPr>
              <a:t>    System.out.println("Total: " + count);</a:t>
            </a:r>
            <a:endParaRPr b="0" lang="en-IN" sz="700" strike="noStrike" u="none">
              <a:solidFill>
                <a:srgbClr val="000000"/>
              </a:solidFill>
              <a:effectLst/>
              <a:uFillTx/>
              <a:latin typeface="Arial"/>
            </a:endParaRPr>
          </a:p>
          <a:p>
            <a:pPr defTabSz="914400">
              <a:lnSpc>
                <a:spcPct val="100000"/>
              </a:lnSpc>
              <a:tabLst>
                <a:tab algn="l" pos="0"/>
              </a:tabLst>
            </a:pPr>
            <a:r>
              <a:rPr b="0" lang="en-US" sz="700" strike="noStrike" u="none">
                <a:solidFill>
                  <a:srgbClr val="c8dff0"/>
                </a:solidFill>
                <a:effectLst/>
                <a:uFillTx/>
                <a:latin typeface="Consolas"/>
                <a:ea typeface="Consolas"/>
              </a:rPr>
              <a:t>  }</a:t>
            </a:r>
            <a:endParaRPr b="0" lang="en-IN" sz="700" strike="noStrike" u="none">
              <a:solidFill>
                <a:srgbClr val="000000"/>
              </a:solidFill>
              <a:effectLst/>
              <a:uFillTx/>
              <a:latin typeface="Arial"/>
            </a:endParaRPr>
          </a:p>
          <a:p>
            <a:pPr defTabSz="914400">
              <a:lnSpc>
                <a:spcPct val="100000"/>
              </a:lnSpc>
              <a:tabLst>
                <a:tab algn="l" pos="0"/>
              </a:tabLst>
            </a:pPr>
            <a:r>
              <a:rPr b="0" lang="en-US" sz="700" strike="noStrike" u="none">
                <a:solidFill>
                  <a:srgbClr val="c8dff0"/>
                </a:solidFill>
                <a:effectLst/>
                <a:uFillTx/>
                <a:latin typeface="Consolas"/>
                <a:ea typeface="Consolas"/>
              </a:rPr>
              <a:t>}</a:t>
            </a:r>
            <a:endParaRPr b="0" lang="en-IN" sz="700" strike="noStrike" u="none">
              <a:solidFill>
                <a:srgbClr val="000000"/>
              </a:solidFill>
              <a:effectLst/>
              <a:uFillTx/>
              <a:latin typeface="Arial"/>
            </a:endParaRPr>
          </a:p>
          <a:p>
            <a:pPr defTabSz="914400">
              <a:lnSpc>
                <a:spcPct val="100000"/>
              </a:lnSpc>
              <a:tabLst>
                <a:tab algn="l" pos="0"/>
              </a:tabLst>
            </a:pPr>
            <a:endParaRPr b="0" lang="en-IN" sz="700" strike="noStrike" u="none">
              <a:solidFill>
                <a:srgbClr val="000000"/>
              </a:solidFill>
              <a:effectLst/>
              <a:uFillTx/>
              <a:latin typeface="Arial"/>
            </a:endParaRPr>
          </a:p>
          <a:p>
            <a:pPr defTabSz="914400">
              <a:lnSpc>
                <a:spcPct val="100000"/>
              </a:lnSpc>
              <a:tabLst>
                <a:tab algn="l" pos="0"/>
              </a:tabLst>
            </a:pPr>
            <a:r>
              <a:rPr b="0" lang="en-US" sz="700" strike="noStrike" u="none">
                <a:solidFill>
                  <a:srgbClr val="c8dff0"/>
                </a:solidFill>
                <a:effectLst/>
                <a:uFillTx/>
                <a:latin typeface="Consolas"/>
                <a:ea typeface="Consolas"/>
              </a:rPr>
              <a:t>Counter c1 = new Counter("Suresh");</a:t>
            </a:r>
            <a:endParaRPr b="0" lang="en-IN" sz="700" strike="noStrike" u="none">
              <a:solidFill>
                <a:srgbClr val="000000"/>
              </a:solidFill>
              <a:effectLst/>
              <a:uFillTx/>
              <a:latin typeface="Arial"/>
            </a:endParaRPr>
          </a:p>
          <a:p>
            <a:pPr defTabSz="914400">
              <a:lnSpc>
                <a:spcPct val="100000"/>
              </a:lnSpc>
              <a:tabLst>
                <a:tab algn="l" pos="0"/>
              </a:tabLst>
            </a:pPr>
            <a:r>
              <a:rPr b="0" lang="en-US" sz="700" strike="noStrike" u="none">
                <a:solidFill>
                  <a:srgbClr val="c8dff0"/>
                </a:solidFill>
                <a:effectLst/>
                <a:uFillTx/>
                <a:latin typeface="Consolas"/>
                <a:ea typeface="Consolas"/>
              </a:rPr>
              <a:t>Counter c2 = new Counter("Ramesh");</a:t>
            </a:r>
            <a:endParaRPr b="0" lang="en-IN" sz="700" strike="noStrike" u="none">
              <a:solidFill>
                <a:srgbClr val="000000"/>
              </a:solidFill>
              <a:effectLst/>
              <a:uFillTx/>
              <a:latin typeface="Arial"/>
            </a:endParaRPr>
          </a:p>
          <a:p>
            <a:pPr defTabSz="914400">
              <a:lnSpc>
                <a:spcPct val="100000"/>
              </a:lnSpc>
              <a:tabLst>
                <a:tab algn="l" pos="0"/>
              </a:tabLst>
            </a:pPr>
            <a:r>
              <a:rPr b="0" lang="en-US" sz="700" strike="noStrike" u="none">
                <a:solidFill>
                  <a:srgbClr val="c8dff0"/>
                </a:solidFill>
                <a:effectLst/>
                <a:uFillTx/>
                <a:latin typeface="Consolas"/>
                <a:ea typeface="Consolas"/>
              </a:rPr>
              <a:t>Counter.showCount();   // prints: Total: 2</a:t>
            </a:r>
            <a:endParaRPr b="0" lang="en-IN" sz="700" strike="noStrike" u="none">
              <a:solidFill>
                <a:srgbClr val="000000"/>
              </a:solidFill>
              <a:effectLst/>
              <a:uFillTx/>
              <a:latin typeface="Arial"/>
            </a:endParaRPr>
          </a:p>
        </p:txBody>
      </p:sp>
      <p:sp>
        <p:nvSpPr>
          <p:cNvPr id="309" name="Shape 15"/>
          <p:cNvSpPr/>
          <p:nvPr/>
        </p:nvSpPr>
        <p:spPr>
          <a:xfrm>
            <a:off x="182880" y="4206240"/>
            <a:ext cx="8777880" cy="749520"/>
          </a:xfrm>
          <a:prstGeom prst="rect">
            <a:avLst/>
          </a:prstGeom>
          <a:solidFill>
            <a:srgbClr val="e3f2f5"/>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10" name="Shape 16"/>
          <p:cNvSpPr/>
          <p:nvPr/>
        </p:nvSpPr>
        <p:spPr>
          <a:xfrm>
            <a:off x="182880" y="4206240"/>
            <a:ext cx="63720" cy="749520"/>
          </a:xfrm>
          <a:prstGeom prst="rect">
            <a:avLst/>
          </a:prstGeom>
          <a:solidFill>
            <a:srgbClr val="2a6e7a"/>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11" name="Text 17"/>
          <p:cNvSpPr/>
          <p:nvPr/>
        </p:nvSpPr>
        <p:spPr>
          <a:xfrm>
            <a:off x="320040" y="4242960"/>
            <a:ext cx="85035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2a6e7a"/>
                </a:solidFill>
                <a:effectLst/>
                <a:uFillTx/>
                <a:latin typeface="Calibri"/>
                <a:ea typeface="Calibri"/>
              </a:rPr>
              <a:t>REAL-WORLD ANALOGY</a:t>
            </a:r>
            <a:endParaRPr b="0" lang="en-IN" sz="900" strike="noStrike" u="none">
              <a:solidFill>
                <a:srgbClr val="000000"/>
              </a:solidFill>
              <a:effectLst/>
              <a:uFillTx/>
              <a:latin typeface="Arial"/>
            </a:endParaRPr>
          </a:p>
        </p:txBody>
      </p:sp>
      <p:sp>
        <p:nvSpPr>
          <p:cNvPr id="312" name="Text 18"/>
          <p:cNvSpPr/>
          <p:nvPr/>
        </p:nvSpPr>
        <p:spPr>
          <a:xfrm>
            <a:off x="320040" y="4453200"/>
            <a:ext cx="8503560" cy="438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50" strike="noStrike" u="none">
                <a:solidFill>
                  <a:srgbClr val="1e3a4a"/>
                </a:solidFill>
                <a:effectLst/>
                <a:uFillTx/>
                <a:latin typeface="Calibri"/>
                <a:ea typeface="Calibri"/>
              </a:rPr>
              <a:t>In a Pune coaching institute, each batch has its own strength count that applies to the entire class — not to any individual student. That shared headcount is a static field. The institute's helpline number is a static method — same for all, no registration needed to call it.</a:t>
            </a:r>
            <a:endParaRPr b="0" lang="en-IN" sz="12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3" name="Shape 0"/>
          <p:cNvSpPr/>
          <p:nvPr/>
        </p:nvSpPr>
        <p:spPr>
          <a:xfrm>
            <a:off x="0" y="0"/>
            <a:ext cx="914364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14" name="Text 1"/>
          <p:cNvSpPr/>
          <p:nvPr/>
        </p:nvSpPr>
        <p:spPr>
          <a:xfrm>
            <a:off x="320040" y="91440"/>
            <a:ext cx="7131960" cy="612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ffffff"/>
                </a:solidFill>
                <a:effectLst/>
                <a:uFillTx/>
                <a:latin typeface="Calibri"/>
                <a:ea typeface="Calibri"/>
              </a:rPr>
              <a:t>Static vs Instance — Memory Layout</a:t>
            </a:r>
            <a:endParaRPr b="0" lang="en-IN" sz="2200" strike="noStrike" u="none">
              <a:solidFill>
                <a:srgbClr val="000000"/>
              </a:solidFill>
              <a:effectLst/>
              <a:uFillTx/>
              <a:latin typeface="Arial"/>
            </a:endParaRPr>
          </a:p>
        </p:txBody>
      </p:sp>
      <p:sp>
        <p:nvSpPr>
          <p:cNvPr id="315" name="Text 2"/>
          <p:cNvSpPr/>
          <p:nvPr/>
        </p:nvSpPr>
        <p:spPr>
          <a:xfrm>
            <a:off x="6858000" y="274320"/>
            <a:ext cx="2148480" cy="255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00" spc="99" strike="noStrike" u="none">
                <a:solidFill>
                  <a:srgbClr val="9cd5ff"/>
                </a:solidFill>
                <a:effectLst/>
                <a:uFillTx/>
                <a:latin typeface="Calibri"/>
                <a:ea typeface="Calibri"/>
              </a:rPr>
              <a:t>Section 4 — Static</a:t>
            </a:r>
            <a:endParaRPr b="0" lang="en-IN" sz="900" strike="noStrike" u="none">
              <a:solidFill>
                <a:srgbClr val="000000"/>
              </a:solidFill>
              <a:effectLst/>
              <a:uFillTx/>
              <a:latin typeface="Arial"/>
            </a:endParaRPr>
          </a:p>
        </p:txBody>
      </p:sp>
      <p:sp>
        <p:nvSpPr>
          <p:cNvPr id="316" name="Shape 3"/>
          <p:cNvSpPr/>
          <p:nvPr/>
        </p:nvSpPr>
        <p:spPr>
          <a:xfrm>
            <a:off x="201240" y="960120"/>
            <a:ext cx="8741160" cy="1170000"/>
          </a:xfrm>
          <a:prstGeom prst="rect">
            <a:avLst/>
          </a:prstGeom>
          <a:solidFill>
            <a:srgbClr val="355872"/>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17" name="Shape 4"/>
          <p:cNvSpPr/>
          <p:nvPr/>
        </p:nvSpPr>
        <p:spPr>
          <a:xfrm>
            <a:off x="201240" y="960120"/>
            <a:ext cx="8741160" cy="273960"/>
          </a:xfrm>
          <a:prstGeom prst="rect">
            <a:avLst/>
          </a:prstGeom>
          <a:solidFill>
            <a:srgbClr val="2a4e66"/>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18" name="Text 5"/>
          <p:cNvSpPr/>
          <p:nvPr/>
        </p:nvSpPr>
        <p:spPr>
          <a:xfrm>
            <a:off x="292680" y="960120"/>
            <a:ext cx="850356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99" strike="noStrike" u="none">
                <a:solidFill>
                  <a:srgbClr val="9cd5ff"/>
                </a:solidFill>
                <a:effectLst/>
                <a:uFillTx/>
                <a:latin typeface="Calibri"/>
                <a:ea typeface="Calibri"/>
              </a:rPr>
              <a:t>CLASS / METHOD AREA  —  Shared memory, loaded once when the class is first used</a:t>
            </a:r>
            <a:endParaRPr b="0" lang="en-IN" sz="1000" strike="noStrike" u="none">
              <a:solidFill>
                <a:srgbClr val="000000"/>
              </a:solidFill>
              <a:effectLst/>
              <a:uFillTx/>
              <a:latin typeface="Arial"/>
            </a:endParaRPr>
          </a:p>
        </p:txBody>
      </p:sp>
      <p:sp>
        <p:nvSpPr>
          <p:cNvPr id="319" name="Shape 6"/>
          <p:cNvSpPr/>
          <p:nvPr/>
        </p:nvSpPr>
        <p:spPr>
          <a:xfrm>
            <a:off x="384120" y="1298520"/>
            <a:ext cx="3291480" cy="685440"/>
          </a:xfrm>
          <a:prstGeom prst="rect">
            <a:avLst/>
          </a:prstGeom>
          <a:solidFill>
            <a:srgbClr val="1e3d52"/>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20" name="Text 7"/>
          <p:cNvSpPr/>
          <p:nvPr/>
        </p:nvSpPr>
        <p:spPr>
          <a:xfrm>
            <a:off x="475560" y="1298520"/>
            <a:ext cx="3108600" cy="685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trike="noStrike" u="none">
                <a:solidFill>
                  <a:srgbClr val="9cd5ff"/>
                </a:solidFill>
                <a:effectLst/>
                <a:uFillTx/>
                <a:latin typeface="Consolas"/>
                <a:ea typeface="Consolas"/>
              </a:rPr>
              <a:t>static int count = 2</a:t>
            </a:r>
            <a:endParaRPr b="0" lang="en-IN" sz="1400" strike="noStrike" u="none">
              <a:solidFill>
                <a:srgbClr val="000000"/>
              </a:solidFill>
              <a:effectLst/>
              <a:uFillTx/>
              <a:latin typeface="Arial"/>
            </a:endParaRPr>
          </a:p>
        </p:txBody>
      </p:sp>
      <p:sp>
        <p:nvSpPr>
          <p:cNvPr id="321" name="Text 8"/>
          <p:cNvSpPr/>
          <p:nvPr/>
        </p:nvSpPr>
        <p:spPr>
          <a:xfrm>
            <a:off x="3822120" y="1417320"/>
            <a:ext cx="50288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200" strike="noStrike" u="none">
                <a:solidFill>
                  <a:srgbClr val="c8dff0"/>
                </a:solidFill>
                <a:effectLst/>
                <a:uFillTx/>
                <a:latin typeface="Calibri"/>
                <a:ea typeface="Calibri"/>
              </a:rPr>
              <a:t>← one value shared by ALL objects</a:t>
            </a:r>
            <a:endParaRPr b="0" lang="en-IN" sz="1200" strike="noStrike" u="none">
              <a:solidFill>
                <a:srgbClr val="000000"/>
              </a:solidFill>
              <a:effectLst/>
              <a:uFillTx/>
              <a:latin typeface="Arial"/>
            </a:endParaRPr>
          </a:p>
        </p:txBody>
      </p:sp>
      <p:sp>
        <p:nvSpPr>
          <p:cNvPr id="322" name="Text 9"/>
          <p:cNvSpPr/>
          <p:nvPr/>
        </p:nvSpPr>
        <p:spPr>
          <a:xfrm>
            <a:off x="3822120" y="1710000"/>
            <a:ext cx="502884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7aaace"/>
                </a:solidFill>
                <a:effectLst/>
                <a:uFillTx/>
                <a:latin typeface="Consolas"/>
                <a:ea typeface="Consolas"/>
              </a:rPr>
              <a:t>Counter.showCount()  — no object needed</a:t>
            </a:r>
            <a:endParaRPr b="0" lang="en-IN" sz="1100" strike="noStrike" u="none">
              <a:solidFill>
                <a:srgbClr val="000000"/>
              </a:solidFill>
              <a:effectLst/>
              <a:uFillTx/>
              <a:latin typeface="Arial"/>
            </a:endParaRPr>
          </a:p>
        </p:txBody>
      </p:sp>
      <p:sp>
        <p:nvSpPr>
          <p:cNvPr id="323" name="Shape 10"/>
          <p:cNvSpPr/>
          <p:nvPr/>
        </p:nvSpPr>
        <p:spPr>
          <a:xfrm>
            <a:off x="201240" y="2286000"/>
            <a:ext cx="8741160" cy="2633040"/>
          </a:xfrm>
          <a:prstGeom prst="rect">
            <a:avLst/>
          </a:prstGeom>
          <a:solidFill>
            <a:srgbClr val="eef0ea"/>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24" name="Shape 11"/>
          <p:cNvSpPr/>
          <p:nvPr/>
        </p:nvSpPr>
        <p:spPr>
          <a:xfrm>
            <a:off x="201240" y="2286000"/>
            <a:ext cx="8741160" cy="25560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25" name="Text 12"/>
          <p:cNvSpPr/>
          <p:nvPr/>
        </p:nvSpPr>
        <p:spPr>
          <a:xfrm>
            <a:off x="292680" y="2286000"/>
            <a:ext cx="850356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99" strike="noStrike" u="none">
                <a:solidFill>
                  <a:srgbClr val="ffffff"/>
                </a:solidFill>
                <a:effectLst/>
                <a:uFillTx/>
                <a:latin typeface="Calibri"/>
                <a:ea typeface="Calibri"/>
              </a:rPr>
              <a:t>HEAP AREA  —  Each object has its own separate copy of instance fields</a:t>
            </a:r>
            <a:endParaRPr b="0" lang="en-IN" sz="1000" strike="noStrike" u="none">
              <a:solidFill>
                <a:srgbClr val="000000"/>
              </a:solidFill>
              <a:effectLst/>
              <a:uFillTx/>
              <a:latin typeface="Arial"/>
            </a:endParaRPr>
          </a:p>
        </p:txBody>
      </p:sp>
      <p:sp>
        <p:nvSpPr>
          <p:cNvPr id="326" name="Shape 13"/>
          <p:cNvSpPr/>
          <p:nvPr/>
        </p:nvSpPr>
        <p:spPr>
          <a:xfrm>
            <a:off x="384120" y="2670120"/>
            <a:ext cx="4096080" cy="201132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27" name="Shape 14"/>
          <p:cNvSpPr/>
          <p:nvPr/>
        </p:nvSpPr>
        <p:spPr>
          <a:xfrm>
            <a:off x="384120" y="2670120"/>
            <a:ext cx="4096080" cy="3196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28" name="Text 15"/>
          <p:cNvSpPr/>
          <p:nvPr/>
        </p:nvSpPr>
        <p:spPr>
          <a:xfrm>
            <a:off x="475560" y="2670120"/>
            <a:ext cx="384012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trike="noStrike" u="none">
                <a:solidFill>
                  <a:srgbClr val="ffffff"/>
                </a:solidFill>
                <a:effectLst/>
                <a:uFillTx/>
                <a:latin typeface="Consolas"/>
                <a:ea typeface="Consolas"/>
              </a:rPr>
              <a:t>c1  (Counter)</a:t>
            </a:r>
            <a:endParaRPr b="0" lang="en-IN" sz="1200" strike="noStrike" u="none">
              <a:solidFill>
                <a:srgbClr val="000000"/>
              </a:solidFill>
              <a:effectLst/>
              <a:uFillTx/>
              <a:latin typeface="Arial"/>
            </a:endParaRPr>
          </a:p>
        </p:txBody>
      </p:sp>
      <p:sp>
        <p:nvSpPr>
          <p:cNvPr id="329" name="Shape 16"/>
          <p:cNvSpPr/>
          <p:nvPr/>
        </p:nvSpPr>
        <p:spPr>
          <a:xfrm>
            <a:off x="521280" y="3072240"/>
            <a:ext cx="3767040" cy="402120"/>
          </a:xfrm>
          <a:prstGeom prst="rect">
            <a:avLst/>
          </a:prstGeom>
          <a:solidFill>
            <a:srgbClr val="d6eaf8"/>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30" name="Text 17"/>
          <p:cNvSpPr/>
          <p:nvPr/>
        </p:nvSpPr>
        <p:spPr>
          <a:xfrm>
            <a:off x="585360" y="3072240"/>
            <a:ext cx="3638880" cy="402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1e3a4a"/>
                </a:solidFill>
                <a:effectLst/>
                <a:uFillTx/>
                <a:latin typeface="Consolas"/>
                <a:ea typeface="Consolas"/>
              </a:rPr>
              <a:t>name = "Suresh"</a:t>
            </a:r>
            <a:endParaRPr b="0" lang="en-IN" sz="1100" strike="noStrike" u="none">
              <a:solidFill>
                <a:srgbClr val="000000"/>
              </a:solidFill>
              <a:effectLst/>
              <a:uFillTx/>
              <a:latin typeface="Arial"/>
            </a:endParaRPr>
          </a:p>
        </p:txBody>
      </p:sp>
      <p:sp>
        <p:nvSpPr>
          <p:cNvPr id="331" name="Shape 18"/>
          <p:cNvSpPr/>
          <p:nvPr/>
        </p:nvSpPr>
        <p:spPr>
          <a:xfrm>
            <a:off x="521280" y="3547800"/>
            <a:ext cx="3767040" cy="402120"/>
          </a:xfrm>
          <a:prstGeom prst="rect">
            <a:avLst/>
          </a:prstGeom>
          <a:solidFill>
            <a:srgbClr val="d6eaf8"/>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32" name="Text 19"/>
          <p:cNvSpPr/>
          <p:nvPr/>
        </p:nvSpPr>
        <p:spPr>
          <a:xfrm>
            <a:off x="585360" y="3547800"/>
            <a:ext cx="3638880" cy="402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1e3a4a"/>
                </a:solidFill>
                <a:effectLst/>
                <a:uFillTx/>
                <a:latin typeface="Consolas"/>
                <a:ea typeface="Consolas"/>
              </a:rPr>
              <a:t>// no own 'count'</a:t>
            </a:r>
            <a:endParaRPr b="0" lang="en-IN" sz="1100" strike="noStrike" u="none">
              <a:solidFill>
                <a:srgbClr val="000000"/>
              </a:solidFill>
              <a:effectLst/>
              <a:uFillTx/>
              <a:latin typeface="Arial"/>
            </a:endParaRPr>
          </a:p>
        </p:txBody>
      </p:sp>
      <p:sp>
        <p:nvSpPr>
          <p:cNvPr id="333" name="Shape 20"/>
          <p:cNvSpPr/>
          <p:nvPr/>
        </p:nvSpPr>
        <p:spPr>
          <a:xfrm>
            <a:off x="4663440" y="2670120"/>
            <a:ext cx="4096080" cy="201132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34" name="Shape 21"/>
          <p:cNvSpPr/>
          <p:nvPr/>
        </p:nvSpPr>
        <p:spPr>
          <a:xfrm>
            <a:off x="4663440" y="2670120"/>
            <a:ext cx="4096080" cy="3196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35" name="Text 22"/>
          <p:cNvSpPr/>
          <p:nvPr/>
        </p:nvSpPr>
        <p:spPr>
          <a:xfrm>
            <a:off x="4754880" y="2670120"/>
            <a:ext cx="384012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trike="noStrike" u="none">
                <a:solidFill>
                  <a:srgbClr val="ffffff"/>
                </a:solidFill>
                <a:effectLst/>
                <a:uFillTx/>
                <a:latin typeface="Consolas"/>
                <a:ea typeface="Consolas"/>
              </a:rPr>
              <a:t>c2  (Counter)</a:t>
            </a:r>
            <a:endParaRPr b="0" lang="en-IN" sz="1200" strike="noStrike" u="none">
              <a:solidFill>
                <a:srgbClr val="000000"/>
              </a:solidFill>
              <a:effectLst/>
              <a:uFillTx/>
              <a:latin typeface="Arial"/>
            </a:endParaRPr>
          </a:p>
        </p:txBody>
      </p:sp>
      <p:sp>
        <p:nvSpPr>
          <p:cNvPr id="336" name="Shape 23"/>
          <p:cNvSpPr/>
          <p:nvPr/>
        </p:nvSpPr>
        <p:spPr>
          <a:xfrm>
            <a:off x="4800600" y="3072240"/>
            <a:ext cx="3767040" cy="402120"/>
          </a:xfrm>
          <a:prstGeom prst="rect">
            <a:avLst/>
          </a:prstGeom>
          <a:solidFill>
            <a:srgbClr val="d6eaf8"/>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37" name="Text 24"/>
          <p:cNvSpPr/>
          <p:nvPr/>
        </p:nvSpPr>
        <p:spPr>
          <a:xfrm>
            <a:off x="4864680" y="3072240"/>
            <a:ext cx="3638880" cy="402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1e3a4a"/>
                </a:solidFill>
                <a:effectLst/>
                <a:uFillTx/>
                <a:latin typeface="Consolas"/>
                <a:ea typeface="Consolas"/>
              </a:rPr>
              <a:t>name = "Ramesh"</a:t>
            </a:r>
            <a:endParaRPr b="0" lang="en-IN" sz="1100" strike="noStrike" u="none">
              <a:solidFill>
                <a:srgbClr val="000000"/>
              </a:solidFill>
              <a:effectLst/>
              <a:uFillTx/>
              <a:latin typeface="Arial"/>
            </a:endParaRPr>
          </a:p>
        </p:txBody>
      </p:sp>
      <p:sp>
        <p:nvSpPr>
          <p:cNvPr id="338" name="Shape 25"/>
          <p:cNvSpPr/>
          <p:nvPr/>
        </p:nvSpPr>
        <p:spPr>
          <a:xfrm>
            <a:off x="4800600" y="3547800"/>
            <a:ext cx="3767040" cy="402120"/>
          </a:xfrm>
          <a:prstGeom prst="rect">
            <a:avLst/>
          </a:prstGeom>
          <a:solidFill>
            <a:srgbClr val="d6eaf8"/>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39" name="Text 26"/>
          <p:cNvSpPr/>
          <p:nvPr/>
        </p:nvSpPr>
        <p:spPr>
          <a:xfrm>
            <a:off x="4864680" y="3547800"/>
            <a:ext cx="3638880" cy="402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1e3a4a"/>
                </a:solidFill>
                <a:effectLst/>
                <a:uFillTx/>
                <a:latin typeface="Consolas"/>
                <a:ea typeface="Consolas"/>
              </a:rPr>
              <a:t>// no own 'count'</a:t>
            </a:r>
            <a:endParaRPr b="0" lang="en-IN" sz="1100" strike="noStrike" u="none">
              <a:solidFill>
                <a:srgbClr val="000000"/>
              </a:solidFill>
              <a:effectLst/>
              <a:uFillTx/>
              <a:latin typeface="Arial"/>
            </a:endParaRPr>
          </a:p>
        </p:txBody>
      </p:sp>
      <p:sp>
        <p:nvSpPr>
          <p:cNvPr id="340" name="Shape 27"/>
          <p:cNvSpPr/>
          <p:nvPr/>
        </p:nvSpPr>
        <p:spPr>
          <a:xfrm flipV="1">
            <a:off x="1554480" y="2084760"/>
            <a:ext cx="360" cy="201240"/>
          </a:xfrm>
          <a:prstGeom prst="line">
            <a:avLst/>
          </a:prstGeom>
          <a:ln w="19050">
            <a:solidFill>
              <a:srgbClr val="9cd5ff"/>
            </a:solidFill>
            <a:prstDash val="dash"/>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41" name="Shape 28"/>
          <p:cNvSpPr/>
          <p:nvPr/>
        </p:nvSpPr>
        <p:spPr>
          <a:xfrm flipV="1">
            <a:off x="6720840" y="2084760"/>
            <a:ext cx="360" cy="201240"/>
          </a:xfrm>
          <a:prstGeom prst="line">
            <a:avLst/>
          </a:prstGeom>
          <a:ln w="19050">
            <a:solidFill>
              <a:srgbClr val="9cd5ff"/>
            </a:solidFill>
            <a:prstDash val="dash"/>
            <a:round/>
          </a:ln>
        </p:spPr>
        <p:style>
          <a:lnRef idx="0"/>
          <a:fillRef idx="0"/>
          <a:effectRef idx="0"/>
          <a:fontRef idx="minor"/>
        </p:style>
        <p:txBody>
          <a:bodyPr lIns="90000" rIns="90000" tIns="45000" bIns="45000" anchor="t" anchorCtr="1">
            <a:noAutofit/>
          </a:bodyPr>
          <a:p>
            <a:endParaRPr b="0" lang="en-IN" sz="1800" strike="noStrike" u="none">
              <a:solidFill>
                <a:srgbClr val="000000"/>
              </a:solidFill>
              <a:effectLst/>
              <a:uFillTx/>
              <a:latin typeface="Arial"/>
            </a:endParaRPr>
          </a:p>
        </p:txBody>
      </p:sp>
      <p:sp>
        <p:nvSpPr>
          <p:cNvPr id="342" name="Text 29"/>
          <p:cNvSpPr/>
          <p:nvPr/>
        </p:nvSpPr>
        <p:spPr>
          <a:xfrm>
            <a:off x="2011680" y="1938600"/>
            <a:ext cx="5028840" cy="237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1000" strike="noStrike" u="none">
                <a:solidFill>
                  <a:srgbClr val="9cd5ff"/>
                </a:solidFill>
                <a:effectLst/>
                <a:uFillTx/>
                <a:latin typeface="Calibri"/>
                <a:ea typeface="Calibri"/>
              </a:rPr>
              <a:t>Both objects reference the shared static count</a:t>
            </a:r>
            <a:endParaRPr b="0" lang="en-IN"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55872"/>
        </a:solidFill>
      </p:bgPr>
    </p:bg>
    <p:spTree>
      <p:nvGrpSpPr>
        <p:cNvPr id="1" name=""/>
        <p:cNvGrpSpPr/>
        <p:nvPr/>
      </p:nvGrpSpPr>
      <p:grpSpPr>
        <a:xfrm>
          <a:off x="0" y="0"/>
          <a:ext cx="0" cy="0"/>
          <a:chOff x="0" y="0"/>
          <a:chExt cx="0" cy="0"/>
        </a:xfrm>
      </p:grpSpPr>
      <p:sp>
        <p:nvSpPr>
          <p:cNvPr id="343" name="Shape 0"/>
          <p:cNvSpPr/>
          <p:nvPr/>
        </p:nvSpPr>
        <p:spPr>
          <a:xfrm>
            <a:off x="0" y="0"/>
            <a:ext cx="3291480" cy="5143320"/>
          </a:xfrm>
          <a:prstGeom prst="rect">
            <a:avLst/>
          </a:prstGeom>
          <a:solidFill>
            <a:srgbClr val="2a4e66"/>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44" name="Shape 1"/>
          <p:cNvSpPr/>
          <p:nvPr/>
        </p:nvSpPr>
        <p:spPr>
          <a:xfrm>
            <a:off x="0" y="0"/>
            <a:ext cx="164160" cy="5143320"/>
          </a:xfrm>
          <a:prstGeom prst="rect">
            <a:avLst/>
          </a:prstGeom>
          <a:solidFill>
            <a:srgbClr val="9cd5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45" name="Text 2"/>
          <p:cNvSpPr/>
          <p:nvPr/>
        </p:nvSpPr>
        <p:spPr>
          <a:xfrm>
            <a:off x="228600" y="1371600"/>
            <a:ext cx="2925720" cy="146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0" strike="noStrike" u="none">
                <a:solidFill>
                  <a:srgbClr val="1e3d52"/>
                </a:solidFill>
                <a:effectLst/>
                <a:uFillTx/>
                <a:latin typeface="Calibri"/>
                <a:ea typeface="Calibri"/>
              </a:rPr>
              <a:t>05</a:t>
            </a:r>
            <a:endParaRPr b="0" lang="en-IN" sz="11000" strike="noStrike" u="none">
              <a:solidFill>
                <a:srgbClr val="ffffff"/>
              </a:solidFill>
              <a:effectLst/>
              <a:uFillTx/>
              <a:latin typeface="Arial"/>
            </a:endParaRPr>
          </a:p>
        </p:txBody>
      </p:sp>
      <p:sp>
        <p:nvSpPr>
          <p:cNvPr id="346" name="Text 3"/>
          <p:cNvSpPr/>
          <p:nvPr/>
        </p:nvSpPr>
        <p:spPr>
          <a:xfrm>
            <a:off x="228600" y="320040"/>
            <a:ext cx="2925720" cy="255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00" spc="400" strike="noStrike" u="none">
                <a:solidFill>
                  <a:srgbClr val="9cd5ff"/>
                </a:solidFill>
                <a:effectLst/>
                <a:uFillTx/>
                <a:latin typeface="Calibri"/>
                <a:ea typeface="Calibri"/>
              </a:rPr>
              <a:t>SECTION</a:t>
            </a:r>
            <a:endParaRPr b="0" lang="en-IN" sz="1000" strike="noStrike" u="none">
              <a:solidFill>
                <a:srgbClr val="ffffff"/>
              </a:solidFill>
              <a:effectLst/>
              <a:uFillTx/>
              <a:latin typeface="Arial"/>
            </a:endParaRPr>
          </a:p>
        </p:txBody>
      </p:sp>
      <p:sp>
        <p:nvSpPr>
          <p:cNvPr id="347" name="Text 4"/>
          <p:cNvSpPr/>
          <p:nvPr/>
        </p:nvSpPr>
        <p:spPr>
          <a:xfrm>
            <a:off x="3520440" y="914400"/>
            <a:ext cx="5394600" cy="914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800" strike="noStrike" u="none">
                <a:solidFill>
                  <a:srgbClr val="ffffff"/>
                </a:solidFill>
                <a:effectLst/>
                <a:uFillTx/>
                <a:latin typeface="Calibri"/>
                <a:ea typeface="Calibri"/>
              </a:rPr>
              <a:t>Practice Problems</a:t>
            </a:r>
            <a:endParaRPr b="0" lang="en-IN" sz="3800" strike="noStrike" u="none">
              <a:solidFill>
                <a:srgbClr val="ffffff"/>
              </a:solidFill>
              <a:effectLst/>
              <a:uFillTx/>
              <a:latin typeface="Arial"/>
            </a:endParaRPr>
          </a:p>
        </p:txBody>
      </p:sp>
      <p:sp>
        <p:nvSpPr>
          <p:cNvPr id="348" name="Text 5"/>
          <p:cNvSpPr/>
          <p:nvPr/>
        </p:nvSpPr>
        <p:spPr>
          <a:xfrm>
            <a:off x="3520440" y="1920240"/>
            <a:ext cx="5394600" cy="411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500" strike="noStrike" u="none">
                <a:solidFill>
                  <a:srgbClr val="9cd5ff"/>
                </a:solidFill>
                <a:effectLst/>
                <a:uFillTx/>
                <a:latin typeface="Calibri"/>
                <a:ea typeface="Calibri"/>
              </a:rPr>
              <a:t>Apply all five concepts — write it yourself</a:t>
            </a:r>
            <a:endParaRPr b="0" lang="en-IN" sz="1500" strike="noStrike" u="none">
              <a:solidFill>
                <a:srgbClr val="ffffff"/>
              </a:solidFill>
              <a:effectLst/>
              <a:uFillTx/>
              <a:latin typeface="Arial"/>
            </a:endParaRPr>
          </a:p>
        </p:txBody>
      </p:sp>
      <p:sp>
        <p:nvSpPr>
          <p:cNvPr id="349" name="Shape 6"/>
          <p:cNvSpPr/>
          <p:nvPr/>
        </p:nvSpPr>
        <p:spPr>
          <a:xfrm>
            <a:off x="3520440" y="2514600"/>
            <a:ext cx="5394600" cy="1371240"/>
          </a:xfrm>
          <a:prstGeom prst="rect">
            <a:avLst/>
          </a:prstGeom>
          <a:solidFill>
            <a:srgbClr val="1e3d52"/>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50" name="Shape 7"/>
          <p:cNvSpPr/>
          <p:nvPr/>
        </p:nvSpPr>
        <p:spPr>
          <a:xfrm>
            <a:off x="3520440" y="2514600"/>
            <a:ext cx="72720" cy="1371240"/>
          </a:xfrm>
          <a:prstGeom prst="rect">
            <a:avLst/>
          </a:prstGeom>
          <a:solidFill>
            <a:srgbClr val="9cd5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51" name="Text 8"/>
          <p:cNvSpPr/>
          <p:nvPr/>
        </p:nvSpPr>
        <p:spPr>
          <a:xfrm>
            <a:off x="3703320" y="2514600"/>
            <a:ext cx="5138640" cy="1371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350" strike="noStrike" u="none">
                <a:solidFill>
                  <a:srgbClr val="c8dff0"/>
                </a:solidFill>
                <a:effectLst/>
                <a:uFillTx/>
                <a:latin typeface="Calibri"/>
                <a:ea typeface="Calibri"/>
              </a:rPr>
              <a:t>Each problem below is set in a real Indian context. Read the scenario carefully, plan the class design on paper first, then write the complete Java code.</a:t>
            </a:r>
            <a:endParaRPr b="0" lang="en-IN" sz="135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8f0"/>
        </a:solidFill>
      </p:bgPr>
    </p:bg>
    <p:spTree>
      <p:nvGrpSpPr>
        <p:cNvPr id="1" name=""/>
        <p:cNvGrpSpPr/>
        <p:nvPr/>
      </p:nvGrpSpPr>
      <p:grpSpPr>
        <a:xfrm>
          <a:off x="0" y="0"/>
          <a:ext cx="0" cy="0"/>
          <a:chOff x="0" y="0"/>
          <a:chExt cx="0" cy="0"/>
        </a:xfrm>
      </p:grpSpPr>
      <p:sp>
        <p:nvSpPr>
          <p:cNvPr id="352" name="Shape 0"/>
          <p:cNvSpPr/>
          <p:nvPr/>
        </p:nvSpPr>
        <p:spPr>
          <a:xfrm>
            <a:off x="0" y="0"/>
            <a:ext cx="914364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53" name="Shape 1"/>
          <p:cNvSpPr/>
          <p:nvPr/>
        </p:nvSpPr>
        <p:spPr>
          <a:xfrm>
            <a:off x="201240" y="109800"/>
            <a:ext cx="493560" cy="493560"/>
          </a:xfrm>
          <a:prstGeom prst="rect">
            <a:avLst/>
          </a:prstGeom>
          <a:solidFill>
            <a:srgbClr val="9cd5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54" name="Text 2"/>
          <p:cNvSpPr/>
          <p:nvPr/>
        </p:nvSpPr>
        <p:spPr>
          <a:xfrm>
            <a:off x="201240" y="109800"/>
            <a:ext cx="493560" cy="493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700" strike="noStrike" u="none">
                <a:solidFill>
                  <a:srgbClr val="355872"/>
                </a:solidFill>
                <a:effectLst/>
                <a:uFillTx/>
                <a:latin typeface="Calibri"/>
                <a:ea typeface="Calibri"/>
              </a:rPr>
              <a:t>1</a:t>
            </a:r>
            <a:endParaRPr b="0" lang="en-IN" sz="1700" strike="noStrike" u="none">
              <a:solidFill>
                <a:srgbClr val="000000"/>
              </a:solidFill>
              <a:effectLst/>
              <a:uFillTx/>
              <a:latin typeface="Arial"/>
            </a:endParaRPr>
          </a:p>
        </p:txBody>
      </p:sp>
      <p:sp>
        <p:nvSpPr>
          <p:cNvPr id="355" name="Text 3"/>
          <p:cNvSpPr/>
          <p:nvPr/>
        </p:nvSpPr>
        <p:spPr>
          <a:xfrm>
            <a:off x="822960" y="91440"/>
            <a:ext cx="768060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trike="noStrike" u="none">
                <a:solidFill>
                  <a:srgbClr val="ffffff"/>
                </a:solidFill>
                <a:effectLst/>
                <a:uFillTx/>
                <a:latin typeface="Calibri"/>
                <a:ea typeface="Calibri"/>
              </a:rPr>
              <a:t>Student Report Card System</a:t>
            </a:r>
            <a:endParaRPr b="0" lang="en-IN" sz="1800" strike="noStrike" u="none">
              <a:solidFill>
                <a:srgbClr val="000000"/>
              </a:solidFill>
              <a:effectLst/>
              <a:uFillTx/>
              <a:latin typeface="Arial"/>
            </a:endParaRPr>
          </a:p>
        </p:txBody>
      </p:sp>
      <p:sp>
        <p:nvSpPr>
          <p:cNvPr id="356" name="Text 4"/>
          <p:cNvSpPr/>
          <p:nvPr/>
        </p:nvSpPr>
        <p:spPr>
          <a:xfrm>
            <a:off x="822960" y="521280"/>
            <a:ext cx="548604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trike="noStrike" u="none">
                <a:solidFill>
                  <a:srgbClr val="9cd5ff"/>
                </a:solidFill>
                <a:effectLst/>
                <a:uFillTx/>
                <a:latin typeface="Calibri"/>
                <a:ea typeface="Calibri"/>
              </a:rPr>
              <a:t>Problem 1 of 8  —  Java OOP Basics</a:t>
            </a:r>
            <a:endParaRPr b="0" lang="en-IN" sz="900" strike="noStrike" u="none">
              <a:solidFill>
                <a:srgbClr val="000000"/>
              </a:solidFill>
              <a:effectLst/>
              <a:uFillTx/>
              <a:latin typeface="Arial"/>
            </a:endParaRPr>
          </a:p>
        </p:txBody>
      </p:sp>
      <p:sp>
        <p:nvSpPr>
          <p:cNvPr id="357" name="Shape 5"/>
          <p:cNvSpPr/>
          <p:nvPr/>
        </p:nvSpPr>
        <p:spPr>
          <a:xfrm>
            <a:off x="182880" y="896040"/>
            <a:ext cx="5074560" cy="138960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58" name="Shape 6"/>
          <p:cNvSpPr/>
          <p:nvPr/>
        </p:nvSpPr>
        <p:spPr>
          <a:xfrm>
            <a:off x="182880" y="896040"/>
            <a:ext cx="63720" cy="138960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59" name="Text 7"/>
          <p:cNvSpPr/>
          <p:nvPr/>
        </p:nvSpPr>
        <p:spPr>
          <a:xfrm>
            <a:off x="320040" y="932760"/>
            <a:ext cx="48459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SCENARIO</a:t>
            </a:r>
            <a:endParaRPr b="0" lang="en-IN" sz="900" strike="noStrike" u="none">
              <a:solidFill>
                <a:srgbClr val="000000"/>
              </a:solidFill>
              <a:effectLst/>
              <a:uFillTx/>
              <a:latin typeface="Arial"/>
            </a:endParaRPr>
          </a:p>
        </p:txBody>
      </p:sp>
      <p:sp>
        <p:nvSpPr>
          <p:cNvPr id="360" name="Text 8"/>
          <p:cNvSpPr/>
          <p:nvPr/>
        </p:nvSpPr>
        <p:spPr>
          <a:xfrm>
            <a:off x="320040" y="1161360"/>
            <a:ext cx="4845960" cy="1051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00" strike="noStrike" u="none">
                <a:solidFill>
                  <a:srgbClr val="1e3a4a"/>
                </a:solidFill>
                <a:effectLst/>
                <a:uFillTx/>
                <a:latin typeface="Calibri"/>
                <a:ea typeface="Calibri"/>
              </a:rPr>
              <a:t>Suresh's school in Pune wants to digitalise student records. Each student has a name, roll number, and marks in three subjects: Maths, Science, and English. The system must calculate total marks and print a formatted report card.</a:t>
            </a:r>
            <a:endParaRPr b="0" lang="en-IN" sz="1200" strike="noStrike" u="none">
              <a:solidFill>
                <a:srgbClr val="000000"/>
              </a:solidFill>
              <a:effectLst/>
              <a:uFillTx/>
              <a:latin typeface="Arial"/>
            </a:endParaRPr>
          </a:p>
        </p:txBody>
      </p:sp>
      <p:sp>
        <p:nvSpPr>
          <p:cNvPr id="361" name="Shape 9"/>
          <p:cNvSpPr/>
          <p:nvPr/>
        </p:nvSpPr>
        <p:spPr>
          <a:xfrm>
            <a:off x="182880" y="2395800"/>
            <a:ext cx="5074560" cy="1718640"/>
          </a:xfrm>
          <a:prstGeom prst="rect">
            <a:avLst/>
          </a:prstGeom>
          <a:solidFill>
            <a:srgbClr val="d6eaf8"/>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62" name="Shape 10"/>
          <p:cNvSpPr/>
          <p:nvPr/>
        </p:nvSpPr>
        <p:spPr>
          <a:xfrm>
            <a:off x="182880" y="2395800"/>
            <a:ext cx="63720" cy="171864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63" name="Text 11"/>
          <p:cNvSpPr/>
          <p:nvPr/>
        </p:nvSpPr>
        <p:spPr>
          <a:xfrm>
            <a:off x="320040" y="2432160"/>
            <a:ext cx="48459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YOUR TASK</a:t>
            </a:r>
            <a:endParaRPr b="0" lang="en-IN" sz="900" strike="noStrike" u="none">
              <a:solidFill>
                <a:srgbClr val="000000"/>
              </a:solidFill>
              <a:effectLst/>
              <a:uFillTx/>
              <a:latin typeface="Arial"/>
            </a:endParaRPr>
          </a:p>
        </p:txBody>
      </p:sp>
      <p:sp>
        <p:nvSpPr>
          <p:cNvPr id="364" name="Text 12"/>
          <p:cNvSpPr/>
          <p:nvPr/>
        </p:nvSpPr>
        <p:spPr>
          <a:xfrm>
            <a:off x="320040" y="2660760"/>
            <a:ext cx="4845960" cy="13896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Create class Student with fields: name, rollNo, maths, science, english</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a parameterized constructor to initialise all five fields</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method int calcTotal() that returns the sum of all three subjects</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method void printReportCard() that displays all details including total</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In main(), create two Student objects (Suresh and Ramesh) and print both report cards</a:t>
            </a:r>
            <a:endParaRPr b="0" lang="en-IN" sz="1150" strike="noStrike" u="none">
              <a:solidFill>
                <a:srgbClr val="000000"/>
              </a:solidFill>
              <a:effectLst/>
              <a:uFillTx/>
              <a:latin typeface="Arial"/>
            </a:endParaRPr>
          </a:p>
        </p:txBody>
      </p:sp>
      <p:sp>
        <p:nvSpPr>
          <p:cNvPr id="365" name="Shape 13"/>
          <p:cNvSpPr/>
          <p:nvPr/>
        </p:nvSpPr>
        <p:spPr>
          <a:xfrm>
            <a:off x="5440680" y="896040"/>
            <a:ext cx="3520080" cy="1389600"/>
          </a:xfrm>
          <a:prstGeom prst="rect">
            <a:avLst/>
          </a:prstGeom>
          <a:solidFill>
            <a:srgbClr val="f7f8f0"/>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66" name="Shape 14"/>
          <p:cNvSpPr/>
          <p:nvPr/>
        </p:nvSpPr>
        <p:spPr>
          <a:xfrm>
            <a:off x="5440680" y="896040"/>
            <a:ext cx="63720" cy="1389600"/>
          </a:xfrm>
          <a:prstGeom prst="rect">
            <a:avLst/>
          </a:prstGeom>
          <a:solidFill>
            <a:srgbClr val="9cd5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67" name="Text 15"/>
          <p:cNvSpPr/>
          <p:nvPr/>
        </p:nvSpPr>
        <p:spPr>
          <a:xfrm>
            <a:off x="5577840" y="932760"/>
            <a:ext cx="329148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HINTS</a:t>
            </a:r>
            <a:endParaRPr b="0" lang="en-IN" sz="900" strike="noStrike" u="none">
              <a:solidFill>
                <a:srgbClr val="000000"/>
              </a:solidFill>
              <a:effectLst/>
              <a:uFillTx/>
              <a:latin typeface="Arial"/>
            </a:endParaRPr>
          </a:p>
        </p:txBody>
      </p:sp>
      <p:sp>
        <p:nvSpPr>
          <p:cNvPr id="368" name="Text 16"/>
          <p:cNvSpPr/>
          <p:nvPr/>
        </p:nvSpPr>
        <p:spPr>
          <a:xfrm>
            <a:off x="5577840" y="1161360"/>
            <a:ext cx="3291480" cy="10512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Use a parameterized constructor — not a default one</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calcTotal() must return an int, not print it</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printReportCard() should call calcTotal() internally</a:t>
            </a:r>
            <a:endParaRPr b="0" lang="en-IN" sz="1150" strike="noStrike" u="none">
              <a:solidFill>
                <a:srgbClr val="000000"/>
              </a:solidFill>
              <a:effectLst/>
              <a:uFillTx/>
              <a:latin typeface="Arial"/>
            </a:endParaRPr>
          </a:p>
        </p:txBody>
      </p:sp>
      <p:sp>
        <p:nvSpPr>
          <p:cNvPr id="369" name="Shape 17"/>
          <p:cNvSpPr/>
          <p:nvPr/>
        </p:nvSpPr>
        <p:spPr>
          <a:xfrm>
            <a:off x="5440680" y="2395800"/>
            <a:ext cx="3520080" cy="91404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70" name="Shape 18"/>
          <p:cNvSpPr/>
          <p:nvPr/>
        </p:nvSpPr>
        <p:spPr>
          <a:xfrm>
            <a:off x="5440680" y="2395800"/>
            <a:ext cx="63720" cy="91404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71" name="Text 19"/>
          <p:cNvSpPr/>
          <p:nvPr/>
        </p:nvSpPr>
        <p:spPr>
          <a:xfrm>
            <a:off x="5577840" y="2432160"/>
            <a:ext cx="329148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CONCEPTS USED</a:t>
            </a:r>
            <a:endParaRPr b="0" lang="en-IN" sz="900" strike="noStrike" u="none">
              <a:solidFill>
                <a:srgbClr val="000000"/>
              </a:solidFill>
              <a:effectLst/>
              <a:uFillTx/>
              <a:latin typeface="Arial"/>
            </a:endParaRPr>
          </a:p>
        </p:txBody>
      </p:sp>
      <p:sp>
        <p:nvSpPr>
          <p:cNvPr id="372" name="Text 20"/>
          <p:cNvSpPr/>
          <p:nvPr/>
        </p:nvSpPr>
        <p:spPr>
          <a:xfrm>
            <a:off x="5577840" y="2660760"/>
            <a:ext cx="3291480" cy="5940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Class</a:t>
            </a:r>
            <a:endParaRPr b="0" lang="en-IN" sz="1150" strike="noStrike" u="none">
              <a:solidFill>
                <a:srgbClr val="000000"/>
              </a:solidFill>
              <a:effectLst/>
              <a:uFillTx/>
              <a:latin typeface="Arial"/>
            </a:endParaRPr>
          </a:p>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Object</a:t>
            </a:r>
            <a:endParaRPr b="0" lang="en-IN" sz="1150" strike="noStrike" u="none">
              <a:solidFill>
                <a:srgbClr val="000000"/>
              </a:solidFill>
              <a:effectLst/>
              <a:uFillTx/>
              <a:latin typeface="Arial"/>
            </a:endParaRPr>
          </a:p>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Parameterized Constructor</a:t>
            </a:r>
            <a:endParaRPr b="0" lang="en-IN" sz="1150" strike="noStrike" u="none">
              <a:solidFill>
                <a:srgbClr val="000000"/>
              </a:solidFill>
              <a:effectLst/>
              <a:uFillTx/>
              <a:latin typeface="Arial"/>
            </a:endParaRPr>
          </a:p>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Instance Methods</a:t>
            </a:r>
            <a:endParaRPr b="0" lang="en-IN" sz="1150" strike="noStrike" u="none">
              <a:solidFill>
                <a:srgbClr val="000000"/>
              </a:solidFill>
              <a:effectLst/>
              <a:uFillTx/>
              <a:latin typeface="Arial"/>
            </a:endParaRPr>
          </a:p>
        </p:txBody>
      </p:sp>
      <p:sp>
        <p:nvSpPr>
          <p:cNvPr id="373" name="Shape 21"/>
          <p:cNvSpPr/>
          <p:nvPr/>
        </p:nvSpPr>
        <p:spPr>
          <a:xfrm>
            <a:off x="5440680" y="3410640"/>
            <a:ext cx="3520080" cy="703800"/>
          </a:xfrm>
          <a:prstGeom prst="rect">
            <a:avLst/>
          </a:prstGeom>
          <a:solidFill>
            <a:srgbClr val="e3f2f5"/>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74" name="Shape 22"/>
          <p:cNvSpPr/>
          <p:nvPr/>
        </p:nvSpPr>
        <p:spPr>
          <a:xfrm>
            <a:off x="5440680" y="3410640"/>
            <a:ext cx="63720" cy="703800"/>
          </a:xfrm>
          <a:prstGeom prst="rect">
            <a:avLst/>
          </a:prstGeom>
          <a:solidFill>
            <a:srgbClr val="2a6e7a"/>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75" name="Text 23"/>
          <p:cNvSpPr/>
          <p:nvPr/>
        </p:nvSpPr>
        <p:spPr>
          <a:xfrm>
            <a:off x="5577840" y="3447360"/>
            <a:ext cx="329148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2a6e7a"/>
                </a:solidFill>
                <a:effectLst/>
                <a:uFillTx/>
                <a:latin typeface="Calibri"/>
                <a:ea typeface="Calibri"/>
              </a:rPr>
              <a:t>INDIA CONTEXT</a:t>
            </a:r>
            <a:endParaRPr b="0" lang="en-IN" sz="900" strike="noStrike" u="none">
              <a:solidFill>
                <a:srgbClr val="000000"/>
              </a:solidFill>
              <a:effectLst/>
              <a:uFillTx/>
              <a:latin typeface="Arial"/>
            </a:endParaRPr>
          </a:p>
        </p:txBody>
      </p:sp>
      <p:sp>
        <p:nvSpPr>
          <p:cNvPr id="376" name="Text 24"/>
          <p:cNvSpPr/>
          <p:nvPr/>
        </p:nvSpPr>
        <p:spPr>
          <a:xfrm>
            <a:off x="5577840" y="3639240"/>
            <a:ext cx="3291480" cy="420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1e3a4a"/>
                </a:solidFill>
                <a:effectLst/>
                <a:uFillTx/>
                <a:latin typeface="Calibri"/>
                <a:ea typeface="Calibri"/>
              </a:rPr>
              <a:t>Suresh (rollNo 101) and Ramesh (rollNo 102) — Pune school</a:t>
            </a:r>
            <a:endParaRPr b="0" lang="en-IN" sz="1100" strike="noStrike" u="none">
              <a:solidFill>
                <a:srgbClr val="000000"/>
              </a:solidFill>
              <a:effectLst/>
              <a:uFillTx/>
              <a:latin typeface="Arial"/>
            </a:endParaRPr>
          </a:p>
        </p:txBody>
      </p:sp>
      <p:sp>
        <p:nvSpPr>
          <p:cNvPr id="377" name="Shape 25"/>
          <p:cNvSpPr/>
          <p:nvPr/>
        </p:nvSpPr>
        <p:spPr>
          <a:xfrm>
            <a:off x="182880" y="4233600"/>
            <a:ext cx="8777880" cy="703800"/>
          </a:xfrm>
          <a:prstGeom prst="rect">
            <a:avLst/>
          </a:prstGeom>
          <a:solidFill>
            <a:srgbClr val="1e2d3d"/>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78" name="Text 26"/>
          <p:cNvSpPr/>
          <p:nvPr/>
        </p:nvSpPr>
        <p:spPr>
          <a:xfrm>
            <a:off x="292680" y="4233600"/>
            <a:ext cx="8549280" cy="703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250" strike="noStrike" u="none">
                <a:solidFill>
                  <a:srgbClr val="9cd5ff"/>
                </a:solidFill>
                <a:effectLst/>
                <a:uFillTx/>
                <a:latin typeface="Consolas"/>
                <a:ea typeface="Consolas"/>
              </a:rPr>
              <a:t>// Write your Java solution here — implement during the class session</a:t>
            </a:r>
            <a:endParaRPr b="0" lang="en-IN" sz="12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8f0"/>
        </a:solidFill>
      </p:bgPr>
    </p:bg>
    <p:spTree>
      <p:nvGrpSpPr>
        <p:cNvPr id="1" name=""/>
        <p:cNvGrpSpPr/>
        <p:nvPr/>
      </p:nvGrpSpPr>
      <p:grpSpPr>
        <a:xfrm>
          <a:off x="0" y="0"/>
          <a:ext cx="0" cy="0"/>
          <a:chOff x="0" y="0"/>
          <a:chExt cx="0" cy="0"/>
        </a:xfrm>
      </p:grpSpPr>
      <p:sp>
        <p:nvSpPr>
          <p:cNvPr id="379" name="Shape 0"/>
          <p:cNvSpPr/>
          <p:nvPr/>
        </p:nvSpPr>
        <p:spPr>
          <a:xfrm>
            <a:off x="0" y="0"/>
            <a:ext cx="914364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80" name="Shape 1"/>
          <p:cNvSpPr/>
          <p:nvPr/>
        </p:nvSpPr>
        <p:spPr>
          <a:xfrm>
            <a:off x="201240" y="109800"/>
            <a:ext cx="493560" cy="493560"/>
          </a:xfrm>
          <a:prstGeom prst="rect">
            <a:avLst/>
          </a:prstGeom>
          <a:solidFill>
            <a:srgbClr val="9cd5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81" name="Text 2"/>
          <p:cNvSpPr/>
          <p:nvPr/>
        </p:nvSpPr>
        <p:spPr>
          <a:xfrm>
            <a:off x="201240" y="109800"/>
            <a:ext cx="493560" cy="493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700" strike="noStrike" u="none">
                <a:solidFill>
                  <a:srgbClr val="355872"/>
                </a:solidFill>
                <a:effectLst/>
                <a:uFillTx/>
                <a:latin typeface="Calibri"/>
                <a:ea typeface="Calibri"/>
              </a:rPr>
              <a:t>2</a:t>
            </a:r>
            <a:endParaRPr b="0" lang="en-IN" sz="1700" strike="noStrike" u="none">
              <a:solidFill>
                <a:srgbClr val="000000"/>
              </a:solidFill>
              <a:effectLst/>
              <a:uFillTx/>
              <a:latin typeface="Arial"/>
            </a:endParaRPr>
          </a:p>
        </p:txBody>
      </p:sp>
      <p:sp>
        <p:nvSpPr>
          <p:cNvPr id="382" name="Text 3"/>
          <p:cNvSpPr/>
          <p:nvPr/>
        </p:nvSpPr>
        <p:spPr>
          <a:xfrm>
            <a:off x="822960" y="91440"/>
            <a:ext cx="768060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trike="noStrike" u="none">
                <a:solidFill>
                  <a:srgbClr val="ffffff"/>
                </a:solidFill>
                <a:effectLst/>
                <a:uFillTx/>
                <a:latin typeface="Calibri"/>
                <a:ea typeface="Calibri"/>
              </a:rPr>
              <a:t>Bank Account — Encapsulation</a:t>
            </a:r>
            <a:endParaRPr b="0" lang="en-IN" sz="1800" strike="noStrike" u="none">
              <a:solidFill>
                <a:srgbClr val="000000"/>
              </a:solidFill>
              <a:effectLst/>
              <a:uFillTx/>
              <a:latin typeface="Arial"/>
            </a:endParaRPr>
          </a:p>
        </p:txBody>
      </p:sp>
      <p:sp>
        <p:nvSpPr>
          <p:cNvPr id="383" name="Text 4"/>
          <p:cNvSpPr/>
          <p:nvPr/>
        </p:nvSpPr>
        <p:spPr>
          <a:xfrm>
            <a:off x="822960" y="521280"/>
            <a:ext cx="548604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trike="noStrike" u="none">
                <a:solidFill>
                  <a:srgbClr val="9cd5ff"/>
                </a:solidFill>
                <a:effectLst/>
                <a:uFillTx/>
                <a:latin typeface="Calibri"/>
                <a:ea typeface="Calibri"/>
              </a:rPr>
              <a:t>Problem 2 of 8  —  Java OOP Basics</a:t>
            </a:r>
            <a:endParaRPr b="0" lang="en-IN" sz="900" strike="noStrike" u="none">
              <a:solidFill>
                <a:srgbClr val="000000"/>
              </a:solidFill>
              <a:effectLst/>
              <a:uFillTx/>
              <a:latin typeface="Arial"/>
            </a:endParaRPr>
          </a:p>
        </p:txBody>
      </p:sp>
      <p:sp>
        <p:nvSpPr>
          <p:cNvPr id="384" name="Shape 5"/>
          <p:cNvSpPr/>
          <p:nvPr/>
        </p:nvSpPr>
        <p:spPr>
          <a:xfrm>
            <a:off x="182880" y="896040"/>
            <a:ext cx="5074560" cy="138960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85" name="Shape 6"/>
          <p:cNvSpPr/>
          <p:nvPr/>
        </p:nvSpPr>
        <p:spPr>
          <a:xfrm>
            <a:off x="182880" y="896040"/>
            <a:ext cx="63720" cy="138960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86" name="Text 7"/>
          <p:cNvSpPr/>
          <p:nvPr/>
        </p:nvSpPr>
        <p:spPr>
          <a:xfrm>
            <a:off x="320040" y="932760"/>
            <a:ext cx="48459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SCENARIO</a:t>
            </a:r>
            <a:endParaRPr b="0" lang="en-IN" sz="900" strike="noStrike" u="none">
              <a:solidFill>
                <a:srgbClr val="000000"/>
              </a:solidFill>
              <a:effectLst/>
              <a:uFillTx/>
              <a:latin typeface="Arial"/>
            </a:endParaRPr>
          </a:p>
        </p:txBody>
      </p:sp>
      <p:sp>
        <p:nvSpPr>
          <p:cNvPr id="387" name="Text 8"/>
          <p:cNvSpPr/>
          <p:nvPr/>
        </p:nvSpPr>
        <p:spPr>
          <a:xfrm>
            <a:off x="320040" y="1161360"/>
            <a:ext cx="4845960" cy="1051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00" strike="noStrike" u="none">
                <a:solidFill>
                  <a:srgbClr val="1e3a4a"/>
                </a:solidFill>
                <a:effectLst/>
                <a:uFillTx/>
                <a:latin typeface="Calibri"/>
                <a:ea typeface="Calibri"/>
              </a:rPr>
              <a:t>A bank in Chennai wants to model savings accounts. The balance must never be directly readable or changeable from outside the class. All access must go through official deposit and withdraw methods with proper validation.</a:t>
            </a:r>
            <a:endParaRPr b="0" lang="en-IN" sz="1200" strike="noStrike" u="none">
              <a:solidFill>
                <a:srgbClr val="000000"/>
              </a:solidFill>
              <a:effectLst/>
              <a:uFillTx/>
              <a:latin typeface="Arial"/>
            </a:endParaRPr>
          </a:p>
        </p:txBody>
      </p:sp>
      <p:sp>
        <p:nvSpPr>
          <p:cNvPr id="388" name="Shape 9"/>
          <p:cNvSpPr/>
          <p:nvPr/>
        </p:nvSpPr>
        <p:spPr>
          <a:xfrm>
            <a:off x="182880" y="2395800"/>
            <a:ext cx="5074560" cy="1718640"/>
          </a:xfrm>
          <a:prstGeom prst="rect">
            <a:avLst/>
          </a:prstGeom>
          <a:solidFill>
            <a:srgbClr val="d6eaf8"/>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89" name="Shape 10"/>
          <p:cNvSpPr/>
          <p:nvPr/>
        </p:nvSpPr>
        <p:spPr>
          <a:xfrm>
            <a:off x="182880" y="2395800"/>
            <a:ext cx="63720" cy="171864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90" name="Text 11"/>
          <p:cNvSpPr/>
          <p:nvPr/>
        </p:nvSpPr>
        <p:spPr>
          <a:xfrm>
            <a:off x="320040" y="2432160"/>
            <a:ext cx="48459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YOUR TASK</a:t>
            </a:r>
            <a:endParaRPr b="0" lang="en-IN" sz="900" strike="noStrike" u="none">
              <a:solidFill>
                <a:srgbClr val="000000"/>
              </a:solidFill>
              <a:effectLst/>
              <a:uFillTx/>
              <a:latin typeface="Arial"/>
            </a:endParaRPr>
          </a:p>
        </p:txBody>
      </p:sp>
      <p:sp>
        <p:nvSpPr>
          <p:cNvPr id="391" name="Text 12"/>
          <p:cNvSpPr/>
          <p:nvPr/>
        </p:nvSpPr>
        <p:spPr>
          <a:xfrm>
            <a:off x="320040" y="2660760"/>
            <a:ext cx="4845960" cy="13896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Create class BankAccount with private fields: accountHolder, accountNo, balance</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a parameterized constructor: set accountHolder and accountNo; balance starts at 0</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public void deposit(double amt): add amt only if amt &gt; 0</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public void withdraw(double amt): subtract only if balance &gt;= amt, else print 'Insufficient funds'</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public double getBalance() — the only way to read balance</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In main(), create 2 accounts, do transactions, print final balances</a:t>
            </a:r>
            <a:endParaRPr b="0" lang="en-IN" sz="1150" strike="noStrike" u="none">
              <a:solidFill>
                <a:srgbClr val="000000"/>
              </a:solidFill>
              <a:effectLst/>
              <a:uFillTx/>
              <a:latin typeface="Arial"/>
            </a:endParaRPr>
          </a:p>
        </p:txBody>
      </p:sp>
      <p:sp>
        <p:nvSpPr>
          <p:cNvPr id="392" name="Shape 13"/>
          <p:cNvSpPr/>
          <p:nvPr/>
        </p:nvSpPr>
        <p:spPr>
          <a:xfrm>
            <a:off x="5440680" y="896040"/>
            <a:ext cx="3520080" cy="1389600"/>
          </a:xfrm>
          <a:prstGeom prst="rect">
            <a:avLst/>
          </a:prstGeom>
          <a:solidFill>
            <a:srgbClr val="f7f8f0"/>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93" name="Shape 14"/>
          <p:cNvSpPr/>
          <p:nvPr/>
        </p:nvSpPr>
        <p:spPr>
          <a:xfrm>
            <a:off x="5440680" y="896040"/>
            <a:ext cx="63720" cy="1389600"/>
          </a:xfrm>
          <a:prstGeom prst="rect">
            <a:avLst/>
          </a:prstGeom>
          <a:solidFill>
            <a:srgbClr val="9cd5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94" name="Text 15"/>
          <p:cNvSpPr/>
          <p:nvPr/>
        </p:nvSpPr>
        <p:spPr>
          <a:xfrm>
            <a:off x="5577840" y="932760"/>
            <a:ext cx="329148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HINTS</a:t>
            </a:r>
            <a:endParaRPr b="0" lang="en-IN" sz="900" strike="noStrike" u="none">
              <a:solidFill>
                <a:srgbClr val="000000"/>
              </a:solidFill>
              <a:effectLst/>
              <a:uFillTx/>
              <a:latin typeface="Arial"/>
            </a:endParaRPr>
          </a:p>
        </p:txBody>
      </p:sp>
      <p:sp>
        <p:nvSpPr>
          <p:cNvPr id="395" name="Text 16"/>
          <p:cNvSpPr/>
          <p:nvPr/>
        </p:nvSpPr>
        <p:spPr>
          <a:xfrm>
            <a:off x="5577840" y="1161360"/>
            <a:ext cx="3291480" cy="10512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All three fields must be private</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Do not access balance directly from main() — use getBalance()</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Test both a successful and a failed withdrawal</a:t>
            </a:r>
            <a:endParaRPr b="0" lang="en-IN" sz="1150" strike="noStrike" u="none">
              <a:solidFill>
                <a:srgbClr val="000000"/>
              </a:solidFill>
              <a:effectLst/>
              <a:uFillTx/>
              <a:latin typeface="Arial"/>
            </a:endParaRPr>
          </a:p>
        </p:txBody>
      </p:sp>
      <p:sp>
        <p:nvSpPr>
          <p:cNvPr id="396" name="Shape 17"/>
          <p:cNvSpPr/>
          <p:nvPr/>
        </p:nvSpPr>
        <p:spPr>
          <a:xfrm>
            <a:off x="5440680" y="2395800"/>
            <a:ext cx="3520080" cy="91404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97" name="Shape 18"/>
          <p:cNvSpPr/>
          <p:nvPr/>
        </p:nvSpPr>
        <p:spPr>
          <a:xfrm>
            <a:off x="5440680" y="2395800"/>
            <a:ext cx="63720" cy="91404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398" name="Text 19"/>
          <p:cNvSpPr/>
          <p:nvPr/>
        </p:nvSpPr>
        <p:spPr>
          <a:xfrm>
            <a:off x="5577840" y="2432160"/>
            <a:ext cx="329148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CONCEPTS USED</a:t>
            </a:r>
            <a:endParaRPr b="0" lang="en-IN" sz="900" strike="noStrike" u="none">
              <a:solidFill>
                <a:srgbClr val="000000"/>
              </a:solidFill>
              <a:effectLst/>
              <a:uFillTx/>
              <a:latin typeface="Arial"/>
            </a:endParaRPr>
          </a:p>
        </p:txBody>
      </p:sp>
      <p:sp>
        <p:nvSpPr>
          <p:cNvPr id="399" name="Text 20"/>
          <p:cNvSpPr/>
          <p:nvPr/>
        </p:nvSpPr>
        <p:spPr>
          <a:xfrm>
            <a:off x="5577840" y="2660760"/>
            <a:ext cx="3291480" cy="5940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private fields</a:t>
            </a:r>
            <a:endParaRPr b="0" lang="en-IN" sz="1150" strike="noStrike" u="none">
              <a:solidFill>
                <a:srgbClr val="000000"/>
              </a:solidFill>
              <a:effectLst/>
              <a:uFillTx/>
              <a:latin typeface="Arial"/>
            </a:endParaRPr>
          </a:p>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public methods</a:t>
            </a:r>
            <a:endParaRPr b="0" lang="en-IN" sz="1150" strike="noStrike" u="none">
              <a:solidFill>
                <a:srgbClr val="000000"/>
              </a:solidFill>
              <a:effectLst/>
              <a:uFillTx/>
              <a:latin typeface="Arial"/>
            </a:endParaRPr>
          </a:p>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Getter</a:t>
            </a:r>
            <a:endParaRPr b="0" lang="en-IN" sz="1150" strike="noStrike" u="none">
              <a:solidFill>
                <a:srgbClr val="000000"/>
              </a:solidFill>
              <a:effectLst/>
              <a:uFillTx/>
              <a:latin typeface="Arial"/>
            </a:endParaRPr>
          </a:p>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Encapsulation</a:t>
            </a:r>
            <a:endParaRPr b="0" lang="en-IN" sz="1150" strike="noStrike" u="none">
              <a:solidFill>
                <a:srgbClr val="000000"/>
              </a:solidFill>
              <a:effectLst/>
              <a:uFillTx/>
              <a:latin typeface="Arial"/>
            </a:endParaRPr>
          </a:p>
        </p:txBody>
      </p:sp>
      <p:sp>
        <p:nvSpPr>
          <p:cNvPr id="400" name="Shape 21"/>
          <p:cNvSpPr/>
          <p:nvPr/>
        </p:nvSpPr>
        <p:spPr>
          <a:xfrm>
            <a:off x="5440680" y="3410640"/>
            <a:ext cx="3520080" cy="703800"/>
          </a:xfrm>
          <a:prstGeom prst="rect">
            <a:avLst/>
          </a:prstGeom>
          <a:solidFill>
            <a:srgbClr val="e3f2f5"/>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01" name="Shape 22"/>
          <p:cNvSpPr/>
          <p:nvPr/>
        </p:nvSpPr>
        <p:spPr>
          <a:xfrm>
            <a:off x="5440680" y="3410640"/>
            <a:ext cx="63720" cy="703800"/>
          </a:xfrm>
          <a:prstGeom prst="rect">
            <a:avLst/>
          </a:prstGeom>
          <a:solidFill>
            <a:srgbClr val="2a6e7a"/>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02" name="Text 23"/>
          <p:cNvSpPr/>
          <p:nvPr/>
        </p:nvSpPr>
        <p:spPr>
          <a:xfrm>
            <a:off x="5577840" y="3447360"/>
            <a:ext cx="329148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2a6e7a"/>
                </a:solidFill>
                <a:effectLst/>
                <a:uFillTx/>
                <a:latin typeface="Calibri"/>
                <a:ea typeface="Calibri"/>
              </a:rPr>
              <a:t>INDIA CONTEXT</a:t>
            </a:r>
            <a:endParaRPr b="0" lang="en-IN" sz="900" strike="noStrike" u="none">
              <a:solidFill>
                <a:srgbClr val="000000"/>
              </a:solidFill>
              <a:effectLst/>
              <a:uFillTx/>
              <a:latin typeface="Arial"/>
            </a:endParaRPr>
          </a:p>
        </p:txBody>
      </p:sp>
      <p:sp>
        <p:nvSpPr>
          <p:cNvPr id="403" name="Text 24"/>
          <p:cNvSpPr/>
          <p:nvPr/>
        </p:nvSpPr>
        <p:spPr>
          <a:xfrm>
            <a:off x="5577840" y="3639240"/>
            <a:ext cx="3291480" cy="420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1e3a4a"/>
                </a:solidFill>
                <a:effectLst/>
                <a:uFillTx/>
                <a:latin typeface="Calibri"/>
                <a:ea typeface="Calibri"/>
              </a:rPr>
              <a:t>Dinesh and Kamlesh — savings accounts at Chennai branch</a:t>
            </a:r>
            <a:endParaRPr b="0" lang="en-IN" sz="1100" strike="noStrike" u="none">
              <a:solidFill>
                <a:srgbClr val="000000"/>
              </a:solidFill>
              <a:effectLst/>
              <a:uFillTx/>
              <a:latin typeface="Arial"/>
            </a:endParaRPr>
          </a:p>
        </p:txBody>
      </p:sp>
      <p:sp>
        <p:nvSpPr>
          <p:cNvPr id="404" name="Shape 25"/>
          <p:cNvSpPr/>
          <p:nvPr/>
        </p:nvSpPr>
        <p:spPr>
          <a:xfrm>
            <a:off x="182880" y="4233600"/>
            <a:ext cx="8777880" cy="703800"/>
          </a:xfrm>
          <a:prstGeom prst="rect">
            <a:avLst/>
          </a:prstGeom>
          <a:solidFill>
            <a:srgbClr val="1e2d3d"/>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05" name="Text 26"/>
          <p:cNvSpPr/>
          <p:nvPr/>
        </p:nvSpPr>
        <p:spPr>
          <a:xfrm>
            <a:off x="292680" y="4233600"/>
            <a:ext cx="8549280" cy="703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250" strike="noStrike" u="none">
                <a:solidFill>
                  <a:srgbClr val="9cd5ff"/>
                </a:solidFill>
                <a:effectLst/>
                <a:uFillTx/>
                <a:latin typeface="Consolas"/>
                <a:ea typeface="Consolas"/>
              </a:rPr>
              <a:t>// Write your Java solution here — implement during the class session</a:t>
            </a:r>
            <a:endParaRPr b="0" lang="en-IN" sz="12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8f0"/>
        </a:solidFill>
      </p:bgPr>
    </p:bg>
    <p:spTree>
      <p:nvGrpSpPr>
        <p:cNvPr id="1" name=""/>
        <p:cNvGrpSpPr/>
        <p:nvPr/>
      </p:nvGrpSpPr>
      <p:grpSpPr>
        <a:xfrm>
          <a:off x="0" y="0"/>
          <a:ext cx="0" cy="0"/>
          <a:chOff x="0" y="0"/>
          <a:chExt cx="0" cy="0"/>
        </a:xfrm>
      </p:grpSpPr>
      <p:sp>
        <p:nvSpPr>
          <p:cNvPr id="406" name="Shape 0"/>
          <p:cNvSpPr/>
          <p:nvPr/>
        </p:nvSpPr>
        <p:spPr>
          <a:xfrm>
            <a:off x="0" y="0"/>
            <a:ext cx="914364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07" name="Shape 1"/>
          <p:cNvSpPr/>
          <p:nvPr/>
        </p:nvSpPr>
        <p:spPr>
          <a:xfrm>
            <a:off x="201240" y="109800"/>
            <a:ext cx="493560" cy="493560"/>
          </a:xfrm>
          <a:prstGeom prst="rect">
            <a:avLst/>
          </a:prstGeom>
          <a:solidFill>
            <a:srgbClr val="9cd5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08" name="Text 2"/>
          <p:cNvSpPr/>
          <p:nvPr/>
        </p:nvSpPr>
        <p:spPr>
          <a:xfrm>
            <a:off x="201240" y="109800"/>
            <a:ext cx="493560" cy="493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700" strike="noStrike" u="none">
                <a:solidFill>
                  <a:srgbClr val="355872"/>
                </a:solidFill>
                <a:effectLst/>
                <a:uFillTx/>
                <a:latin typeface="Calibri"/>
                <a:ea typeface="Calibri"/>
              </a:rPr>
              <a:t>3</a:t>
            </a:r>
            <a:endParaRPr b="0" lang="en-IN" sz="1700" strike="noStrike" u="none">
              <a:solidFill>
                <a:srgbClr val="000000"/>
              </a:solidFill>
              <a:effectLst/>
              <a:uFillTx/>
              <a:latin typeface="Arial"/>
            </a:endParaRPr>
          </a:p>
        </p:txBody>
      </p:sp>
      <p:sp>
        <p:nvSpPr>
          <p:cNvPr id="409" name="Text 3"/>
          <p:cNvSpPr/>
          <p:nvPr/>
        </p:nvSpPr>
        <p:spPr>
          <a:xfrm>
            <a:off x="822960" y="91440"/>
            <a:ext cx="768060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trike="noStrike" u="none">
                <a:solidFill>
                  <a:srgbClr val="ffffff"/>
                </a:solidFill>
                <a:effectLst/>
                <a:uFillTx/>
                <a:latin typeface="Calibri"/>
                <a:ea typeface="Calibri"/>
              </a:rPr>
              <a:t>Constructor Overloading — Employee Records</a:t>
            </a:r>
            <a:endParaRPr b="0" lang="en-IN" sz="1800" strike="noStrike" u="none">
              <a:solidFill>
                <a:srgbClr val="000000"/>
              </a:solidFill>
              <a:effectLst/>
              <a:uFillTx/>
              <a:latin typeface="Arial"/>
            </a:endParaRPr>
          </a:p>
        </p:txBody>
      </p:sp>
      <p:sp>
        <p:nvSpPr>
          <p:cNvPr id="410" name="Text 4"/>
          <p:cNvSpPr/>
          <p:nvPr/>
        </p:nvSpPr>
        <p:spPr>
          <a:xfrm>
            <a:off x="822960" y="521280"/>
            <a:ext cx="548604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trike="noStrike" u="none">
                <a:solidFill>
                  <a:srgbClr val="9cd5ff"/>
                </a:solidFill>
                <a:effectLst/>
                <a:uFillTx/>
                <a:latin typeface="Calibri"/>
                <a:ea typeface="Calibri"/>
              </a:rPr>
              <a:t>Problem 3 of 8  —  Java OOP Basics</a:t>
            </a:r>
            <a:endParaRPr b="0" lang="en-IN" sz="900" strike="noStrike" u="none">
              <a:solidFill>
                <a:srgbClr val="000000"/>
              </a:solidFill>
              <a:effectLst/>
              <a:uFillTx/>
              <a:latin typeface="Arial"/>
            </a:endParaRPr>
          </a:p>
        </p:txBody>
      </p:sp>
      <p:sp>
        <p:nvSpPr>
          <p:cNvPr id="411" name="Shape 5"/>
          <p:cNvSpPr/>
          <p:nvPr/>
        </p:nvSpPr>
        <p:spPr>
          <a:xfrm>
            <a:off x="182880" y="896040"/>
            <a:ext cx="5074560" cy="138960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12" name="Shape 6"/>
          <p:cNvSpPr/>
          <p:nvPr/>
        </p:nvSpPr>
        <p:spPr>
          <a:xfrm>
            <a:off x="182880" y="896040"/>
            <a:ext cx="63720" cy="138960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13" name="Text 7"/>
          <p:cNvSpPr/>
          <p:nvPr/>
        </p:nvSpPr>
        <p:spPr>
          <a:xfrm>
            <a:off x="320040" y="932760"/>
            <a:ext cx="48459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SCENARIO</a:t>
            </a:r>
            <a:endParaRPr b="0" lang="en-IN" sz="900" strike="noStrike" u="none">
              <a:solidFill>
                <a:srgbClr val="000000"/>
              </a:solidFill>
              <a:effectLst/>
              <a:uFillTx/>
              <a:latin typeface="Arial"/>
            </a:endParaRPr>
          </a:p>
        </p:txBody>
      </p:sp>
      <p:sp>
        <p:nvSpPr>
          <p:cNvPr id="414" name="Text 8"/>
          <p:cNvSpPr/>
          <p:nvPr/>
        </p:nvSpPr>
        <p:spPr>
          <a:xfrm>
            <a:off x="320040" y="1161360"/>
            <a:ext cx="4845960" cy="1051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00" strike="noStrike" u="none">
                <a:solidFill>
                  <a:srgbClr val="1e3a4a"/>
                </a:solidFill>
                <a:effectLst/>
                <a:uFillTx/>
                <a:latin typeface="Calibri"/>
                <a:ea typeface="Calibri"/>
              </a:rPr>
              <a:t>A Flipkart warehouse in Bangalore adds new employees at different stages. Some employees are onboarded with full details immediately; others are registered with just an ID and name, with the rest filled later. The system must support all three scenarios.</a:t>
            </a:r>
            <a:endParaRPr b="0" lang="en-IN" sz="1200" strike="noStrike" u="none">
              <a:solidFill>
                <a:srgbClr val="000000"/>
              </a:solidFill>
              <a:effectLst/>
              <a:uFillTx/>
              <a:latin typeface="Arial"/>
            </a:endParaRPr>
          </a:p>
        </p:txBody>
      </p:sp>
      <p:sp>
        <p:nvSpPr>
          <p:cNvPr id="415" name="Shape 9"/>
          <p:cNvSpPr/>
          <p:nvPr/>
        </p:nvSpPr>
        <p:spPr>
          <a:xfrm>
            <a:off x="182880" y="2395800"/>
            <a:ext cx="5074560" cy="1718640"/>
          </a:xfrm>
          <a:prstGeom prst="rect">
            <a:avLst/>
          </a:prstGeom>
          <a:solidFill>
            <a:srgbClr val="d6eaf8"/>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16" name="Shape 10"/>
          <p:cNvSpPr/>
          <p:nvPr/>
        </p:nvSpPr>
        <p:spPr>
          <a:xfrm>
            <a:off x="182880" y="2395800"/>
            <a:ext cx="63720" cy="171864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17" name="Text 11"/>
          <p:cNvSpPr/>
          <p:nvPr/>
        </p:nvSpPr>
        <p:spPr>
          <a:xfrm>
            <a:off x="320040" y="2432160"/>
            <a:ext cx="48459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YOUR TASK</a:t>
            </a:r>
            <a:endParaRPr b="0" lang="en-IN" sz="900" strike="noStrike" u="none">
              <a:solidFill>
                <a:srgbClr val="000000"/>
              </a:solidFill>
              <a:effectLst/>
              <a:uFillTx/>
              <a:latin typeface="Arial"/>
            </a:endParaRPr>
          </a:p>
        </p:txBody>
      </p:sp>
      <p:sp>
        <p:nvSpPr>
          <p:cNvPr id="418" name="Text 12"/>
          <p:cNvSpPr/>
          <p:nvPr/>
        </p:nvSpPr>
        <p:spPr>
          <a:xfrm>
            <a:off x="320040" y="2660760"/>
            <a:ext cx="4845960" cy="13896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Create class Employee with fields: empId, name, department, salary</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Default constructor: set department = 'Unassigned', salary = 0, id = 0, name = 'TBD'</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2-param constructor: accepts empId and name; department = 'General', salary = 0</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4-param constructor: accepts all four fields</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void displayDetails() to print all fields</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In main(), create one object with each constructor and print their details</a:t>
            </a:r>
            <a:endParaRPr b="0" lang="en-IN" sz="1150" strike="noStrike" u="none">
              <a:solidFill>
                <a:srgbClr val="000000"/>
              </a:solidFill>
              <a:effectLst/>
              <a:uFillTx/>
              <a:latin typeface="Arial"/>
            </a:endParaRPr>
          </a:p>
        </p:txBody>
      </p:sp>
      <p:sp>
        <p:nvSpPr>
          <p:cNvPr id="419" name="Shape 13"/>
          <p:cNvSpPr/>
          <p:nvPr/>
        </p:nvSpPr>
        <p:spPr>
          <a:xfrm>
            <a:off x="5440680" y="896040"/>
            <a:ext cx="3520080" cy="1389600"/>
          </a:xfrm>
          <a:prstGeom prst="rect">
            <a:avLst/>
          </a:prstGeom>
          <a:solidFill>
            <a:srgbClr val="f7f8f0"/>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20" name="Shape 14"/>
          <p:cNvSpPr/>
          <p:nvPr/>
        </p:nvSpPr>
        <p:spPr>
          <a:xfrm>
            <a:off x="5440680" y="896040"/>
            <a:ext cx="63720" cy="1389600"/>
          </a:xfrm>
          <a:prstGeom prst="rect">
            <a:avLst/>
          </a:prstGeom>
          <a:solidFill>
            <a:srgbClr val="9cd5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21" name="Text 15"/>
          <p:cNvSpPr/>
          <p:nvPr/>
        </p:nvSpPr>
        <p:spPr>
          <a:xfrm>
            <a:off x="5577840" y="932760"/>
            <a:ext cx="329148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HINTS</a:t>
            </a:r>
            <a:endParaRPr b="0" lang="en-IN" sz="900" strike="noStrike" u="none">
              <a:solidFill>
                <a:srgbClr val="000000"/>
              </a:solidFill>
              <a:effectLst/>
              <a:uFillTx/>
              <a:latin typeface="Arial"/>
            </a:endParaRPr>
          </a:p>
        </p:txBody>
      </p:sp>
      <p:sp>
        <p:nvSpPr>
          <p:cNvPr id="422" name="Text 16"/>
          <p:cNvSpPr/>
          <p:nvPr/>
        </p:nvSpPr>
        <p:spPr>
          <a:xfrm>
            <a:off x="5577840" y="1161360"/>
            <a:ext cx="3291480" cy="10512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All three constructors must coexist in the same class</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Use this() inside the 2-param constructor to call the default one if helpful</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displayDetails() should print a neat formatted output</a:t>
            </a:r>
            <a:endParaRPr b="0" lang="en-IN" sz="1150" strike="noStrike" u="none">
              <a:solidFill>
                <a:srgbClr val="000000"/>
              </a:solidFill>
              <a:effectLst/>
              <a:uFillTx/>
              <a:latin typeface="Arial"/>
            </a:endParaRPr>
          </a:p>
        </p:txBody>
      </p:sp>
      <p:sp>
        <p:nvSpPr>
          <p:cNvPr id="423" name="Shape 17"/>
          <p:cNvSpPr/>
          <p:nvPr/>
        </p:nvSpPr>
        <p:spPr>
          <a:xfrm>
            <a:off x="5440680" y="2395800"/>
            <a:ext cx="3520080" cy="91404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24" name="Shape 18"/>
          <p:cNvSpPr/>
          <p:nvPr/>
        </p:nvSpPr>
        <p:spPr>
          <a:xfrm>
            <a:off x="5440680" y="2395800"/>
            <a:ext cx="63720" cy="91404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25" name="Text 19"/>
          <p:cNvSpPr/>
          <p:nvPr/>
        </p:nvSpPr>
        <p:spPr>
          <a:xfrm>
            <a:off x="5577840" y="2432160"/>
            <a:ext cx="329148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CONCEPTS USED</a:t>
            </a:r>
            <a:endParaRPr b="0" lang="en-IN" sz="900" strike="noStrike" u="none">
              <a:solidFill>
                <a:srgbClr val="000000"/>
              </a:solidFill>
              <a:effectLst/>
              <a:uFillTx/>
              <a:latin typeface="Arial"/>
            </a:endParaRPr>
          </a:p>
        </p:txBody>
      </p:sp>
      <p:sp>
        <p:nvSpPr>
          <p:cNvPr id="426" name="Text 20"/>
          <p:cNvSpPr/>
          <p:nvPr/>
        </p:nvSpPr>
        <p:spPr>
          <a:xfrm>
            <a:off x="5577840" y="2660760"/>
            <a:ext cx="3291480" cy="5940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Default Constructor</a:t>
            </a:r>
            <a:endParaRPr b="0" lang="en-IN" sz="1150" strike="noStrike" u="none">
              <a:solidFill>
                <a:srgbClr val="000000"/>
              </a:solidFill>
              <a:effectLst/>
              <a:uFillTx/>
              <a:latin typeface="Arial"/>
            </a:endParaRPr>
          </a:p>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Parameterized Constructor</a:t>
            </a:r>
            <a:endParaRPr b="0" lang="en-IN" sz="1150" strike="noStrike" u="none">
              <a:solidFill>
                <a:srgbClr val="000000"/>
              </a:solidFill>
              <a:effectLst/>
              <a:uFillTx/>
              <a:latin typeface="Arial"/>
            </a:endParaRPr>
          </a:p>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Constructor Overloading</a:t>
            </a:r>
            <a:endParaRPr b="0" lang="en-IN" sz="1150" strike="noStrike" u="none">
              <a:solidFill>
                <a:srgbClr val="000000"/>
              </a:solidFill>
              <a:effectLst/>
              <a:uFillTx/>
              <a:latin typeface="Arial"/>
            </a:endParaRPr>
          </a:p>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this()</a:t>
            </a:r>
            <a:endParaRPr b="0" lang="en-IN" sz="1150" strike="noStrike" u="none">
              <a:solidFill>
                <a:srgbClr val="000000"/>
              </a:solidFill>
              <a:effectLst/>
              <a:uFillTx/>
              <a:latin typeface="Arial"/>
            </a:endParaRPr>
          </a:p>
        </p:txBody>
      </p:sp>
      <p:sp>
        <p:nvSpPr>
          <p:cNvPr id="427" name="Shape 21"/>
          <p:cNvSpPr/>
          <p:nvPr/>
        </p:nvSpPr>
        <p:spPr>
          <a:xfrm>
            <a:off x="5440680" y="3410640"/>
            <a:ext cx="3520080" cy="703800"/>
          </a:xfrm>
          <a:prstGeom prst="rect">
            <a:avLst/>
          </a:prstGeom>
          <a:solidFill>
            <a:srgbClr val="e3f2f5"/>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28" name="Shape 22"/>
          <p:cNvSpPr/>
          <p:nvPr/>
        </p:nvSpPr>
        <p:spPr>
          <a:xfrm>
            <a:off x="5440680" y="3410640"/>
            <a:ext cx="63720" cy="703800"/>
          </a:xfrm>
          <a:prstGeom prst="rect">
            <a:avLst/>
          </a:prstGeom>
          <a:solidFill>
            <a:srgbClr val="2a6e7a"/>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29" name="Text 23"/>
          <p:cNvSpPr/>
          <p:nvPr/>
        </p:nvSpPr>
        <p:spPr>
          <a:xfrm>
            <a:off x="5577840" y="3447360"/>
            <a:ext cx="329148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2a6e7a"/>
                </a:solidFill>
                <a:effectLst/>
                <a:uFillTx/>
                <a:latin typeface="Calibri"/>
                <a:ea typeface="Calibri"/>
              </a:rPr>
              <a:t>INDIA CONTEXT</a:t>
            </a:r>
            <a:endParaRPr b="0" lang="en-IN" sz="900" strike="noStrike" u="none">
              <a:solidFill>
                <a:srgbClr val="000000"/>
              </a:solidFill>
              <a:effectLst/>
              <a:uFillTx/>
              <a:latin typeface="Arial"/>
            </a:endParaRPr>
          </a:p>
        </p:txBody>
      </p:sp>
      <p:sp>
        <p:nvSpPr>
          <p:cNvPr id="430" name="Text 24"/>
          <p:cNvSpPr/>
          <p:nvPr/>
        </p:nvSpPr>
        <p:spPr>
          <a:xfrm>
            <a:off x="5577840" y="3639240"/>
            <a:ext cx="3291480" cy="420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1e3a4a"/>
                </a:solidFill>
                <a:effectLst/>
                <a:uFillTx/>
                <a:latin typeface="Calibri"/>
                <a:ea typeface="Calibri"/>
              </a:rPr>
              <a:t>Employee onboarding — Flipkart warehouse, Bangalore</a:t>
            </a:r>
            <a:endParaRPr b="0" lang="en-IN" sz="1100" strike="noStrike" u="none">
              <a:solidFill>
                <a:srgbClr val="000000"/>
              </a:solidFill>
              <a:effectLst/>
              <a:uFillTx/>
              <a:latin typeface="Arial"/>
            </a:endParaRPr>
          </a:p>
        </p:txBody>
      </p:sp>
      <p:sp>
        <p:nvSpPr>
          <p:cNvPr id="431" name="Shape 25"/>
          <p:cNvSpPr/>
          <p:nvPr/>
        </p:nvSpPr>
        <p:spPr>
          <a:xfrm>
            <a:off x="182880" y="4233600"/>
            <a:ext cx="8777880" cy="703800"/>
          </a:xfrm>
          <a:prstGeom prst="rect">
            <a:avLst/>
          </a:prstGeom>
          <a:solidFill>
            <a:srgbClr val="1e2d3d"/>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32" name="Text 26"/>
          <p:cNvSpPr/>
          <p:nvPr/>
        </p:nvSpPr>
        <p:spPr>
          <a:xfrm>
            <a:off x="292680" y="4233600"/>
            <a:ext cx="8549280" cy="703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250" strike="noStrike" u="none">
                <a:solidFill>
                  <a:srgbClr val="9cd5ff"/>
                </a:solidFill>
                <a:effectLst/>
                <a:uFillTx/>
                <a:latin typeface="Consolas"/>
                <a:ea typeface="Consolas"/>
              </a:rPr>
              <a:t>// Write your Java solution here — implement during the class session</a:t>
            </a:r>
            <a:endParaRPr b="0" lang="en-IN" sz="12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8f0"/>
        </a:solidFill>
      </p:bgPr>
    </p:bg>
    <p:spTree>
      <p:nvGrpSpPr>
        <p:cNvPr id="1" name=""/>
        <p:cNvGrpSpPr/>
        <p:nvPr/>
      </p:nvGrpSpPr>
      <p:grpSpPr>
        <a:xfrm>
          <a:off x="0" y="0"/>
          <a:ext cx="0" cy="0"/>
          <a:chOff x="0" y="0"/>
          <a:chExt cx="0" cy="0"/>
        </a:xfrm>
      </p:grpSpPr>
      <p:sp>
        <p:nvSpPr>
          <p:cNvPr id="433" name="Shape 0"/>
          <p:cNvSpPr/>
          <p:nvPr/>
        </p:nvSpPr>
        <p:spPr>
          <a:xfrm>
            <a:off x="0" y="0"/>
            <a:ext cx="914364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34" name="Shape 1"/>
          <p:cNvSpPr/>
          <p:nvPr/>
        </p:nvSpPr>
        <p:spPr>
          <a:xfrm>
            <a:off x="201240" y="109800"/>
            <a:ext cx="493560" cy="493560"/>
          </a:xfrm>
          <a:prstGeom prst="rect">
            <a:avLst/>
          </a:prstGeom>
          <a:solidFill>
            <a:srgbClr val="9cd5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35" name="Text 2"/>
          <p:cNvSpPr/>
          <p:nvPr/>
        </p:nvSpPr>
        <p:spPr>
          <a:xfrm>
            <a:off x="201240" y="109800"/>
            <a:ext cx="493560" cy="493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700" strike="noStrike" u="none">
                <a:solidFill>
                  <a:srgbClr val="355872"/>
                </a:solidFill>
                <a:effectLst/>
                <a:uFillTx/>
                <a:latin typeface="Calibri"/>
                <a:ea typeface="Calibri"/>
              </a:rPr>
              <a:t>4</a:t>
            </a:r>
            <a:endParaRPr b="0" lang="en-IN" sz="1700" strike="noStrike" u="none">
              <a:solidFill>
                <a:srgbClr val="000000"/>
              </a:solidFill>
              <a:effectLst/>
              <a:uFillTx/>
              <a:latin typeface="Arial"/>
            </a:endParaRPr>
          </a:p>
        </p:txBody>
      </p:sp>
      <p:sp>
        <p:nvSpPr>
          <p:cNvPr id="436" name="Text 3"/>
          <p:cNvSpPr/>
          <p:nvPr/>
        </p:nvSpPr>
        <p:spPr>
          <a:xfrm>
            <a:off x="822960" y="91440"/>
            <a:ext cx="768060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trike="noStrike" u="none">
                <a:solidFill>
                  <a:srgbClr val="ffffff"/>
                </a:solidFill>
                <a:effectLst/>
                <a:uFillTx/>
                <a:latin typeface="Calibri"/>
                <a:ea typeface="Calibri"/>
              </a:rPr>
              <a:t>Static Counter — Auto-tracking Object Count</a:t>
            </a:r>
            <a:endParaRPr b="0" lang="en-IN" sz="1800" strike="noStrike" u="none">
              <a:solidFill>
                <a:srgbClr val="000000"/>
              </a:solidFill>
              <a:effectLst/>
              <a:uFillTx/>
              <a:latin typeface="Arial"/>
            </a:endParaRPr>
          </a:p>
        </p:txBody>
      </p:sp>
      <p:sp>
        <p:nvSpPr>
          <p:cNvPr id="437" name="Text 4"/>
          <p:cNvSpPr/>
          <p:nvPr/>
        </p:nvSpPr>
        <p:spPr>
          <a:xfrm>
            <a:off x="822960" y="521280"/>
            <a:ext cx="548604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trike="noStrike" u="none">
                <a:solidFill>
                  <a:srgbClr val="9cd5ff"/>
                </a:solidFill>
                <a:effectLst/>
                <a:uFillTx/>
                <a:latin typeface="Calibri"/>
                <a:ea typeface="Calibri"/>
              </a:rPr>
              <a:t>Problem 4 of 8  —  Java OOP Basics</a:t>
            </a:r>
            <a:endParaRPr b="0" lang="en-IN" sz="900" strike="noStrike" u="none">
              <a:solidFill>
                <a:srgbClr val="000000"/>
              </a:solidFill>
              <a:effectLst/>
              <a:uFillTx/>
              <a:latin typeface="Arial"/>
            </a:endParaRPr>
          </a:p>
        </p:txBody>
      </p:sp>
      <p:sp>
        <p:nvSpPr>
          <p:cNvPr id="438" name="Shape 5"/>
          <p:cNvSpPr/>
          <p:nvPr/>
        </p:nvSpPr>
        <p:spPr>
          <a:xfrm>
            <a:off x="182880" y="896040"/>
            <a:ext cx="5074560" cy="138960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39" name="Shape 6"/>
          <p:cNvSpPr/>
          <p:nvPr/>
        </p:nvSpPr>
        <p:spPr>
          <a:xfrm>
            <a:off x="182880" y="896040"/>
            <a:ext cx="63720" cy="138960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40" name="Text 7"/>
          <p:cNvSpPr/>
          <p:nvPr/>
        </p:nvSpPr>
        <p:spPr>
          <a:xfrm>
            <a:off x="320040" y="932760"/>
            <a:ext cx="48459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SCENARIO</a:t>
            </a:r>
            <a:endParaRPr b="0" lang="en-IN" sz="900" strike="noStrike" u="none">
              <a:solidFill>
                <a:srgbClr val="000000"/>
              </a:solidFill>
              <a:effectLst/>
              <a:uFillTx/>
              <a:latin typeface="Arial"/>
            </a:endParaRPr>
          </a:p>
        </p:txBody>
      </p:sp>
      <p:sp>
        <p:nvSpPr>
          <p:cNvPr id="441" name="Text 8"/>
          <p:cNvSpPr/>
          <p:nvPr/>
        </p:nvSpPr>
        <p:spPr>
          <a:xfrm>
            <a:off x="320040" y="1161360"/>
            <a:ext cx="4845960" cy="1051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00" strike="noStrike" u="none">
                <a:solidFill>
                  <a:srgbClr val="1e3a4a"/>
                </a:solidFill>
                <a:effectLst/>
                <a:uFillTx/>
                <a:latin typeface="Calibri"/>
                <a:ea typeface="Calibri"/>
              </a:rPr>
              <a:t>A coaching institute in Hyderabad wants to know at any point how many Student objects have been created in the session. The count must update automatically each time a new student is enrolled — no manual tracking allowed.</a:t>
            </a:r>
            <a:endParaRPr b="0" lang="en-IN" sz="1200" strike="noStrike" u="none">
              <a:solidFill>
                <a:srgbClr val="000000"/>
              </a:solidFill>
              <a:effectLst/>
              <a:uFillTx/>
              <a:latin typeface="Arial"/>
            </a:endParaRPr>
          </a:p>
        </p:txBody>
      </p:sp>
      <p:sp>
        <p:nvSpPr>
          <p:cNvPr id="442" name="Shape 9"/>
          <p:cNvSpPr/>
          <p:nvPr/>
        </p:nvSpPr>
        <p:spPr>
          <a:xfrm>
            <a:off x="182880" y="2395800"/>
            <a:ext cx="5074560" cy="1718640"/>
          </a:xfrm>
          <a:prstGeom prst="rect">
            <a:avLst/>
          </a:prstGeom>
          <a:solidFill>
            <a:srgbClr val="d6eaf8"/>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43" name="Shape 10"/>
          <p:cNvSpPr/>
          <p:nvPr/>
        </p:nvSpPr>
        <p:spPr>
          <a:xfrm>
            <a:off x="182880" y="2395800"/>
            <a:ext cx="63720" cy="171864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44" name="Text 11"/>
          <p:cNvSpPr/>
          <p:nvPr/>
        </p:nvSpPr>
        <p:spPr>
          <a:xfrm>
            <a:off x="320040" y="2432160"/>
            <a:ext cx="48459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YOUR TASK</a:t>
            </a:r>
            <a:endParaRPr b="0" lang="en-IN" sz="900" strike="noStrike" u="none">
              <a:solidFill>
                <a:srgbClr val="000000"/>
              </a:solidFill>
              <a:effectLst/>
              <a:uFillTx/>
              <a:latin typeface="Arial"/>
            </a:endParaRPr>
          </a:p>
        </p:txBody>
      </p:sp>
      <p:sp>
        <p:nvSpPr>
          <p:cNvPr id="445" name="Text 12"/>
          <p:cNvSpPr/>
          <p:nvPr/>
        </p:nvSpPr>
        <p:spPr>
          <a:xfrm>
            <a:off x="320040" y="2660760"/>
            <a:ext cx="4845960" cy="13896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Create class Student with instance fields: name, rollNo</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Add static int totalStudents = 0 as a class-level field</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In the constructor, increment totalStudents by 1 automatically</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static void showTotal() that prints the current count</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void displayInfo() that prints the student's name and roll number</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In main(), enroll 4 students, call displayInfo() on each, then call showTotal()</a:t>
            </a:r>
            <a:endParaRPr b="0" lang="en-IN" sz="1150" strike="noStrike" u="none">
              <a:solidFill>
                <a:srgbClr val="000000"/>
              </a:solidFill>
              <a:effectLst/>
              <a:uFillTx/>
              <a:latin typeface="Arial"/>
            </a:endParaRPr>
          </a:p>
        </p:txBody>
      </p:sp>
      <p:sp>
        <p:nvSpPr>
          <p:cNvPr id="446" name="Shape 13"/>
          <p:cNvSpPr/>
          <p:nvPr/>
        </p:nvSpPr>
        <p:spPr>
          <a:xfrm>
            <a:off x="5440680" y="896040"/>
            <a:ext cx="3520080" cy="1389600"/>
          </a:xfrm>
          <a:prstGeom prst="rect">
            <a:avLst/>
          </a:prstGeom>
          <a:solidFill>
            <a:srgbClr val="f7f8f0"/>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47" name="Shape 14"/>
          <p:cNvSpPr/>
          <p:nvPr/>
        </p:nvSpPr>
        <p:spPr>
          <a:xfrm>
            <a:off x="5440680" y="896040"/>
            <a:ext cx="63720" cy="1389600"/>
          </a:xfrm>
          <a:prstGeom prst="rect">
            <a:avLst/>
          </a:prstGeom>
          <a:solidFill>
            <a:srgbClr val="9cd5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48" name="Text 15"/>
          <p:cNvSpPr/>
          <p:nvPr/>
        </p:nvSpPr>
        <p:spPr>
          <a:xfrm>
            <a:off x="5577840" y="932760"/>
            <a:ext cx="329148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HINTS</a:t>
            </a:r>
            <a:endParaRPr b="0" lang="en-IN" sz="900" strike="noStrike" u="none">
              <a:solidFill>
                <a:srgbClr val="000000"/>
              </a:solidFill>
              <a:effectLst/>
              <a:uFillTx/>
              <a:latin typeface="Arial"/>
            </a:endParaRPr>
          </a:p>
        </p:txBody>
      </p:sp>
      <p:sp>
        <p:nvSpPr>
          <p:cNvPr id="449" name="Text 16"/>
          <p:cNvSpPr/>
          <p:nvPr/>
        </p:nvSpPr>
        <p:spPr>
          <a:xfrm>
            <a:off x="5577840" y="1161360"/>
            <a:ext cx="3291480" cy="10512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totalStudents must be static — one copy for all</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Increment it with totalStudents++ inside the constructor</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Call showTotal() as Student.showTotal() — not on an object</a:t>
            </a:r>
            <a:endParaRPr b="0" lang="en-IN" sz="1150" strike="noStrike" u="none">
              <a:solidFill>
                <a:srgbClr val="000000"/>
              </a:solidFill>
              <a:effectLst/>
              <a:uFillTx/>
              <a:latin typeface="Arial"/>
            </a:endParaRPr>
          </a:p>
        </p:txBody>
      </p:sp>
      <p:sp>
        <p:nvSpPr>
          <p:cNvPr id="450" name="Shape 17"/>
          <p:cNvSpPr/>
          <p:nvPr/>
        </p:nvSpPr>
        <p:spPr>
          <a:xfrm>
            <a:off x="5440680" y="2395800"/>
            <a:ext cx="3520080" cy="91404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51" name="Shape 18"/>
          <p:cNvSpPr/>
          <p:nvPr/>
        </p:nvSpPr>
        <p:spPr>
          <a:xfrm>
            <a:off x="5440680" y="2395800"/>
            <a:ext cx="63720" cy="91404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52" name="Text 19"/>
          <p:cNvSpPr/>
          <p:nvPr/>
        </p:nvSpPr>
        <p:spPr>
          <a:xfrm>
            <a:off x="5577840" y="2432160"/>
            <a:ext cx="329148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CONCEPTS USED</a:t>
            </a:r>
            <a:endParaRPr b="0" lang="en-IN" sz="900" strike="noStrike" u="none">
              <a:solidFill>
                <a:srgbClr val="000000"/>
              </a:solidFill>
              <a:effectLst/>
              <a:uFillTx/>
              <a:latin typeface="Arial"/>
            </a:endParaRPr>
          </a:p>
        </p:txBody>
      </p:sp>
      <p:sp>
        <p:nvSpPr>
          <p:cNvPr id="453" name="Text 20"/>
          <p:cNvSpPr/>
          <p:nvPr/>
        </p:nvSpPr>
        <p:spPr>
          <a:xfrm>
            <a:off x="5577840" y="2660760"/>
            <a:ext cx="3291480" cy="5940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static field</a:t>
            </a:r>
            <a:endParaRPr b="0" lang="en-IN" sz="1150" strike="noStrike" u="none">
              <a:solidFill>
                <a:srgbClr val="000000"/>
              </a:solidFill>
              <a:effectLst/>
              <a:uFillTx/>
              <a:latin typeface="Arial"/>
            </a:endParaRPr>
          </a:p>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static method</a:t>
            </a:r>
            <a:endParaRPr b="0" lang="en-IN" sz="1150" strike="noStrike" u="none">
              <a:solidFill>
                <a:srgbClr val="000000"/>
              </a:solidFill>
              <a:effectLst/>
              <a:uFillTx/>
              <a:latin typeface="Arial"/>
            </a:endParaRPr>
          </a:p>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Constructor</a:t>
            </a:r>
            <a:endParaRPr b="0" lang="en-IN" sz="1150" strike="noStrike" u="none">
              <a:solidFill>
                <a:srgbClr val="000000"/>
              </a:solidFill>
              <a:effectLst/>
              <a:uFillTx/>
              <a:latin typeface="Arial"/>
            </a:endParaRPr>
          </a:p>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Class vs Instance memory</a:t>
            </a:r>
            <a:endParaRPr b="0" lang="en-IN" sz="1150" strike="noStrike" u="none">
              <a:solidFill>
                <a:srgbClr val="000000"/>
              </a:solidFill>
              <a:effectLst/>
              <a:uFillTx/>
              <a:latin typeface="Arial"/>
            </a:endParaRPr>
          </a:p>
        </p:txBody>
      </p:sp>
      <p:sp>
        <p:nvSpPr>
          <p:cNvPr id="454" name="Shape 21"/>
          <p:cNvSpPr/>
          <p:nvPr/>
        </p:nvSpPr>
        <p:spPr>
          <a:xfrm>
            <a:off x="5440680" y="3410640"/>
            <a:ext cx="3520080" cy="703800"/>
          </a:xfrm>
          <a:prstGeom prst="rect">
            <a:avLst/>
          </a:prstGeom>
          <a:solidFill>
            <a:srgbClr val="e3f2f5"/>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55" name="Shape 22"/>
          <p:cNvSpPr/>
          <p:nvPr/>
        </p:nvSpPr>
        <p:spPr>
          <a:xfrm>
            <a:off x="5440680" y="3410640"/>
            <a:ext cx="63720" cy="703800"/>
          </a:xfrm>
          <a:prstGeom prst="rect">
            <a:avLst/>
          </a:prstGeom>
          <a:solidFill>
            <a:srgbClr val="2a6e7a"/>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56" name="Text 23"/>
          <p:cNvSpPr/>
          <p:nvPr/>
        </p:nvSpPr>
        <p:spPr>
          <a:xfrm>
            <a:off x="5577840" y="3447360"/>
            <a:ext cx="329148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2a6e7a"/>
                </a:solidFill>
                <a:effectLst/>
                <a:uFillTx/>
                <a:latin typeface="Calibri"/>
                <a:ea typeface="Calibri"/>
              </a:rPr>
              <a:t>INDIA CONTEXT</a:t>
            </a:r>
            <a:endParaRPr b="0" lang="en-IN" sz="900" strike="noStrike" u="none">
              <a:solidFill>
                <a:srgbClr val="000000"/>
              </a:solidFill>
              <a:effectLst/>
              <a:uFillTx/>
              <a:latin typeface="Arial"/>
            </a:endParaRPr>
          </a:p>
        </p:txBody>
      </p:sp>
      <p:sp>
        <p:nvSpPr>
          <p:cNvPr id="457" name="Text 24"/>
          <p:cNvSpPr/>
          <p:nvPr/>
        </p:nvSpPr>
        <p:spPr>
          <a:xfrm>
            <a:off x="5577840" y="3639240"/>
            <a:ext cx="3291480" cy="420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1e3a4a"/>
                </a:solidFill>
                <a:effectLst/>
                <a:uFillTx/>
                <a:latin typeface="Calibri"/>
                <a:ea typeface="Calibri"/>
              </a:rPr>
              <a:t>Nitesh's coaching batch — Hyderabad, 4 students: Suresh, Ramesh, Mukesh, Kamlesh</a:t>
            </a:r>
            <a:endParaRPr b="0" lang="en-IN" sz="1100" strike="noStrike" u="none">
              <a:solidFill>
                <a:srgbClr val="000000"/>
              </a:solidFill>
              <a:effectLst/>
              <a:uFillTx/>
              <a:latin typeface="Arial"/>
            </a:endParaRPr>
          </a:p>
        </p:txBody>
      </p:sp>
      <p:sp>
        <p:nvSpPr>
          <p:cNvPr id="458" name="Shape 25"/>
          <p:cNvSpPr/>
          <p:nvPr/>
        </p:nvSpPr>
        <p:spPr>
          <a:xfrm>
            <a:off x="182880" y="4233600"/>
            <a:ext cx="8777880" cy="703800"/>
          </a:xfrm>
          <a:prstGeom prst="rect">
            <a:avLst/>
          </a:prstGeom>
          <a:solidFill>
            <a:srgbClr val="1e2d3d"/>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59" name="Text 26"/>
          <p:cNvSpPr/>
          <p:nvPr/>
        </p:nvSpPr>
        <p:spPr>
          <a:xfrm>
            <a:off x="292680" y="4233600"/>
            <a:ext cx="8549280" cy="703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250" strike="noStrike" u="none">
                <a:solidFill>
                  <a:srgbClr val="9cd5ff"/>
                </a:solidFill>
                <a:effectLst/>
                <a:uFillTx/>
                <a:latin typeface="Consolas"/>
                <a:ea typeface="Consolas"/>
              </a:rPr>
              <a:t>// Write your Java solution here — implement during the class session</a:t>
            </a:r>
            <a:endParaRPr b="0" lang="en-IN" sz="12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8f0"/>
        </a:solidFill>
      </p:bgPr>
    </p:bg>
    <p:spTree>
      <p:nvGrpSpPr>
        <p:cNvPr id="1" name=""/>
        <p:cNvGrpSpPr/>
        <p:nvPr/>
      </p:nvGrpSpPr>
      <p:grpSpPr>
        <a:xfrm>
          <a:off x="0" y="0"/>
          <a:ext cx="0" cy="0"/>
          <a:chOff x="0" y="0"/>
          <a:chExt cx="0" cy="0"/>
        </a:xfrm>
      </p:grpSpPr>
      <p:sp>
        <p:nvSpPr>
          <p:cNvPr id="460" name="Shape 0"/>
          <p:cNvSpPr/>
          <p:nvPr/>
        </p:nvSpPr>
        <p:spPr>
          <a:xfrm>
            <a:off x="0" y="0"/>
            <a:ext cx="914364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61" name="Shape 1"/>
          <p:cNvSpPr/>
          <p:nvPr/>
        </p:nvSpPr>
        <p:spPr>
          <a:xfrm>
            <a:off x="201240" y="109800"/>
            <a:ext cx="493560" cy="493560"/>
          </a:xfrm>
          <a:prstGeom prst="rect">
            <a:avLst/>
          </a:prstGeom>
          <a:solidFill>
            <a:srgbClr val="9cd5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62" name="Text 2"/>
          <p:cNvSpPr/>
          <p:nvPr/>
        </p:nvSpPr>
        <p:spPr>
          <a:xfrm>
            <a:off x="201240" y="109800"/>
            <a:ext cx="493560" cy="493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700" strike="noStrike" u="none">
                <a:solidFill>
                  <a:srgbClr val="355872"/>
                </a:solidFill>
                <a:effectLst/>
                <a:uFillTx/>
                <a:latin typeface="Calibri"/>
                <a:ea typeface="Calibri"/>
              </a:rPr>
              <a:t>5</a:t>
            </a:r>
            <a:endParaRPr b="0" lang="en-IN" sz="1700" strike="noStrike" u="none">
              <a:solidFill>
                <a:srgbClr val="000000"/>
              </a:solidFill>
              <a:effectLst/>
              <a:uFillTx/>
              <a:latin typeface="Arial"/>
            </a:endParaRPr>
          </a:p>
        </p:txBody>
      </p:sp>
      <p:sp>
        <p:nvSpPr>
          <p:cNvPr id="463" name="Text 3"/>
          <p:cNvSpPr/>
          <p:nvPr/>
        </p:nvSpPr>
        <p:spPr>
          <a:xfrm>
            <a:off x="822960" y="91440"/>
            <a:ext cx="768060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trike="noStrike" u="none">
                <a:solidFill>
                  <a:srgbClr val="ffffff"/>
                </a:solidFill>
                <a:effectLst/>
                <a:uFillTx/>
                <a:latin typeface="Calibri"/>
                <a:ea typeface="Calibri"/>
              </a:rPr>
              <a:t>Indian Railways — Ticket Booking</a:t>
            </a:r>
            <a:endParaRPr b="0" lang="en-IN" sz="1800" strike="noStrike" u="none">
              <a:solidFill>
                <a:srgbClr val="000000"/>
              </a:solidFill>
              <a:effectLst/>
              <a:uFillTx/>
              <a:latin typeface="Arial"/>
            </a:endParaRPr>
          </a:p>
        </p:txBody>
      </p:sp>
      <p:sp>
        <p:nvSpPr>
          <p:cNvPr id="464" name="Text 4"/>
          <p:cNvSpPr/>
          <p:nvPr/>
        </p:nvSpPr>
        <p:spPr>
          <a:xfrm>
            <a:off x="822960" y="521280"/>
            <a:ext cx="548604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trike="noStrike" u="none">
                <a:solidFill>
                  <a:srgbClr val="9cd5ff"/>
                </a:solidFill>
                <a:effectLst/>
                <a:uFillTx/>
                <a:latin typeface="Calibri"/>
                <a:ea typeface="Calibri"/>
              </a:rPr>
              <a:t>Problem 5 of 8  —  Java OOP Basics</a:t>
            </a:r>
            <a:endParaRPr b="0" lang="en-IN" sz="900" strike="noStrike" u="none">
              <a:solidFill>
                <a:srgbClr val="000000"/>
              </a:solidFill>
              <a:effectLst/>
              <a:uFillTx/>
              <a:latin typeface="Arial"/>
            </a:endParaRPr>
          </a:p>
        </p:txBody>
      </p:sp>
      <p:sp>
        <p:nvSpPr>
          <p:cNvPr id="465" name="Shape 5"/>
          <p:cNvSpPr/>
          <p:nvPr/>
        </p:nvSpPr>
        <p:spPr>
          <a:xfrm>
            <a:off x="182880" y="896040"/>
            <a:ext cx="5074560" cy="138960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66" name="Shape 6"/>
          <p:cNvSpPr/>
          <p:nvPr/>
        </p:nvSpPr>
        <p:spPr>
          <a:xfrm>
            <a:off x="182880" y="896040"/>
            <a:ext cx="63720" cy="138960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67" name="Text 7"/>
          <p:cNvSpPr/>
          <p:nvPr/>
        </p:nvSpPr>
        <p:spPr>
          <a:xfrm>
            <a:off x="320040" y="932760"/>
            <a:ext cx="48459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SCENARIO</a:t>
            </a:r>
            <a:endParaRPr b="0" lang="en-IN" sz="900" strike="noStrike" u="none">
              <a:solidFill>
                <a:srgbClr val="000000"/>
              </a:solidFill>
              <a:effectLst/>
              <a:uFillTx/>
              <a:latin typeface="Arial"/>
            </a:endParaRPr>
          </a:p>
        </p:txBody>
      </p:sp>
      <p:sp>
        <p:nvSpPr>
          <p:cNvPr id="468" name="Text 8"/>
          <p:cNvSpPr/>
          <p:nvPr/>
        </p:nvSpPr>
        <p:spPr>
          <a:xfrm>
            <a:off x="320040" y="1161360"/>
            <a:ext cx="4845960" cy="1051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00" strike="noStrike" u="none">
                <a:solidFill>
                  <a:srgbClr val="1e3a4a"/>
                </a:solidFill>
                <a:effectLst/>
                <a:uFillTx/>
                <a:latin typeface="Calibri"/>
                <a:ea typeface="Calibri"/>
              </a:rPr>
              <a:t>Indian Railways needs to model train ticket bookings. Each ticket must store passenger name, PNR number, seat number, and fare. The fare must be kept private — passengers can only view it through an official method, not change it directly.</a:t>
            </a:r>
            <a:endParaRPr b="0" lang="en-IN" sz="1200" strike="noStrike" u="none">
              <a:solidFill>
                <a:srgbClr val="000000"/>
              </a:solidFill>
              <a:effectLst/>
              <a:uFillTx/>
              <a:latin typeface="Arial"/>
            </a:endParaRPr>
          </a:p>
        </p:txBody>
      </p:sp>
      <p:sp>
        <p:nvSpPr>
          <p:cNvPr id="469" name="Shape 9"/>
          <p:cNvSpPr/>
          <p:nvPr/>
        </p:nvSpPr>
        <p:spPr>
          <a:xfrm>
            <a:off x="182880" y="2395800"/>
            <a:ext cx="5074560" cy="1718640"/>
          </a:xfrm>
          <a:prstGeom prst="rect">
            <a:avLst/>
          </a:prstGeom>
          <a:solidFill>
            <a:srgbClr val="d6eaf8"/>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70" name="Shape 10"/>
          <p:cNvSpPr/>
          <p:nvPr/>
        </p:nvSpPr>
        <p:spPr>
          <a:xfrm>
            <a:off x="182880" y="2395800"/>
            <a:ext cx="63720" cy="171864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71" name="Text 11"/>
          <p:cNvSpPr/>
          <p:nvPr/>
        </p:nvSpPr>
        <p:spPr>
          <a:xfrm>
            <a:off x="320040" y="2432160"/>
            <a:ext cx="48459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YOUR TASK</a:t>
            </a:r>
            <a:endParaRPr b="0" lang="en-IN" sz="900" strike="noStrike" u="none">
              <a:solidFill>
                <a:srgbClr val="000000"/>
              </a:solidFill>
              <a:effectLst/>
              <a:uFillTx/>
              <a:latin typeface="Arial"/>
            </a:endParaRPr>
          </a:p>
        </p:txBody>
      </p:sp>
      <p:sp>
        <p:nvSpPr>
          <p:cNvPr id="472" name="Text 12"/>
          <p:cNvSpPr/>
          <p:nvPr/>
        </p:nvSpPr>
        <p:spPr>
          <a:xfrm>
            <a:off x="320040" y="2660760"/>
            <a:ext cx="4845960" cy="13896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Create class Ticket with: private double fare, and public String passengerName, pnr, seatNo</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a parameterized constructor to initialise all four fields</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public double getFare() — the only way to read fare</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public void printTicket() to display a formatted ticket with all details</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In main(), book 2 tickets (Ramesh and Mukesh) and print both tickets</a:t>
            </a:r>
            <a:endParaRPr b="0" lang="en-IN" sz="1150" strike="noStrike" u="none">
              <a:solidFill>
                <a:srgbClr val="000000"/>
              </a:solidFill>
              <a:effectLst/>
              <a:uFillTx/>
              <a:latin typeface="Arial"/>
            </a:endParaRPr>
          </a:p>
        </p:txBody>
      </p:sp>
      <p:sp>
        <p:nvSpPr>
          <p:cNvPr id="473" name="Shape 13"/>
          <p:cNvSpPr/>
          <p:nvPr/>
        </p:nvSpPr>
        <p:spPr>
          <a:xfrm>
            <a:off x="5440680" y="896040"/>
            <a:ext cx="3520080" cy="1389600"/>
          </a:xfrm>
          <a:prstGeom prst="rect">
            <a:avLst/>
          </a:prstGeom>
          <a:solidFill>
            <a:srgbClr val="f7f8f0"/>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74" name="Shape 14"/>
          <p:cNvSpPr/>
          <p:nvPr/>
        </p:nvSpPr>
        <p:spPr>
          <a:xfrm>
            <a:off x="5440680" y="896040"/>
            <a:ext cx="63720" cy="1389600"/>
          </a:xfrm>
          <a:prstGeom prst="rect">
            <a:avLst/>
          </a:prstGeom>
          <a:solidFill>
            <a:srgbClr val="9cd5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75" name="Text 15"/>
          <p:cNvSpPr/>
          <p:nvPr/>
        </p:nvSpPr>
        <p:spPr>
          <a:xfrm>
            <a:off x="5577840" y="932760"/>
            <a:ext cx="329148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HINTS</a:t>
            </a:r>
            <a:endParaRPr b="0" lang="en-IN" sz="900" strike="noStrike" u="none">
              <a:solidFill>
                <a:srgbClr val="000000"/>
              </a:solidFill>
              <a:effectLst/>
              <a:uFillTx/>
              <a:latin typeface="Arial"/>
            </a:endParaRPr>
          </a:p>
        </p:txBody>
      </p:sp>
      <p:sp>
        <p:nvSpPr>
          <p:cNvPr id="476" name="Text 16"/>
          <p:cNvSpPr/>
          <p:nvPr/>
        </p:nvSpPr>
        <p:spPr>
          <a:xfrm>
            <a:off x="5577840" y="1161360"/>
            <a:ext cx="3291480" cy="10512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fare is private — it cannot be accessed directly outside the class</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Format the ticket output neatly, like: PNR: 1023456 | Seat: B3 | Fare: ₹550</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No setter for fare — once set in constructor, it cannot be changed</a:t>
            </a:r>
            <a:endParaRPr b="0" lang="en-IN" sz="1150" strike="noStrike" u="none">
              <a:solidFill>
                <a:srgbClr val="000000"/>
              </a:solidFill>
              <a:effectLst/>
              <a:uFillTx/>
              <a:latin typeface="Arial"/>
            </a:endParaRPr>
          </a:p>
        </p:txBody>
      </p:sp>
      <p:sp>
        <p:nvSpPr>
          <p:cNvPr id="477" name="Shape 17"/>
          <p:cNvSpPr/>
          <p:nvPr/>
        </p:nvSpPr>
        <p:spPr>
          <a:xfrm>
            <a:off x="5440680" y="2395800"/>
            <a:ext cx="3520080" cy="91404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78" name="Shape 18"/>
          <p:cNvSpPr/>
          <p:nvPr/>
        </p:nvSpPr>
        <p:spPr>
          <a:xfrm>
            <a:off x="5440680" y="2395800"/>
            <a:ext cx="63720" cy="91404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79" name="Text 19"/>
          <p:cNvSpPr/>
          <p:nvPr/>
        </p:nvSpPr>
        <p:spPr>
          <a:xfrm>
            <a:off x="5577840" y="2432160"/>
            <a:ext cx="329148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CONCEPTS USED</a:t>
            </a:r>
            <a:endParaRPr b="0" lang="en-IN" sz="900" strike="noStrike" u="none">
              <a:solidFill>
                <a:srgbClr val="000000"/>
              </a:solidFill>
              <a:effectLst/>
              <a:uFillTx/>
              <a:latin typeface="Arial"/>
            </a:endParaRPr>
          </a:p>
        </p:txBody>
      </p:sp>
      <p:sp>
        <p:nvSpPr>
          <p:cNvPr id="480" name="Text 20"/>
          <p:cNvSpPr/>
          <p:nvPr/>
        </p:nvSpPr>
        <p:spPr>
          <a:xfrm>
            <a:off x="5577840" y="2660760"/>
            <a:ext cx="3291480" cy="5940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Class</a:t>
            </a:r>
            <a:endParaRPr b="0" lang="en-IN" sz="1150" strike="noStrike" u="none">
              <a:solidFill>
                <a:srgbClr val="000000"/>
              </a:solidFill>
              <a:effectLst/>
              <a:uFillTx/>
              <a:latin typeface="Arial"/>
            </a:endParaRPr>
          </a:p>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private + getter (no setter)</a:t>
            </a:r>
            <a:endParaRPr b="0" lang="en-IN" sz="1150" strike="noStrike" u="none">
              <a:solidFill>
                <a:srgbClr val="000000"/>
              </a:solidFill>
              <a:effectLst/>
              <a:uFillTx/>
              <a:latin typeface="Arial"/>
            </a:endParaRPr>
          </a:p>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Parameterized Constructor</a:t>
            </a:r>
            <a:endParaRPr b="0" lang="en-IN" sz="1150" strike="noStrike" u="none">
              <a:solidFill>
                <a:srgbClr val="000000"/>
              </a:solidFill>
              <a:effectLst/>
              <a:uFillTx/>
              <a:latin typeface="Arial"/>
            </a:endParaRPr>
          </a:p>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Encapsulation</a:t>
            </a:r>
            <a:endParaRPr b="0" lang="en-IN" sz="1150" strike="noStrike" u="none">
              <a:solidFill>
                <a:srgbClr val="000000"/>
              </a:solidFill>
              <a:effectLst/>
              <a:uFillTx/>
              <a:latin typeface="Arial"/>
            </a:endParaRPr>
          </a:p>
        </p:txBody>
      </p:sp>
      <p:sp>
        <p:nvSpPr>
          <p:cNvPr id="481" name="Shape 21"/>
          <p:cNvSpPr/>
          <p:nvPr/>
        </p:nvSpPr>
        <p:spPr>
          <a:xfrm>
            <a:off x="5440680" y="3410640"/>
            <a:ext cx="3520080" cy="703800"/>
          </a:xfrm>
          <a:prstGeom prst="rect">
            <a:avLst/>
          </a:prstGeom>
          <a:solidFill>
            <a:srgbClr val="e3f2f5"/>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82" name="Shape 22"/>
          <p:cNvSpPr/>
          <p:nvPr/>
        </p:nvSpPr>
        <p:spPr>
          <a:xfrm>
            <a:off x="5440680" y="3410640"/>
            <a:ext cx="63720" cy="703800"/>
          </a:xfrm>
          <a:prstGeom prst="rect">
            <a:avLst/>
          </a:prstGeom>
          <a:solidFill>
            <a:srgbClr val="2a6e7a"/>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83" name="Text 23"/>
          <p:cNvSpPr/>
          <p:nvPr/>
        </p:nvSpPr>
        <p:spPr>
          <a:xfrm>
            <a:off x="5577840" y="3447360"/>
            <a:ext cx="329148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2a6e7a"/>
                </a:solidFill>
                <a:effectLst/>
                <a:uFillTx/>
                <a:latin typeface="Calibri"/>
                <a:ea typeface="Calibri"/>
              </a:rPr>
              <a:t>INDIA CONTEXT</a:t>
            </a:r>
            <a:endParaRPr b="0" lang="en-IN" sz="900" strike="noStrike" u="none">
              <a:solidFill>
                <a:srgbClr val="000000"/>
              </a:solidFill>
              <a:effectLst/>
              <a:uFillTx/>
              <a:latin typeface="Arial"/>
            </a:endParaRPr>
          </a:p>
        </p:txBody>
      </p:sp>
      <p:sp>
        <p:nvSpPr>
          <p:cNvPr id="484" name="Text 24"/>
          <p:cNvSpPr/>
          <p:nvPr/>
        </p:nvSpPr>
        <p:spPr>
          <a:xfrm>
            <a:off x="5577840" y="3639240"/>
            <a:ext cx="3291480" cy="420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1e3a4a"/>
                </a:solidFill>
                <a:effectLst/>
                <a:uFillTx/>
                <a:latin typeface="Calibri"/>
                <a:ea typeface="Calibri"/>
              </a:rPr>
              <a:t>Ramesh and Mukesh — IRCTC booking, Delhi to Mumbai Rajdhani</a:t>
            </a:r>
            <a:endParaRPr b="0" lang="en-IN" sz="1100" strike="noStrike" u="none">
              <a:solidFill>
                <a:srgbClr val="000000"/>
              </a:solidFill>
              <a:effectLst/>
              <a:uFillTx/>
              <a:latin typeface="Arial"/>
            </a:endParaRPr>
          </a:p>
        </p:txBody>
      </p:sp>
      <p:sp>
        <p:nvSpPr>
          <p:cNvPr id="485" name="Shape 25"/>
          <p:cNvSpPr/>
          <p:nvPr/>
        </p:nvSpPr>
        <p:spPr>
          <a:xfrm>
            <a:off x="182880" y="4233600"/>
            <a:ext cx="8777880" cy="703800"/>
          </a:xfrm>
          <a:prstGeom prst="rect">
            <a:avLst/>
          </a:prstGeom>
          <a:solidFill>
            <a:srgbClr val="1e2d3d"/>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86" name="Text 26"/>
          <p:cNvSpPr/>
          <p:nvPr/>
        </p:nvSpPr>
        <p:spPr>
          <a:xfrm>
            <a:off x="292680" y="4233600"/>
            <a:ext cx="8549280" cy="703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250" strike="noStrike" u="none">
                <a:solidFill>
                  <a:srgbClr val="9cd5ff"/>
                </a:solidFill>
                <a:effectLst/>
                <a:uFillTx/>
                <a:latin typeface="Consolas"/>
                <a:ea typeface="Consolas"/>
              </a:rPr>
              <a:t>// Write your Java solution here — implement during the class session</a:t>
            </a:r>
            <a:endParaRPr b="0" lang="en-IN" sz="12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8f0"/>
        </a:solidFill>
      </p:bgPr>
    </p:bg>
    <p:spTree>
      <p:nvGrpSpPr>
        <p:cNvPr id="1" name=""/>
        <p:cNvGrpSpPr/>
        <p:nvPr/>
      </p:nvGrpSpPr>
      <p:grpSpPr>
        <a:xfrm>
          <a:off x="0" y="0"/>
          <a:ext cx="0" cy="0"/>
          <a:chOff x="0" y="0"/>
          <a:chExt cx="0" cy="0"/>
        </a:xfrm>
      </p:grpSpPr>
      <p:sp>
        <p:nvSpPr>
          <p:cNvPr id="487" name="Shape 0"/>
          <p:cNvSpPr/>
          <p:nvPr/>
        </p:nvSpPr>
        <p:spPr>
          <a:xfrm>
            <a:off x="0" y="0"/>
            <a:ext cx="914364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88" name="Shape 1"/>
          <p:cNvSpPr/>
          <p:nvPr/>
        </p:nvSpPr>
        <p:spPr>
          <a:xfrm>
            <a:off x="201240" y="109800"/>
            <a:ext cx="493560" cy="493560"/>
          </a:xfrm>
          <a:prstGeom prst="rect">
            <a:avLst/>
          </a:prstGeom>
          <a:solidFill>
            <a:srgbClr val="9cd5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89" name="Text 2"/>
          <p:cNvSpPr/>
          <p:nvPr/>
        </p:nvSpPr>
        <p:spPr>
          <a:xfrm>
            <a:off x="201240" y="109800"/>
            <a:ext cx="493560" cy="493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700" strike="noStrike" u="none">
                <a:solidFill>
                  <a:srgbClr val="355872"/>
                </a:solidFill>
                <a:effectLst/>
                <a:uFillTx/>
                <a:latin typeface="Calibri"/>
                <a:ea typeface="Calibri"/>
              </a:rPr>
              <a:t>6</a:t>
            </a:r>
            <a:endParaRPr b="0" lang="en-IN" sz="1700" strike="noStrike" u="none">
              <a:solidFill>
                <a:srgbClr val="000000"/>
              </a:solidFill>
              <a:effectLst/>
              <a:uFillTx/>
              <a:latin typeface="Arial"/>
            </a:endParaRPr>
          </a:p>
        </p:txBody>
      </p:sp>
      <p:sp>
        <p:nvSpPr>
          <p:cNvPr id="490" name="Text 3"/>
          <p:cNvSpPr/>
          <p:nvPr/>
        </p:nvSpPr>
        <p:spPr>
          <a:xfrm>
            <a:off x="822960" y="91440"/>
            <a:ext cx="768060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trike="noStrike" u="none">
                <a:solidFill>
                  <a:srgbClr val="ffffff"/>
                </a:solidFill>
                <a:effectLst/>
                <a:uFillTx/>
                <a:latin typeface="Calibri"/>
                <a:ea typeface="Calibri"/>
              </a:rPr>
              <a:t>Utility Class — Static Methods Only</a:t>
            </a:r>
            <a:endParaRPr b="0" lang="en-IN" sz="1800" strike="noStrike" u="none">
              <a:solidFill>
                <a:srgbClr val="000000"/>
              </a:solidFill>
              <a:effectLst/>
              <a:uFillTx/>
              <a:latin typeface="Arial"/>
            </a:endParaRPr>
          </a:p>
        </p:txBody>
      </p:sp>
      <p:sp>
        <p:nvSpPr>
          <p:cNvPr id="491" name="Text 4"/>
          <p:cNvSpPr/>
          <p:nvPr/>
        </p:nvSpPr>
        <p:spPr>
          <a:xfrm>
            <a:off x="822960" y="521280"/>
            <a:ext cx="548604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trike="noStrike" u="none">
                <a:solidFill>
                  <a:srgbClr val="9cd5ff"/>
                </a:solidFill>
                <a:effectLst/>
                <a:uFillTx/>
                <a:latin typeface="Calibri"/>
                <a:ea typeface="Calibri"/>
              </a:rPr>
              <a:t>Problem 6 of 8  —  Java OOP Basics</a:t>
            </a:r>
            <a:endParaRPr b="0" lang="en-IN" sz="900" strike="noStrike" u="none">
              <a:solidFill>
                <a:srgbClr val="000000"/>
              </a:solidFill>
              <a:effectLst/>
              <a:uFillTx/>
              <a:latin typeface="Arial"/>
            </a:endParaRPr>
          </a:p>
        </p:txBody>
      </p:sp>
      <p:sp>
        <p:nvSpPr>
          <p:cNvPr id="492" name="Shape 5"/>
          <p:cNvSpPr/>
          <p:nvPr/>
        </p:nvSpPr>
        <p:spPr>
          <a:xfrm>
            <a:off x="182880" y="896040"/>
            <a:ext cx="5074560" cy="138960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93" name="Shape 6"/>
          <p:cNvSpPr/>
          <p:nvPr/>
        </p:nvSpPr>
        <p:spPr>
          <a:xfrm>
            <a:off x="182880" y="896040"/>
            <a:ext cx="63720" cy="138960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494" name="Text 7"/>
          <p:cNvSpPr/>
          <p:nvPr/>
        </p:nvSpPr>
        <p:spPr>
          <a:xfrm>
            <a:off x="320040" y="932760"/>
            <a:ext cx="48459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SCENARIO</a:t>
            </a:r>
            <a:endParaRPr b="0" lang="en-IN" sz="900" strike="noStrike" u="none">
              <a:solidFill>
                <a:srgbClr val="000000"/>
              </a:solidFill>
              <a:effectLst/>
              <a:uFillTx/>
              <a:latin typeface="Arial"/>
            </a:endParaRPr>
          </a:p>
        </p:txBody>
      </p:sp>
      <p:sp>
        <p:nvSpPr>
          <p:cNvPr id="495" name="Text 8"/>
          <p:cNvSpPr/>
          <p:nvPr/>
        </p:nvSpPr>
        <p:spPr>
          <a:xfrm>
            <a:off x="320040" y="1161360"/>
            <a:ext cx="4845960" cy="1051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00" strike="noStrike" u="none">
                <a:solidFill>
                  <a:srgbClr val="1e3a4a"/>
                </a:solidFill>
                <a:effectLst/>
                <a:uFillTx/>
                <a:latin typeface="Calibri"/>
                <a:ea typeface="Calibri"/>
              </a:rPr>
              <a:t>Jitesh is building a MathUtils helper class for a Pune fintech startup. The class must provide reusable math operations that any part of the codebase can call without ever creating a MathUtils object.</a:t>
            </a:r>
            <a:endParaRPr b="0" lang="en-IN" sz="1200" strike="noStrike" u="none">
              <a:solidFill>
                <a:srgbClr val="000000"/>
              </a:solidFill>
              <a:effectLst/>
              <a:uFillTx/>
              <a:latin typeface="Arial"/>
            </a:endParaRPr>
          </a:p>
        </p:txBody>
      </p:sp>
      <p:sp>
        <p:nvSpPr>
          <p:cNvPr id="496" name="Shape 9"/>
          <p:cNvSpPr/>
          <p:nvPr/>
        </p:nvSpPr>
        <p:spPr>
          <a:xfrm>
            <a:off x="182880" y="2395800"/>
            <a:ext cx="5074560" cy="1718640"/>
          </a:xfrm>
          <a:prstGeom prst="rect">
            <a:avLst/>
          </a:prstGeom>
          <a:solidFill>
            <a:srgbClr val="d6eaf8"/>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97" name="Shape 10"/>
          <p:cNvSpPr/>
          <p:nvPr/>
        </p:nvSpPr>
        <p:spPr>
          <a:xfrm>
            <a:off x="182880" y="2395800"/>
            <a:ext cx="63720" cy="171864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98" name="Text 11"/>
          <p:cNvSpPr/>
          <p:nvPr/>
        </p:nvSpPr>
        <p:spPr>
          <a:xfrm>
            <a:off x="320040" y="2432160"/>
            <a:ext cx="48459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YOUR TASK</a:t>
            </a:r>
            <a:endParaRPr b="0" lang="en-IN" sz="900" strike="noStrike" u="none">
              <a:solidFill>
                <a:srgbClr val="000000"/>
              </a:solidFill>
              <a:effectLst/>
              <a:uFillTx/>
              <a:latin typeface="Arial"/>
            </a:endParaRPr>
          </a:p>
        </p:txBody>
      </p:sp>
      <p:sp>
        <p:nvSpPr>
          <p:cNvPr id="499" name="Text 12"/>
          <p:cNvSpPr/>
          <p:nvPr/>
        </p:nvSpPr>
        <p:spPr>
          <a:xfrm>
            <a:off x="320040" y="2660760"/>
            <a:ext cx="4845960" cy="13896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Create class MathUtils with no instance fields and no constructor</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static int square(int n) — returns n × n</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static double power(int base, int exp) — returns base raised to exp</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static boolean isEven(int n) — returns true if n is divisible by 2</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static int max(int a, int b) — returns the larger of the two numbers</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In main(), call all four methods using MathUtils.methodName() — never create any object</a:t>
            </a:r>
            <a:endParaRPr b="0" lang="en-IN" sz="1150" strike="noStrike" u="none">
              <a:solidFill>
                <a:srgbClr val="000000"/>
              </a:solidFill>
              <a:effectLst/>
              <a:uFillTx/>
              <a:latin typeface="Arial"/>
            </a:endParaRPr>
          </a:p>
        </p:txBody>
      </p:sp>
      <p:sp>
        <p:nvSpPr>
          <p:cNvPr id="500" name="Shape 13"/>
          <p:cNvSpPr/>
          <p:nvPr/>
        </p:nvSpPr>
        <p:spPr>
          <a:xfrm>
            <a:off x="5440680" y="896040"/>
            <a:ext cx="3520080" cy="1389600"/>
          </a:xfrm>
          <a:prstGeom prst="rect">
            <a:avLst/>
          </a:prstGeom>
          <a:solidFill>
            <a:srgbClr val="f7f8f0"/>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01" name="Shape 14"/>
          <p:cNvSpPr/>
          <p:nvPr/>
        </p:nvSpPr>
        <p:spPr>
          <a:xfrm>
            <a:off x="5440680" y="896040"/>
            <a:ext cx="63720" cy="1389600"/>
          </a:xfrm>
          <a:prstGeom prst="rect">
            <a:avLst/>
          </a:prstGeom>
          <a:solidFill>
            <a:srgbClr val="9cd5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02" name="Text 15"/>
          <p:cNvSpPr/>
          <p:nvPr/>
        </p:nvSpPr>
        <p:spPr>
          <a:xfrm>
            <a:off x="5577840" y="932760"/>
            <a:ext cx="329148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HINTS</a:t>
            </a:r>
            <a:endParaRPr b="0" lang="en-IN" sz="900" strike="noStrike" u="none">
              <a:solidFill>
                <a:srgbClr val="000000"/>
              </a:solidFill>
              <a:effectLst/>
              <a:uFillTx/>
              <a:latin typeface="Arial"/>
            </a:endParaRPr>
          </a:p>
        </p:txBody>
      </p:sp>
      <p:sp>
        <p:nvSpPr>
          <p:cNvPr id="503" name="Text 16"/>
          <p:cNvSpPr/>
          <p:nvPr/>
        </p:nvSpPr>
        <p:spPr>
          <a:xfrm>
            <a:off x="5577840" y="1161360"/>
            <a:ext cx="3291480" cy="10512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Every method must be static</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You can use Math.pow() for the power method</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Never write  new MathUtils()  anywhere in main()</a:t>
            </a:r>
            <a:endParaRPr b="0" lang="en-IN" sz="1150" strike="noStrike" u="none">
              <a:solidFill>
                <a:srgbClr val="000000"/>
              </a:solidFill>
              <a:effectLst/>
              <a:uFillTx/>
              <a:latin typeface="Arial"/>
            </a:endParaRPr>
          </a:p>
        </p:txBody>
      </p:sp>
      <p:sp>
        <p:nvSpPr>
          <p:cNvPr id="504" name="Shape 17"/>
          <p:cNvSpPr/>
          <p:nvPr/>
        </p:nvSpPr>
        <p:spPr>
          <a:xfrm>
            <a:off x="5440680" y="2395800"/>
            <a:ext cx="3520080" cy="91404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05" name="Shape 18"/>
          <p:cNvSpPr/>
          <p:nvPr/>
        </p:nvSpPr>
        <p:spPr>
          <a:xfrm>
            <a:off x="5440680" y="2395800"/>
            <a:ext cx="63720" cy="91404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06" name="Text 19"/>
          <p:cNvSpPr/>
          <p:nvPr/>
        </p:nvSpPr>
        <p:spPr>
          <a:xfrm>
            <a:off x="5577840" y="2432160"/>
            <a:ext cx="329148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CONCEPTS USED</a:t>
            </a:r>
            <a:endParaRPr b="0" lang="en-IN" sz="900" strike="noStrike" u="none">
              <a:solidFill>
                <a:srgbClr val="000000"/>
              </a:solidFill>
              <a:effectLst/>
              <a:uFillTx/>
              <a:latin typeface="Arial"/>
            </a:endParaRPr>
          </a:p>
        </p:txBody>
      </p:sp>
      <p:sp>
        <p:nvSpPr>
          <p:cNvPr id="507" name="Text 20"/>
          <p:cNvSpPr/>
          <p:nvPr/>
        </p:nvSpPr>
        <p:spPr>
          <a:xfrm>
            <a:off x="5577840" y="2660760"/>
            <a:ext cx="3291480" cy="5940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static methods</a:t>
            </a:r>
            <a:endParaRPr b="0" lang="en-IN" sz="1150" strike="noStrike" u="none">
              <a:solidFill>
                <a:srgbClr val="000000"/>
              </a:solidFill>
              <a:effectLst/>
              <a:uFillTx/>
              <a:latin typeface="Arial"/>
            </a:endParaRPr>
          </a:p>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Utility / Helper class pattern</a:t>
            </a:r>
            <a:endParaRPr b="0" lang="en-IN" sz="1150" strike="noStrike" u="none">
              <a:solidFill>
                <a:srgbClr val="000000"/>
              </a:solidFill>
              <a:effectLst/>
              <a:uFillTx/>
              <a:latin typeface="Arial"/>
            </a:endParaRPr>
          </a:p>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No object creation</a:t>
            </a:r>
            <a:endParaRPr b="0" lang="en-IN" sz="1150" strike="noStrike" u="none">
              <a:solidFill>
                <a:srgbClr val="000000"/>
              </a:solidFill>
              <a:effectLst/>
              <a:uFillTx/>
              <a:latin typeface="Arial"/>
            </a:endParaRPr>
          </a:p>
        </p:txBody>
      </p:sp>
      <p:sp>
        <p:nvSpPr>
          <p:cNvPr id="508" name="Shape 21"/>
          <p:cNvSpPr/>
          <p:nvPr/>
        </p:nvSpPr>
        <p:spPr>
          <a:xfrm>
            <a:off x="5440680" y="3410640"/>
            <a:ext cx="3520080" cy="703800"/>
          </a:xfrm>
          <a:prstGeom prst="rect">
            <a:avLst/>
          </a:prstGeom>
          <a:solidFill>
            <a:srgbClr val="e3f2f5"/>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09" name="Shape 22"/>
          <p:cNvSpPr/>
          <p:nvPr/>
        </p:nvSpPr>
        <p:spPr>
          <a:xfrm>
            <a:off x="5440680" y="3410640"/>
            <a:ext cx="63720" cy="703800"/>
          </a:xfrm>
          <a:prstGeom prst="rect">
            <a:avLst/>
          </a:prstGeom>
          <a:solidFill>
            <a:srgbClr val="2a6e7a"/>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10" name="Text 23"/>
          <p:cNvSpPr/>
          <p:nvPr/>
        </p:nvSpPr>
        <p:spPr>
          <a:xfrm>
            <a:off x="5577840" y="3447360"/>
            <a:ext cx="329148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2a6e7a"/>
                </a:solidFill>
                <a:effectLst/>
                <a:uFillTx/>
                <a:latin typeface="Calibri"/>
                <a:ea typeface="Calibri"/>
              </a:rPr>
              <a:t>INDIA CONTEXT</a:t>
            </a:r>
            <a:endParaRPr b="0" lang="en-IN" sz="900" strike="noStrike" u="none">
              <a:solidFill>
                <a:srgbClr val="000000"/>
              </a:solidFill>
              <a:effectLst/>
              <a:uFillTx/>
              <a:latin typeface="Arial"/>
            </a:endParaRPr>
          </a:p>
        </p:txBody>
      </p:sp>
      <p:sp>
        <p:nvSpPr>
          <p:cNvPr id="511" name="Text 24"/>
          <p:cNvSpPr/>
          <p:nvPr/>
        </p:nvSpPr>
        <p:spPr>
          <a:xfrm>
            <a:off x="5577840" y="3639240"/>
            <a:ext cx="3291480" cy="420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1e3a4a"/>
                </a:solidFill>
                <a:effectLst/>
                <a:uFillTx/>
                <a:latin typeface="Calibri"/>
                <a:ea typeface="Calibri"/>
              </a:rPr>
              <a:t>Jitesh's fintech startup — Pune, internal math library</a:t>
            </a:r>
            <a:endParaRPr b="0" lang="en-IN" sz="1100" strike="noStrike" u="none">
              <a:solidFill>
                <a:srgbClr val="000000"/>
              </a:solidFill>
              <a:effectLst/>
              <a:uFillTx/>
              <a:latin typeface="Arial"/>
            </a:endParaRPr>
          </a:p>
        </p:txBody>
      </p:sp>
      <p:sp>
        <p:nvSpPr>
          <p:cNvPr id="512" name="Shape 25"/>
          <p:cNvSpPr/>
          <p:nvPr/>
        </p:nvSpPr>
        <p:spPr>
          <a:xfrm>
            <a:off x="182880" y="4233600"/>
            <a:ext cx="8777880" cy="703800"/>
          </a:xfrm>
          <a:prstGeom prst="rect">
            <a:avLst/>
          </a:prstGeom>
          <a:solidFill>
            <a:srgbClr val="1e2d3d"/>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13" name="Text 26"/>
          <p:cNvSpPr/>
          <p:nvPr/>
        </p:nvSpPr>
        <p:spPr>
          <a:xfrm>
            <a:off x="292680" y="4233600"/>
            <a:ext cx="8549280" cy="703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250" strike="noStrike" u="none">
                <a:solidFill>
                  <a:srgbClr val="9cd5ff"/>
                </a:solidFill>
                <a:effectLst/>
                <a:uFillTx/>
                <a:latin typeface="Consolas"/>
                <a:ea typeface="Consolas"/>
              </a:rPr>
              <a:t>// Write your Java solution here — implement during the class session</a:t>
            </a:r>
            <a:endParaRPr b="0" lang="en-IN" sz="12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8f0"/>
        </a:solidFill>
      </p:bgPr>
    </p:bg>
    <p:spTree>
      <p:nvGrpSpPr>
        <p:cNvPr id="1" name=""/>
        <p:cNvGrpSpPr/>
        <p:nvPr/>
      </p:nvGrpSpPr>
      <p:grpSpPr>
        <a:xfrm>
          <a:off x="0" y="0"/>
          <a:ext cx="0" cy="0"/>
          <a:chOff x="0" y="0"/>
          <a:chExt cx="0" cy="0"/>
        </a:xfrm>
      </p:grpSpPr>
      <p:sp>
        <p:nvSpPr>
          <p:cNvPr id="514" name="Shape 0"/>
          <p:cNvSpPr/>
          <p:nvPr/>
        </p:nvSpPr>
        <p:spPr>
          <a:xfrm>
            <a:off x="0" y="0"/>
            <a:ext cx="914364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15" name="Shape 1"/>
          <p:cNvSpPr/>
          <p:nvPr/>
        </p:nvSpPr>
        <p:spPr>
          <a:xfrm>
            <a:off x="201240" y="109800"/>
            <a:ext cx="493560" cy="493560"/>
          </a:xfrm>
          <a:prstGeom prst="rect">
            <a:avLst/>
          </a:prstGeom>
          <a:solidFill>
            <a:srgbClr val="9cd5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16" name="Text 2"/>
          <p:cNvSpPr/>
          <p:nvPr/>
        </p:nvSpPr>
        <p:spPr>
          <a:xfrm>
            <a:off x="201240" y="109800"/>
            <a:ext cx="493560" cy="493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700" strike="noStrike" u="none">
                <a:solidFill>
                  <a:srgbClr val="355872"/>
                </a:solidFill>
                <a:effectLst/>
                <a:uFillTx/>
                <a:latin typeface="Calibri"/>
                <a:ea typeface="Calibri"/>
              </a:rPr>
              <a:t>7</a:t>
            </a:r>
            <a:endParaRPr b="0" lang="en-IN" sz="1700" strike="noStrike" u="none">
              <a:solidFill>
                <a:srgbClr val="000000"/>
              </a:solidFill>
              <a:effectLst/>
              <a:uFillTx/>
              <a:latin typeface="Arial"/>
            </a:endParaRPr>
          </a:p>
        </p:txBody>
      </p:sp>
      <p:sp>
        <p:nvSpPr>
          <p:cNvPr id="517" name="Text 3"/>
          <p:cNvSpPr/>
          <p:nvPr/>
        </p:nvSpPr>
        <p:spPr>
          <a:xfrm>
            <a:off x="822960" y="91440"/>
            <a:ext cx="768060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trike="noStrike" u="none">
                <a:solidFill>
                  <a:srgbClr val="ffffff"/>
                </a:solidFill>
                <a:effectLst/>
                <a:uFillTx/>
                <a:latin typeface="Calibri"/>
                <a:ea typeface="Calibri"/>
              </a:rPr>
              <a:t>Library Management System</a:t>
            </a:r>
            <a:endParaRPr b="0" lang="en-IN" sz="1800" strike="noStrike" u="none">
              <a:solidFill>
                <a:srgbClr val="000000"/>
              </a:solidFill>
              <a:effectLst/>
              <a:uFillTx/>
              <a:latin typeface="Arial"/>
            </a:endParaRPr>
          </a:p>
        </p:txBody>
      </p:sp>
      <p:sp>
        <p:nvSpPr>
          <p:cNvPr id="518" name="Text 4"/>
          <p:cNvSpPr/>
          <p:nvPr/>
        </p:nvSpPr>
        <p:spPr>
          <a:xfrm>
            <a:off x="822960" y="521280"/>
            <a:ext cx="548604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trike="noStrike" u="none">
                <a:solidFill>
                  <a:srgbClr val="9cd5ff"/>
                </a:solidFill>
                <a:effectLst/>
                <a:uFillTx/>
                <a:latin typeface="Calibri"/>
                <a:ea typeface="Calibri"/>
              </a:rPr>
              <a:t>Problem 7 of 8  —  Java OOP Basics</a:t>
            </a:r>
            <a:endParaRPr b="0" lang="en-IN" sz="900" strike="noStrike" u="none">
              <a:solidFill>
                <a:srgbClr val="000000"/>
              </a:solidFill>
              <a:effectLst/>
              <a:uFillTx/>
              <a:latin typeface="Arial"/>
            </a:endParaRPr>
          </a:p>
        </p:txBody>
      </p:sp>
      <p:sp>
        <p:nvSpPr>
          <p:cNvPr id="519" name="Shape 5"/>
          <p:cNvSpPr/>
          <p:nvPr/>
        </p:nvSpPr>
        <p:spPr>
          <a:xfrm>
            <a:off x="182880" y="896040"/>
            <a:ext cx="5074560" cy="138960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20" name="Shape 6"/>
          <p:cNvSpPr/>
          <p:nvPr/>
        </p:nvSpPr>
        <p:spPr>
          <a:xfrm>
            <a:off x="182880" y="896040"/>
            <a:ext cx="63720" cy="138960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21" name="Text 7"/>
          <p:cNvSpPr/>
          <p:nvPr/>
        </p:nvSpPr>
        <p:spPr>
          <a:xfrm>
            <a:off x="320040" y="932760"/>
            <a:ext cx="48459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SCENARIO</a:t>
            </a:r>
            <a:endParaRPr b="0" lang="en-IN" sz="900" strike="noStrike" u="none">
              <a:solidFill>
                <a:srgbClr val="000000"/>
              </a:solidFill>
              <a:effectLst/>
              <a:uFillTx/>
              <a:latin typeface="Arial"/>
            </a:endParaRPr>
          </a:p>
        </p:txBody>
      </p:sp>
      <p:sp>
        <p:nvSpPr>
          <p:cNvPr id="522" name="Text 8"/>
          <p:cNvSpPr/>
          <p:nvPr/>
        </p:nvSpPr>
        <p:spPr>
          <a:xfrm>
            <a:off x="320040" y="1161360"/>
            <a:ext cx="4845960" cy="1051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00" strike="noStrike" u="none">
                <a:solidFill>
                  <a:srgbClr val="1e3a4a"/>
                </a:solidFill>
                <a:effectLst/>
                <a:uFillTx/>
                <a:latin typeface="Calibri"/>
                <a:ea typeface="Calibri"/>
              </a:rPr>
              <a:t>A college library in Chennai manages book records. Each book has a title, author, ISBN number, and price. The librarian needs to add books, display their details, and always know the total number of books registered in the system.</a:t>
            </a:r>
            <a:endParaRPr b="0" lang="en-IN" sz="1200" strike="noStrike" u="none">
              <a:solidFill>
                <a:srgbClr val="000000"/>
              </a:solidFill>
              <a:effectLst/>
              <a:uFillTx/>
              <a:latin typeface="Arial"/>
            </a:endParaRPr>
          </a:p>
        </p:txBody>
      </p:sp>
      <p:sp>
        <p:nvSpPr>
          <p:cNvPr id="523" name="Shape 9"/>
          <p:cNvSpPr/>
          <p:nvPr/>
        </p:nvSpPr>
        <p:spPr>
          <a:xfrm>
            <a:off x="182880" y="2395800"/>
            <a:ext cx="5074560" cy="1718640"/>
          </a:xfrm>
          <a:prstGeom prst="rect">
            <a:avLst/>
          </a:prstGeom>
          <a:solidFill>
            <a:srgbClr val="d6eaf8"/>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24" name="Shape 10"/>
          <p:cNvSpPr/>
          <p:nvPr/>
        </p:nvSpPr>
        <p:spPr>
          <a:xfrm>
            <a:off x="182880" y="2395800"/>
            <a:ext cx="63720" cy="171864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25" name="Text 11"/>
          <p:cNvSpPr/>
          <p:nvPr/>
        </p:nvSpPr>
        <p:spPr>
          <a:xfrm>
            <a:off x="320040" y="2432160"/>
            <a:ext cx="48459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YOUR TASK</a:t>
            </a:r>
            <a:endParaRPr b="0" lang="en-IN" sz="900" strike="noStrike" u="none">
              <a:solidFill>
                <a:srgbClr val="000000"/>
              </a:solidFill>
              <a:effectLst/>
              <a:uFillTx/>
              <a:latin typeface="Arial"/>
            </a:endParaRPr>
          </a:p>
        </p:txBody>
      </p:sp>
      <p:sp>
        <p:nvSpPr>
          <p:cNvPr id="526" name="Text 12"/>
          <p:cNvSpPr/>
          <p:nvPr/>
        </p:nvSpPr>
        <p:spPr>
          <a:xfrm>
            <a:off x="320040" y="2660760"/>
            <a:ext cx="4845960" cy="13896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Create class Book with private fields: title, author, isbn, price</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Add static int totalBooks = 0 — incremented in every constructor</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a parameterized constructor initialising all four fields</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getters for all four private fields</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void displayBook() to print all book details neatly</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static int getTotalBooks() to return the count</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In main(), add 3 books and display each; then print the total</a:t>
            </a:r>
            <a:endParaRPr b="0" lang="en-IN" sz="1150" strike="noStrike" u="none">
              <a:solidFill>
                <a:srgbClr val="000000"/>
              </a:solidFill>
              <a:effectLst/>
              <a:uFillTx/>
              <a:latin typeface="Arial"/>
            </a:endParaRPr>
          </a:p>
        </p:txBody>
      </p:sp>
      <p:sp>
        <p:nvSpPr>
          <p:cNvPr id="527" name="Shape 13"/>
          <p:cNvSpPr/>
          <p:nvPr/>
        </p:nvSpPr>
        <p:spPr>
          <a:xfrm>
            <a:off x="5440680" y="896040"/>
            <a:ext cx="3520080" cy="1389600"/>
          </a:xfrm>
          <a:prstGeom prst="rect">
            <a:avLst/>
          </a:prstGeom>
          <a:solidFill>
            <a:srgbClr val="f7f8f0"/>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28" name="Shape 14"/>
          <p:cNvSpPr/>
          <p:nvPr/>
        </p:nvSpPr>
        <p:spPr>
          <a:xfrm>
            <a:off x="5440680" y="896040"/>
            <a:ext cx="63720" cy="1389600"/>
          </a:xfrm>
          <a:prstGeom prst="rect">
            <a:avLst/>
          </a:prstGeom>
          <a:solidFill>
            <a:srgbClr val="9cd5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29" name="Text 15"/>
          <p:cNvSpPr/>
          <p:nvPr/>
        </p:nvSpPr>
        <p:spPr>
          <a:xfrm>
            <a:off x="5577840" y="932760"/>
            <a:ext cx="329148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HINTS</a:t>
            </a:r>
            <a:endParaRPr b="0" lang="en-IN" sz="900" strike="noStrike" u="none">
              <a:solidFill>
                <a:srgbClr val="000000"/>
              </a:solidFill>
              <a:effectLst/>
              <a:uFillTx/>
              <a:latin typeface="Arial"/>
            </a:endParaRPr>
          </a:p>
        </p:txBody>
      </p:sp>
      <p:sp>
        <p:nvSpPr>
          <p:cNvPr id="530" name="Text 16"/>
          <p:cNvSpPr/>
          <p:nvPr/>
        </p:nvSpPr>
        <p:spPr>
          <a:xfrm>
            <a:off x="5577840" y="1161360"/>
            <a:ext cx="3291480" cy="10512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All four fields must be private — read via getters only</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totalBooks is static — it tracks the total across all Book objects</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Call getTotalBooks() using Book.getTotalBooks()</a:t>
            </a:r>
            <a:endParaRPr b="0" lang="en-IN" sz="1150" strike="noStrike" u="none">
              <a:solidFill>
                <a:srgbClr val="000000"/>
              </a:solidFill>
              <a:effectLst/>
              <a:uFillTx/>
              <a:latin typeface="Arial"/>
            </a:endParaRPr>
          </a:p>
        </p:txBody>
      </p:sp>
      <p:sp>
        <p:nvSpPr>
          <p:cNvPr id="531" name="Shape 17"/>
          <p:cNvSpPr/>
          <p:nvPr/>
        </p:nvSpPr>
        <p:spPr>
          <a:xfrm>
            <a:off x="5440680" y="2395800"/>
            <a:ext cx="3520080" cy="91404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32" name="Shape 18"/>
          <p:cNvSpPr/>
          <p:nvPr/>
        </p:nvSpPr>
        <p:spPr>
          <a:xfrm>
            <a:off x="5440680" y="2395800"/>
            <a:ext cx="63720" cy="91404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33" name="Text 19"/>
          <p:cNvSpPr/>
          <p:nvPr/>
        </p:nvSpPr>
        <p:spPr>
          <a:xfrm>
            <a:off x="5577840" y="2432160"/>
            <a:ext cx="329148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CONCEPTS USED</a:t>
            </a:r>
            <a:endParaRPr b="0" lang="en-IN" sz="900" strike="noStrike" u="none">
              <a:solidFill>
                <a:srgbClr val="000000"/>
              </a:solidFill>
              <a:effectLst/>
              <a:uFillTx/>
              <a:latin typeface="Arial"/>
            </a:endParaRPr>
          </a:p>
        </p:txBody>
      </p:sp>
      <p:sp>
        <p:nvSpPr>
          <p:cNvPr id="534" name="Text 20"/>
          <p:cNvSpPr/>
          <p:nvPr/>
        </p:nvSpPr>
        <p:spPr>
          <a:xfrm>
            <a:off x="5577840" y="2660760"/>
            <a:ext cx="3291480" cy="5940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private fields</a:t>
            </a:r>
            <a:endParaRPr b="0" lang="en-IN" sz="1150" strike="noStrike" u="none">
              <a:solidFill>
                <a:srgbClr val="000000"/>
              </a:solidFill>
              <a:effectLst/>
              <a:uFillTx/>
              <a:latin typeface="Arial"/>
            </a:endParaRPr>
          </a:p>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Getters</a:t>
            </a:r>
            <a:endParaRPr b="0" lang="en-IN" sz="1150" strike="noStrike" u="none">
              <a:solidFill>
                <a:srgbClr val="000000"/>
              </a:solidFill>
              <a:effectLst/>
              <a:uFillTx/>
              <a:latin typeface="Arial"/>
            </a:endParaRPr>
          </a:p>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static field + static method</a:t>
            </a:r>
            <a:endParaRPr b="0" lang="en-IN" sz="1150" strike="noStrike" u="none">
              <a:solidFill>
                <a:srgbClr val="000000"/>
              </a:solidFill>
              <a:effectLst/>
              <a:uFillTx/>
              <a:latin typeface="Arial"/>
            </a:endParaRPr>
          </a:p>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Parameterized Constructor</a:t>
            </a:r>
            <a:endParaRPr b="0" lang="en-IN" sz="1150" strike="noStrike" u="none">
              <a:solidFill>
                <a:srgbClr val="000000"/>
              </a:solidFill>
              <a:effectLst/>
              <a:uFillTx/>
              <a:latin typeface="Arial"/>
            </a:endParaRPr>
          </a:p>
        </p:txBody>
      </p:sp>
      <p:sp>
        <p:nvSpPr>
          <p:cNvPr id="535" name="Shape 21"/>
          <p:cNvSpPr/>
          <p:nvPr/>
        </p:nvSpPr>
        <p:spPr>
          <a:xfrm>
            <a:off x="5440680" y="3410640"/>
            <a:ext cx="3520080" cy="703800"/>
          </a:xfrm>
          <a:prstGeom prst="rect">
            <a:avLst/>
          </a:prstGeom>
          <a:solidFill>
            <a:srgbClr val="e3f2f5"/>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36" name="Shape 22"/>
          <p:cNvSpPr/>
          <p:nvPr/>
        </p:nvSpPr>
        <p:spPr>
          <a:xfrm>
            <a:off x="5440680" y="3410640"/>
            <a:ext cx="63720" cy="703800"/>
          </a:xfrm>
          <a:prstGeom prst="rect">
            <a:avLst/>
          </a:prstGeom>
          <a:solidFill>
            <a:srgbClr val="2a6e7a"/>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37" name="Text 23"/>
          <p:cNvSpPr/>
          <p:nvPr/>
        </p:nvSpPr>
        <p:spPr>
          <a:xfrm>
            <a:off x="5577840" y="3447360"/>
            <a:ext cx="329148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2a6e7a"/>
                </a:solidFill>
                <a:effectLst/>
                <a:uFillTx/>
                <a:latin typeface="Calibri"/>
                <a:ea typeface="Calibri"/>
              </a:rPr>
              <a:t>INDIA CONTEXT</a:t>
            </a:r>
            <a:endParaRPr b="0" lang="en-IN" sz="900" strike="noStrike" u="none">
              <a:solidFill>
                <a:srgbClr val="000000"/>
              </a:solidFill>
              <a:effectLst/>
              <a:uFillTx/>
              <a:latin typeface="Arial"/>
            </a:endParaRPr>
          </a:p>
        </p:txBody>
      </p:sp>
      <p:sp>
        <p:nvSpPr>
          <p:cNvPr id="538" name="Text 24"/>
          <p:cNvSpPr/>
          <p:nvPr/>
        </p:nvSpPr>
        <p:spPr>
          <a:xfrm>
            <a:off x="5577840" y="3639240"/>
            <a:ext cx="3291480" cy="420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1e3a4a"/>
                </a:solidFill>
                <a:effectLst/>
                <a:uFillTx/>
                <a:latin typeface="Calibri"/>
                <a:ea typeface="Calibri"/>
              </a:rPr>
              <a:t>College library — Chennai, 3 books: Java by Kamlesh, Python by Nitesh, DSA by Hitesh</a:t>
            </a:r>
            <a:endParaRPr b="0" lang="en-IN" sz="1100" strike="noStrike" u="none">
              <a:solidFill>
                <a:srgbClr val="000000"/>
              </a:solidFill>
              <a:effectLst/>
              <a:uFillTx/>
              <a:latin typeface="Arial"/>
            </a:endParaRPr>
          </a:p>
        </p:txBody>
      </p:sp>
      <p:sp>
        <p:nvSpPr>
          <p:cNvPr id="539" name="Shape 25"/>
          <p:cNvSpPr/>
          <p:nvPr/>
        </p:nvSpPr>
        <p:spPr>
          <a:xfrm>
            <a:off x="182880" y="4233600"/>
            <a:ext cx="8777880" cy="703800"/>
          </a:xfrm>
          <a:prstGeom prst="rect">
            <a:avLst/>
          </a:prstGeom>
          <a:solidFill>
            <a:srgbClr val="1e2d3d"/>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40" name="Text 26"/>
          <p:cNvSpPr/>
          <p:nvPr/>
        </p:nvSpPr>
        <p:spPr>
          <a:xfrm>
            <a:off x="292680" y="4233600"/>
            <a:ext cx="8549280" cy="703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250" strike="noStrike" u="none">
                <a:solidFill>
                  <a:srgbClr val="9cd5ff"/>
                </a:solidFill>
                <a:effectLst/>
                <a:uFillTx/>
                <a:latin typeface="Consolas"/>
                <a:ea typeface="Consolas"/>
              </a:rPr>
              <a:t>// Write your Java solution here — implement during the class session</a:t>
            </a:r>
            <a:endParaRPr b="0" lang="en-IN" sz="12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8f0"/>
        </a:solidFill>
      </p:bgPr>
    </p:bg>
    <p:spTree>
      <p:nvGrpSpPr>
        <p:cNvPr id="1" name=""/>
        <p:cNvGrpSpPr/>
        <p:nvPr/>
      </p:nvGrpSpPr>
      <p:grpSpPr>
        <a:xfrm>
          <a:off x="0" y="0"/>
          <a:ext cx="0" cy="0"/>
          <a:chOff x="0" y="0"/>
          <a:chExt cx="0" cy="0"/>
        </a:xfrm>
      </p:grpSpPr>
      <p:sp>
        <p:nvSpPr>
          <p:cNvPr id="541" name="Shape 0"/>
          <p:cNvSpPr/>
          <p:nvPr/>
        </p:nvSpPr>
        <p:spPr>
          <a:xfrm>
            <a:off x="0" y="0"/>
            <a:ext cx="9143640" cy="77688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42" name="Shape 1"/>
          <p:cNvSpPr/>
          <p:nvPr/>
        </p:nvSpPr>
        <p:spPr>
          <a:xfrm>
            <a:off x="201240" y="109800"/>
            <a:ext cx="493560" cy="493560"/>
          </a:xfrm>
          <a:prstGeom prst="rect">
            <a:avLst/>
          </a:prstGeom>
          <a:solidFill>
            <a:srgbClr val="9cd5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43" name="Text 2"/>
          <p:cNvSpPr/>
          <p:nvPr/>
        </p:nvSpPr>
        <p:spPr>
          <a:xfrm>
            <a:off x="201240" y="109800"/>
            <a:ext cx="493560" cy="493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700" strike="noStrike" u="none">
                <a:solidFill>
                  <a:srgbClr val="355872"/>
                </a:solidFill>
                <a:effectLst/>
                <a:uFillTx/>
                <a:latin typeface="Calibri"/>
                <a:ea typeface="Calibri"/>
              </a:rPr>
              <a:t>8</a:t>
            </a:r>
            <a:endParaRPr b="0" lang="en-IN" sz="1700" strike="noStrike" u="none">
              <a:solidFill>
                <a:srgbClr val="000000"/>
              </a:solidFill>
              <a:effectLst/>
              <a:uFillTx/>
              <a:latin typeface="Arial"/>
            </a:endParaRPr>
          </a:p>
        </p:txBody>
      </p:sp>
      <p:sp>
        <p:nvSpPr>
          <p:cNvPr id="544" name="Text 3"/>
          <p:cNvSpPr/>
          <p:nvPr/>
        </p:nvSpPr>
        <p:spPr>
          <a:xfrm>
            <a:off x="822960" y="91440"/>
            <a:ext cx="768060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trike="noStrike" u="none">
                <a:solidFill>
                  <a:srgbClr val="ffffff"/>
                </a:solidFill>
                <a:effectLst/>
                <a:uFillTx/>
                <a:latin typeface="Calibri"/>
                <a:ea typeface="Calibri"/>
              </a:rPr>
              <a:t>LIC Policy System — Full OOP Integration</a:t>
            </a:r>
            <a:endParaRPr b="0" lang="en-IN" sz="1800" strike="noStrike" u="none">
              <a:solidFill>
                <a:srgbClr val="000000"/>
              </a:solidFill>
              <a:effectLst/>
              <a:uFillTx/>
              <a:latin typeface="Arial"/>
            </a:endParaRPr>
          </a:p>
        </p:txBody>
      </p:sp>
      <p:sp>
        <p:nvSpPr>
          <p:cNvPr id="545" name="Text 4"/>
          <p:cNvSpPr/>
          <p:nvPr/>
        </p:nvSpPr>
        <p:spPr>
          <a:xfrm>
            <a:off x="822960" y="521280"/>
            <a:ext cx="548604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trike="noStrike" u="none">
                <a:solidFill>
                  <a:srgbClr val="9cd5ff"/>
                </a:solidFill>
                <a:effectLst/>
                <a:uFillTx/>
                <a:latin typeface="Calibri"/>
                <a:ea typeface="Calibri"/>
              </a:rPr>
              <a:t>Problem 8 of 8  —  Java OOP Basics</a:t>
            </a:r>
            <a:endParaRPr b="0" lang="en-IN" sz="900" strike="noStrike" u="none">
              <a:solidFill>
                <a:srgbClr val="000000"/>
              </a:solidFill>
              <a:effectLst/>
              <a:uFillTx/>
              <a:latin typeface="Arial"/>
            </a:endParaRPr>
          </a:p>
        </p:txBody>
      </p:sp>
      <p:sp>
        <p:nvSpPr>
          <p:cNvPr id="546" name="Shape 5"/>
          <p:cNvSpPr/>
          <p:nvPr/>
        </p:nvSpPr>
        <p:spPr>
          <a:xfrm>
            <a:off x="182880" y="896040"/>
            <a:ext cx="5074560" cy="138960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47" name="Shape 6"/>
          <p:cNvSpPr/>
          <p:nvPr/>
        </p:nvSpPr>
        <p:spPr>
          <a:xfrm>
            <a:off x="182880" y="896040"/>
            <a:ext cx="63720" cy="138960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48" name="Text 7"/>
          <p:cNvSpPr/>
          <p:nvPr/>
        </p:nvSpPr>
        <p:spPr>
          <a:xfrm>
            <a:off x="320040" y="932760"/>
            <a:ext cx="48459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SCENARIO</a:t>
            </a:r>
            <a:endParaRPr b="0" lang="en-IN" sz="900" strike="noStrike" u="none">
              <a:solidFill>
                <a:srgbClr val="000000"/>
              </a:solidFill>
              <a:effectLst/>
              <a:uFillTx/>
              <a:latin typeface="Arial"/>
            </a:endParaRPr>
          </a:p>
        </p:txBody>
      </p:sp>
      <p:sp>
        <p:nvSpPr>
          <p:cNvPr id="549" name="Text 8"/>
          <p:cNvSpPr/>
          <p:nvPr/>
        </p:nvSpPr>
        <p:spPr>
          <a:xfrm>
            <a:off x="320040" y="1161360"/>
            <a:ext cx="4845960" cy="1051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00" strike="noStrike" u="none">
                <a:solidFill>
                  <a:srgbClr val="1e3a4a"/>
                </a:solidFill>
                <a:effectLst/>
                <a:uFillTx/>
                <a:latin typeface="Calibri"/>
                <a:ea typeface="Calibri"/>
              </a:rPr>
              <a:t>LIC (Life Insurance Corporation) wants to manage insurance policies. Each policy has a policy number, holder name, premium amount, and policy type. The system must keep count of total policies issued and protect the premium from direct access.</a:t>
            </a:r>
            <a:endParaRPr b="0" lang="en-IN" sz="1200" strike="noStrike" u="none">
              <a:solidFill>
                <a:srgbClr val="000000"/>
              </a:solidFill>
              <a:effectLst/>
              <a:uFillTx/>
              <a:latin typeface="Arial"/>
            </a:endParaRPr>
          </a:p>
        </p:txBody>
      </p:sp>
      <p:sp>
        <p:nvSpPr>
          <p:cNvPr id="550" name="Shape 9"/>
          <p:cNvSpPr/>
          <p:nvPr/>
        </p:nvSpPr>
        <p:spPr>
          <a:xfrm>
            <a:off x="182880" y="2395800"/>
            <a:ext cx="5074560" cy="1718640"/>
          </a:xfrm>
          <a:prstGeom prst="rect">
            <a:avLst/>
          </a:prstGeom>
          <a:solidFill>
            <a:srgbClr val="d6eaf8"/>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51" name="Shape 10"/>
          <p:cNvSpPr/>
          <p:nvPr/>
        </p:nvSpPr>
        <p:spPr>
          <a:xfrm>
            <a:off x="182880" y="2395800"/>
            <a:ext cx="63720" cy="171864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52" name="Text 11"/>
          <p:cNvSpPr/>
          <p:nvPr/>
        </p:nvSpPr>
        <p:spPr>
          <a:xfrm>
            <a:off x="320040" y="2432160"/>
            <a:ext cx="48459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YOUR TASK</a:t>
            </a:r>
            <a:endParaRPr b="0" lang="en-IN" sz="900" strike="noStrike" u="none">
              <a:solidFill>
                <a:srgbClr val="000000"/>
              </a:solidFill>
              <a:effectLst/>
              <a:uFillTx/>
              <a:latin typeface="Arial"/>
            </a:endParaRPr>
          </a:p>
        </p:txBody>
      </p:sp>
      <p:sp>
        <p:nvSpPr>
          <p:cNvPr id="553" name="Text 12"/>
          <p:cNvSpPr/>
          <p:nvPr/>
        </p:nvSpPr>
        <p:spPr>
          <a:xfrm>
            <a:off x="320040" y="2660760"/>
            <a:ext cx="4845960" cy="13896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Create class Policy with: private double premium, and public policyNo, holderName, policyType</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Add static int totalPolicies = 0 — increment in the constructor</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parameterized constructor for all four fields</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getPremium() getter and setPremium(double amt) setter with amt &gt; 0 validation</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void displayPolicy() to print all policy details</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Write static int getTotalPolicies() to return count</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In main(), create 3 policies (Himesh, Gukesh, Kamlesh), display all, update one premium, then print total</a:t>
            </a:r>
            <a:endParaRPr b="0" lang="en-IN" sz="1150" strike="noStrike" u="none">
              <a:solidFill>
                <a:srgbClr val="000000"/>
              </a:solidFill>
              <a:effectLst/>
              <a:uFillTx/>
              <a:latin typeface="Arial"/>
            </a:endParaRPr>
          </a:p>
        </p:txBody>
      </p:sp>
      <p:sp>
        <p:nvSpPr>
          <p:cNvPr id="554" name="Shape 13"/>
          <p:cNvSpPr/>
          <p:nvPr/>
        </p:nvSpPr>
        <p:spPr>
          <a:xfrm>
            <a:off x="5440680" y="896040"/>
            <a:ext cx="3520080" cy="1389600"/>
          </a:xfrm>
          <a:prstGeom prst="rect">
            <a:avLst/>
          </a:prstGeom>
          <a:solidFill>
            <a:srgbClr val="f7f8f0"/>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55" name="Shape 14"/>
          <p:cNvSpPr/>
          <p:nvPr/>
        </p:nvSpPr>
        <p:spPr>
          <a:xfrm>
            <a:off x="5440680" y="896040"/>
            <a:ext cx="63720" cy="1389600"/>
          </a:xfrm>
          <a:prstGeom prst="rect">
            <a:avLst/>
          </a:prstGeom>
          <a:solidFill>
            <a:srgbClr val="9cd5ff"/>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56" name="Text 15"/>
          <p:cNvSpPr/>
          <p:nvPr/>
        </p:nvSpPr>
        <p:spPr>
          <a:xfrm>
            <a:off x="5577840" y="932760"/>
            <a:ext cx="329148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HINTS</a:t>
            </a:r>
            <a:endParaRPr b="0" lang="en-IN" sz="900" strike="noStrike" u="none">
              <a:solidFill>
                <a:srgbClr val="000000"/>
              </a:solidFill>
              <a:effectLst/>
              <a:uFillTx/>
              <a:latin typeface="Arial"/>
            </a:endParaRPr>
          </a:p>
        </p:txBody>
      </p:sp>
      <p:sp>
        <p:nvSpPr>
          <p:cNvPr id="557" name="Text 16"/>
          <p:cNvSpPr/>
          <p:nvPr/>
        </p:nvSpPr>
        <p:spPr>
          <a:xfrm>
            <a:off x="5577840" y="1161360"/>
            <a:ext cx="3291480" cy="10512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This problem uses ALL five OOP concepts — plan before you code</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premium is private — always accessed via getter/setter</a:t>
            </a:r>
            <a:endParaRPr b="0" lang="en-IN" sz="1150" strike="noStrike" u="none">
              <a:solidFill>
                <a:srgbClr val="000000"/>
              </a:solidFill>
              <a:effectLst/>
              <a:uFillTx/>
              <a:latin typeface="Arial"/>
            </a:endParaRPr>
          </a:p>
          <a:p>
            <a:pPr marL="343080" indent="-343080" defTabSz="914400">
              <a:lnSpc>
                <a:spcPct val="100000"/>
              </a:lnSpc>
              <a:spcAft>
                <a:spcPts val="300"/>
              </a:spcAft>
              <a:buClr>
                <a:srgbClr val="1e3a4a"/>
              </a:buClr>
              <a:buFont typeface="Symbol" charset="2"/>
              <a:buChar char=""/>
            </a:pPr>
            <a:r>
              <a:rPr b="0" lang="en-US" sz="1150" strike="noStrike" u="none">
                <a:solidFill>
                  <a:srgbClr val="1e3a4a"/>
                </a:solidFill>
                <a:effectLst/>
                <a:uFillTx/>
                <a:latin typeface="Calibri"/>
                <a:ea typeface="Calibri"/>
              </a:rPr>
              <a:t>Call getTotalPolicies() as Policy.getTotalPolicies()</a:t>
            </a:r>
            <a:endParaRPr b="0" lang="en-IN" sz="1150" strike="noStrike" u="none">
              <a:solidFill>
                <a:srgbClr val="000000"/>
              </a:solidFill>
              <a:effectLst/>
              <a:uFillTx/>
              <a:latin typeface="Arial"/>
            </a:endParaRPr>
          </a:p>
        </p:txBody>
      </p:sp>
      <p:sp>
        <p:nvSpPr>
          <p:cNvPr id="558" name="Shape 17"/>
          <p:cNvSpPr/>
          <p:nvPr/>
        </p:nvSpPr>
        <p:spPr>
          <a:xfrm>
            <a:off x="5440680" y="2395800"/>
            <a:ext cx="3520080" cy="914040"/>
          </a:xfrm>
          <a:prstGeom prst="rect">
            <a:avLst/>
          </a:prstGeom>
          <a:solidFill>
            <a:srgbClr val="ffffff"/>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59" name="Shape 18"/>
          <p:cNvSpPr/>
          <p:nvPr/>
        </p:nvSpPr>
        <p:spPr>
          <a:xfrm>
            <a:off x="5440680" y="2395800"/>
            <a:ext cx="63720" cy="914040"/>
          </a:xfrm>
          <a:prstGeom prst="rect">
            <a:avLst/>
          </a:prstGeom>
          <a:solidFill>
            <a:srgbClr val="355872"/>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60" name="Text 19"/>
          <p:cNvSpPr/>
          <p:nvPr/>
        </p:nvSpPr>
        <p:spPr>
          <a:xfrm>
            <a:off x="5577840" y="2432160"/>
            <a:ext cx="329148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355872"/>
                </a:solidFill>
                <a:effectLst/>
                <a:uFillTx/>
                <a:latin typeface="Calibri"/>
                <a:ea typeface="Calibri"/>
              </a:rPr>
              <a:t>CONCEPTS USED</a:t>
            </a:r>
            <a:endParaRPr b="0" lang="en-IN" sz="900" strike="noStrike" u="none">
              <a:solidFill>
                <a:srgbClr val="000000"/>
              </a:solidFill>
              <a:effectLst/>
              <a:uFillTx/>
              <a:latin typeface="Arial"/>
            </a:endParaRPr>
          </a:p>
        </p:txBody>
      </p:sp>
      <p:sp>
        <p:nvSpPr>
          <p:cNvPr id="561" name="Text 20"/>
          <p:cNvSpPr/>
          <p:nvPr/>
        </p:nvSpPr>
        <p:spPr>
          <a:xfrm>
            <a:off x="5577840" y="2660760"/>
            <a:ext cx="3291480" cy="59400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buClr>
                <a:srgbClr val="1e3a4a"/>
              </a:buClr>
              <a:buFont typeface="Symbol" charset="2"/>
              <a:buChar char=""/>
            </a:pPr>
            <a:r>
              <a:rPr b="0" lang="en-US" sz="1150" strike="noStrike" u="none">
                <a:solidFill>
                  <a:srgbClr val="1e3a4a"/>
                </a:solidFill>
                <a:effectLst/>
                <a:uFillTx/>
                <a:latin typeface="Calibri"/>
                <a:ea typeface="Calibri"/>
              </a:rPr>
              <a:t>ALL 5: Class, Object, Constructor, Access Modifiers, Static</a:t>
            </a:r>
            <a:endParaRPr b="0" lang="en-IN" sz="1150" strike="noStrike" u="none">
              <a:solidFill>
                <a:srgbClr val="000000"/>
              </a:solidFill>
              <a:effectLst/>
              <a:uFillTx/>
              <a:latin typeface="Arial"/>
            </a:endParaRPr>
          </a:p>
        </p:txBody>
      </p:sp>
      <p:sp>
        <p:nvSpPr>
          <p:cNvPr id="562" name="Shape 21"/>
          <p:cNvSpPr/>
          <p:nvPr/>
        </p:nvSpPr>
        <p:spPr>
          <a:xfrm>
            <a:off x="5440680" y="3410640"/>
            <a:ext cx="3520080" cy="703800"/>
          </a:xfrm>
          <a:prstGeom prst="rect">
            <a:avLst/>
          </a:prstGeom>
          <a:solidFill>
            <a:srgbClr val="e3f2f5"/>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63" name="Shape 22"/>
          <p:cNvSpPr/>
          <p:nvPr/>
        </p:nvSpPr>
        <p:spPr>
          <a:xfrm>
            <a:off x="5440680" y="3410640"/>
            <a:ext cx="63720" cy="703800"/>
          </a:xfrm>
          <a:prstGeom prst="rect">
            <a:avLst/>
          </a:prstGeom>
          <a:solidFill>
            <a:srgbClr val="2a6e7a"/>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64" name="Text 23"/>
          <p:cNvSpPr/>
          <p:nvPr/>
        </p:nvSpPr>
        <p:spPr>
          <a:xfrm>
            <a:off x="5577840" y="3447360"/>
            <a:ext cx="329148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201" strike="noStrike" u="none">
                <a:solidFill>
                  <a:srgbClr val="2a6e7a"/>
                </a:solidFill>
                <a:effectLst/>
                <a:uFillTx/>
                <a:latin typeface="Calibri"/>
                <a:ea typeface="Calibri"/>
              </a:rPr>
              <a:t>INDIA CONTEXT</a:t>
            </a:r>
            <a:endParaRPr b="0" lang="en-IN" sz="900" strike="noStrike" u="none">
              <a:solidFill>
                <a:srgbClr val="000000"/>
              </a:solidFill>
              <a:effectLst/>
              <a:uFillTx/>
              <a:latin typeface="Arial"/>
            </a:endParaRPr>
          </a:p>
        </p:txBody>
      </p:sp>
      <p:sp>
        <p:nvSpPr>
          <p:cNvPr id="565" name="Text 24"/>
          <p:cNvSpPr/>
          <p:nvPr/>
        </p:nvSpPr>
        <p:spPr>
          <a:xfrm>
            <a:off x="5577840" y="3639240"/>
            <a:ext cx="3291480" cy="420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1e3a4a"/>
                </a:solidFill>
                <a:effectLst/>
                <a:uFillTx/>
                <a:latin typeface="Calibri"/>
                <a:ea typeface="Calibri"/>
              </a:rPr>
              <a:t>LIC branch — Himesh (Term), Gukesh (ULIP), Kamlesh (Endowment)</a:t>
            </a:r>
            <a:endParaRPr b="0" lang="en-IN" sz="1100" strike="noStrike" u="none">
              <a:solidFill>
                <a:srgbClr val="000000"/>
              </a:solidFill>
              <a:effectLst/>
              <a:uFillTx/>
              <a:latin typeface="Arial"/>
            </a:endParaRPr>
          </a:p>
        </p:txBody>
      </p:sp>
      <p:sp>
        <p:nvSpPr>
          <p:cNvPr id="566" name="Shape 25"/>
          <p:cNvSpPr/>
          <p:nvPr/>
        </p:nvSpPr>
        <p:spPr>
          <a:xfrm>
            <a:off x="182880" y="4233600"/>
            <a:ext cx="8777880" cy="703800"/>
          </a:xfrm>
          <a:prstGeom prst="rect">
            <a:avLst/>
          </a:prstGeom>
          <a:solidFill>
            <a:srgbClr val="1e2d3d"/>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67" name="Text 26"/>
          <p:cNvSpPr/>
          <p:nvPr/>
        </p:nvSpPr>
        <p:spPr>
          <a:xfrm>
            <a:off x="292680" y="4233600"/>
            <a:ext cx="8549280" cy="703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250" strike="noStrike" u="none">
                <a:solidFill>
                  <a:srgbClr val="9cd5ff"/>
                </a:solidFill>
                <a:effectLst/>
                <a:uFillTx/>
                <a:latin typeface="Consolas"/>
                <a:ea typeface="Consolas"/>
              </a:rPr>
              <a:t>// Write your Java solution here — implement during the class session</a:t>
            </a:r>
            <a:endParaRPr b="0" lang="en-IN" sz="12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55872"/>
        </a:solidFill>
      </p:bgPr>
    </p:bg>
    <p:spTree>
      <p:nvGrpSpPr>
        <p:cNvPr id="1" name=""/>
        <p:cNvGrpSpPr/>
        <p:nvPr/>
      </p:nvGrpSpPr>
      <p:grpSpPr>
        <a:xfrm>
          <a:off x="0" y="0"/>
          <a:ext cx="0" cy="0"/>
          <a:chOff x="0" y="0"/>
          <a:chExt cx="0" cy="0"/>
        </a:xfrm>
      </p:grpSpPr>
      <p:sp>
        <p:nvSpPr>
          <p:cNvPr id="568" name="Shape 0"/>
          <p:cNvSpPr/>
          <p:nvPr/>
        </p:nvSpPr>
        <p:spPr>
          <a:xfrm>
            <a:off x="0" y="0"/>
            <a:ext cx="9143640" cy="840960"/>
          </a:xfrm>
          <a:prstGeom prst="rect">
            <a:avLst/>
          </a:prstGeom>
          <a:solidFill>
            <a:srgbClr val="2a4e66"/>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69" name="Text 1"/>
          <p:cNvSpPr/>
          <p:nvPr/>
        </p:nvSpPr>
        <p:spPr>
          <a:xfrm>
            <a:off x="365760" y="91440"/>
            <a:ext cx="8412120" cy="685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600" strike="noStrike" u="none">
                <a:solidFill>
                  <a:srgbClr val="ffffff"/>
                </a:solidFill>
                <a:effectLst/>
                <a:uFillTx/>
                <a:latin typeface="Calibri"/>
                <a:ea typeface="Calibri"/>
              </a:rPr>
              <a:t>5-Concept Quick Revision</a:t>
            </a:r>
            <a:endParaRPr b="0" lang="en-IN" sz="2600" strike="noStrike" u="none">
              <a:solidFill>
                <a:srgbClr val="ffffff"/>
              </a:solidFill>
              <a:effectLst/>
              <a:uFillTx/>
              <a:latin typeface="Arial"/>
            </a:endParaRPr>
          </a:p>
        </p:txBody>
      </p:sp>
      <p:sp>
        <p:nvSpPr>
          <p:cNvPr id="570" name="Shape 2"/>
          <p:cNvSpPr/>
          <p:nvPr/>
        </p:nvSpPr>
        <p:spPr>
          <a:xfrm>
            <a:off x="201240" y="969120"/>
            <a:ext cx="1627200" cy="3913200"/>
          </a:xfrm>
          <a:prstGeom prst="rect">
            <a:avLst/>
          </a:prstGeom>
          <a:solidFill>
            <a:srgbClr val="2a4e66"/>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71" name="Shape 3"/>
          <p:cNvSpPr/>
          <p:nvPr/>
        </p:nvSpPr>
        <p:spPr>
          <a:xfrm>
            <a:off x="201240" y="969120"/>
            <a:ext cx="1627200" cy="38376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72" name="Text 4"/>
          <p:cNvSpPr/>
          <p:nvPr/>
        </p:nvSpPr>
        <p:spPr>
          <a:xfrm>
            <a:off x="274320" y="969120"/>
            <a:ext cx="148104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trike="noStrike" u="none">
                <a:solidFill>
                  <a:srgbClr val="ffffff"/>
                </a:solidFill>
                <a:effectLst/>
                <a:uFillTx/>
                <a:latin typeface="Calibri"/>
                <a:ea typeface="Calibri"/>
              </a:rPr>
              <a:t>1  Class</a:t>
            </a:r>
            <a:endParaRPr b="0" lang="en-IN" sz="1150" strike="noStrike" u="none">
              <a:solidFill>
                <a:srgbClr val="ffffff"/>
              </a:solidFill>
              <a:effectLst/>
              <a:uFillTx/>
              <a:latin typeface="Arial"/>
            </a:endParaRPr>
          </a:p>
        </p:txBody>
      </p:sp>
      <p:sp>
        <p:nvSpPr>
          <p:cNvPr id="573" name="Text 5"/>
          <p:cNvSpPr/>
          <p:nvPr/>
        </p:nvSpPr>
        <p:spPr>
          <a:xfrm>
            <a:off x="292680" y="1389960"/>
            <a:ext cx="1462680" cy="1782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c8dff0"/>
                </a:solidFill>
                <a:effectLst/>
                <a:uFillTx/>
                <a:latin typeface="Calibri"/>
                <a:ea typeface="Calibri"/>
              </a:rPr>
              <a:t>User-defined blueprint. Defines fields and methods. No memory allocated until an object is created from it.</a:t>
            </a:r>
            <a:endParaRPr b="0" lang="en-IN" sz="1100" strike="noStrike" u="none">
              <a:solidFill>
                <a:srgbClr val="ffffff"/>
              </a:solidFill>
              <a:effectLst/>
              <a:uFillTx/>
              <a:latin typeface="Arial"/>
            </a:endParaRPr>
          </a:p>
        </p:txBody>
      </p:sp>
      <p:sp>
        <p:nvSpPr>
          <p:cNvPr id="574" name="Shape 6"/>
          <p:cNvSpPr/>
          <p:nvPr/>
        </p:nvSpPr>
        <p:spPr>
          <a:xfrm>
            <a:off x="274320" y="3227760"/>
            <a:ext cx="1481040" cy="1444320"/>
          </a:xfrm>
          <a:prstGeom prst="rect">
            <a:avLst/>
          </a:prstGeom>
          <a:solidFill>
            <a:srgbClr val="1e2d3d"/>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75" name="Text 7"/>
          <p:cNvSpPr/>
          <p:nvPr/>
        </p:nvSpPr>
        <p:spPr>
          <a:xfrm>
            <a:off x="292680" y="3273480"/>
            <a:ext cx="1444320" cy="135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trike="noStrike" u="none">
                <a:solidFill>
                  <a:srgbClr val="9cd5ff"/>
                </a:solidFill>
                <a:effectLst/>
                <a:uFillTx/>
                <a:latin typeface="Consolas"/>
                <a:ea typeface="Consolas"/>
              </a:rPr>
              <a:t>class Student { }</a:t>
            </a:r>
            <a:endParaRPr b="0" lang="en-IN" sz="950" strike="noStrike" u="none">
              <a:solidFill>
                <a:srgbClr val="ffffff"/>
              </a:solidFill>
              <a:effectLst/>
              <a:uFillTx/>
              <a:latin typeface="Arial"/>
            </a:endParaRPr>
          </a:p>
        </p:txBody>
      </p:sp>
      <p:sp>
        <p:nvSpPr>
          <p:cNvPr id="576" name="Shape 8"/>
          <p:cNvSpPr/>
          <p:nvPr/>
        </p:nvSpPr>
        <p:spPr>
          <a:xfrm>
            <a:off x="1956960" y="969120"/>
            <a:ext cx="1627200" cy="3913200"/>
          </a:xfrm>
          <a:prstGeom prst="rect">
            <a:avLst/>
          </a:prstGeom>
          <a:solidFill>
            <a:srgbClr val="2a4e66"/>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77" name="Shape 9"/>
          <p:cNvSpPr/>
          <p:nvPr/>
        </p:nvSpPr>
        <p:spPr>
          <a:xfrm>
            <a:off x="1956960" y="969120"/>
            <a:ext cx="1627200" cy="38376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78" name="Text 10"/>
          <p:cNvSpPr/>
          <p:nvPr/>
        </p:nvSpPr>
        <p:spPr>
          <a:xfrm>
            <a:off x="2030040" y="969120"/>
            <a:ext cx="148104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trike="noStrike" u="none">
                <a:solidFill>
                  <a:srgbClr val="ffffff"/>
                </a:solidFill>
                <a:effectLst/>
                <a:uFillTx/>
                <a:latin typeface="Calibri"/>
                <a:ea typeface="Calibri"/>
              </a:rPr>
              <a:t>2  Object</a:t>
            </a:r>
            <a:endParaRPr b="0" lang="en-IN" sz="1150" strike="noStrike" u="none">
              <a:solidFill>
                <a:srgbClr val="ffffff"/>
              </a:solidFill>
              <a:effectLst/>
              <a:uFillTx/>
              <a:latin typeface="Arial"/>
            </a:endParaRPr>
          </a:p>
        </p:txBody>
      </p:sp>
      <p:sp>
        <p:nvSpPr>
          <p:cNvPr id="579" name="Text 11"/>
          <p:cNvSpPr/>
          <p:nvPr/>
        </p:nvSpPr>
        <p:spPr>
          <a:xfrm>
            <a:off x="2048400" y="1389960"/>
            <a:ext cx="1462680" cy="1782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c8dff0"/>
                </a:solidFill>
                <a:effectLst/>
                <a:uFillTx/>
                <a:latin typeface="Calibri"/>
                <a:ea typeface="Calibri"/>
              </a:rPr>
              <a:t>Real instance of a class in Heap memory. Created with new. Each object owns its own copy of instance fields.</a:t>
            </a:r>
            <a:endParaRPr b="0" lang="en-IN" sz="1100" strike="noStrike" u="none">
              <a:solidFill>
                <a:srgbClr val="ffffff"/>
              </a:solidFill>
              <a:effectLst/>
              <a:uFillTx/>
              <a:latin typeface="Arial"/>
            </a:endParaRPr>
          </a:p>
        </p:txBody>
      </p:sp>
      <p:sp>
        <p:nvSpPr>
          <p:cNvPr id="580" name="Shape 12"/>
          <p:cNvSpPr/>
          <p:nvPr/>
        </p:nvSpPr>
        <p:spPr>
          <a:xfrm>
            <a:off x="2030040" y="3227760"/>
            <a:ext cx="1481040" cy="1444320"/>
          </a:xfrm>
          <a:prstGeom prst="rect">
            <a:avLst/>
          </a:prstGeom>
          <a:solidFill>
            <a:srgbClr val="1e2d3d"/>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81" name="Text 13"/>
          <p:cNvSpPr/>
          <p:nvPr/>
        </p:nvSpPr>
        <p:spPr>
          <a:xfrm>
            <a:off x="2048400" y="3273480"/>
            <a:ext cx="1444320" cy="135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trike="noStrike" u="none">
                <a:solidFill>
                  <a:srgbClr val="9cd5ff"/>
                </a:solidFill>
                <a:effectLst/>
                <a:uFillTx/>
                <a:latin typeface="Consolas"/>
                <a:ea typeface="Consolas"/>
              </a:rPr>
              <a:t>Student s = new Student();</a:t>
            </a:r>
            <a:endParaRPr b="0" lang="en-IN" sz="950" strike="noStrike" u="none">
              <a:solidFill>
                <a:srgbClr val="ffffff"/>
              </a:solidFill>
              <a:effectLst/>
              <a:uFillTx/>
              <a:latin typeface="Arial"/>
            </a:endParaRPr>
          </a:p>
        </p:txBody>
      </p:sp>
      <p:sp>
        <p:nvSpPr>
          <p:cNvPr id="582" name="Shape 14"/>
          <p:cNvSpPr/>
          <p:nvPr/>
        </p:nvSpPr>
        <p:spPr>
          <a:xfrm>
            <a:off x="3712320" y="969120"/>
            <a:ext cx="1627200" cy="3913200"/>
          </a:xfrm>
          <a:prstGeom prst="rect">
            <a:avLst/>
          </a:prstGeom>
          <a:solidFill>
            <a:srgbClr val="2a4e66"/>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83" name="Shape 15"/>
          <p:cNvSpPr/>
          <p:nvPr/>
        </p:nvSpPr>
        <p:spPr>
          <a:xfrm>
            <a:off x="3712320" y="969120"/>
            <a:ext cx="1627200" cy="38376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84" name="Text 16"/>
          <p:cNvSpPr/>
          <p:nvPr/>
        </p:nvSpPr>
        <p:spPr>
          <a:xfrm>
            <a:off x="3785760" y="969120"/>
            <a:ext cx="148104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trike="noStrike" u="none">
                <a:solidFill>
                  <a:srgbClr val="ffffff"/>
                </a:solidFill>
                <a:effectLst/>
                <a:uFillTx/>
                <a:latin typeface="Calibri"/>
                <a:ea typeface="Calibri"/>
              </a:rPr>
              <a:t>3  Constructor</a:t>
            </a:r>
            <a:endParaRPr b="0" lang="en-IN" sz="1150" strike="noStrike" u="none">
              <a:solidFill>
                <a:srgbClr val="ffffff"/>
              </a:solidFill>
              <a:effectLst/>
              <a:uFillTx/>
              <a:latin typeface="Arial"/>
            </a:endParaRPr>
          </a:p>
        </p:txBody>
      </p:sp>
      <p:sp>
        <p:nvSpPr>
          <p:cNvPr id="585" name="Text 17"/>
          <p:cNvSpPr/>
          <p:nvPr/>
        </p:nvSpPr>
        <p:spPr>
          <a:xfrm>
            <a:off x="3803760" y="1389960"/>
            <a:ext cx="1462680" cy="1782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c8dff0"/>
                </a:solidFill>
                <a:effectLst/>
                <a:uFillTx/>
                <a:latin typeface="Calibri"/>
                <a:ea typeface="Calibri"/>
              </a:rPr>
              <a:t>Special method — same name as class, no return type. Called automatically on object creation to initialise fields.</a:t>
            </a:r>
            <a:endParaRPr b="0" lang="en-IN" sz="1100" strike="noStrike" u="none">
              <a:solidFill>
                <a:srgbClr val="ffffff"/>
              </a:solidFill>
              <a:effectLst/>
              <a:uFillTx/>
              <a:latin typeface="Arial"/>
            </a:endParaRPr>
          </a:p>
        </p:txBody>
      </p:sp>
      <p:sp>
        <p:nvSpPr>
          <p:cNvPr id="586" name="Shape 18"/>
          <p:cNvSpPr/>
          <p:nvPr/>
        </p:nvSpPr>
        <p:spPr>
          <a:xfrm>
            <a:off x="3785760" y="3227760"/>
            <a:ext cx="1481040" cy="1444320"/>
          </a:xfrm>
          <a:prstGeom prst="rect">
            <a:avLst/>
          </a:prstGeom>
          <a:solidFill>
            <a:srgbClr val="1e2d3d"/>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87" name="Text 19"/>
          <p:cNvSpPr/>
          <p:nvPr/>
        </p:nvSpPr>
        <p:spPr>
          <a:xfrm>
            <a:off x="3803760" y="3273480"/>
            <a:ext cx="1444320" cy="135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trike="noStrike" u="none">
                <a:solidFill>
                  <a:srgbClr val="9cd5ff"/>
                </a:solidFill>
                <a:effectLst/>
                <a:uFillTx/>
                <a:latin typeface="Consolas"/>
                <a:ea typeface="Consolas"/>
              </a:rPr>
              <a:t>Student(String n){ name=n; }</a:t>
            </a:r>
            <a:endParaRPr b="0" lang="en-IN" sz="950" strike="noStrike" u="none">
              <a:solidFill>
                <a:srgbClr val="ffffff"/>
              </a:solidFill>
              <a:effectLst/>
              <a:uFillTx/>
              <a:latin typeface="Arial"/>
            </a:endParaRPr>
          </a:p>
        </p:txBody>
      </p:sp>
      <p:sp>
        <p:nvSpPr>
          <p:cNvPr id="588" name="Shape 20"/>
          <p:cNvSpPr/>
          <p:nvPr/>
        </p:nvSpPr>
        <p:spPr>
          <a:xfrm>
            <a:off x="5468040" y="969120"/>
            <a:ext cx="1627200" cy="3913200"/>
          </a:xfrm>
          <a:prstGeom prst="rect">
            <a:avLst/>
          </a:prstGeom>
          <a:solidFill>
            <a:srgbClr val="2a4e66"/>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89" name="Shape 21"/>
          <p:cNvSpPr/>
          <p:nvPr/>
        </p:nvSpPr>
        <p:spPr>
          <a:xfrm>
            <a:off x="5468040" y="969120"/>
            <a:ext cx="1627200" cy="38376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90" name="Text 22"/>
          <p:cNvSpPr/>
          <p:nvPr/>
        </p:nvSpPr>
        <p:spPr>
          <a:xfrm>
            <a:off x="5541120" y="969120"/>
            <a:ext cx="148104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trike="noStrike" u="none">
                <a:solidFill>
                  <a:srgbClr val="ffffff"/>
                </a:solidFill>
                <a:effectLst/>
                <a:uFillTx/>
                <a:latin typeface="Calibri"/>
                <a:ea typeface="Calibri"/>
              </a:rPr>
              <a:t>4  Access Modifiers</a:t>
            </a:r>
            <a:endParaRPr b="0" lang="en-IN" sz="1150" strike="noStrike" u="none">
              <a:solidFill>
                <a:srgbClr val="ffffff"/>
              </a:solidFill>
              <a:effectLst/>
              <a:uFillTx/>
              <a:latin typeface="Arial"/>
            </a:endParaRPr>
          </a:p>
        </p:txBody>
      </p:sp>
      <p:sp>
        <p:nvSpPr>
          <p:cNvPr id="591" name="Text 23"/>
          <p:cNvSpPr/>
          <p:nvPr/>
        </p:nvSpPr>
        <p:spPr>
          <a:xfrm>
            <a:off x="5559480" y="1389960"/>
            <a:ext cx="1462680" cy="1782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c8dff0"/>
                </a:solidFill>
                <a:effectLst/>
                <a:uFillTx/>
                <a:latin typeface="Calibri"/>
                <a:ea typeface="Calibri"/>
              </a:rPr>
              <a:t>public / private / protected / default. Keep fields private, expose behaviour via public methods. This is Encapsulation.</a:t>
            </a:r>
            <a:endParaRPr b="0" lang="en-IN" sz="1100" strike="noStrike" u="none">
              <a:solidFill>
                <a:srgbClr val="ffffff"/>
              </a:solidFill>
              <a:effectLst/>
              <a:uFillTx/>
              <a:latin typeface="Arial"/>
            </a:endParaRPr>
          </a:p>
        </p:txBody>
      </p:sp>
      <p:sp>
        <p:nvSpPr>
          <p:cNvPr id="592" name="Shape 24"/>
          <p:cNvSpPr/>
          <p:nvPr/>
        </p:nvSpPr>
        <p:spPr>
          <a:xfrm>
            <a:off x="5541120" y="3227760"/>
            <a:ext cx="1481040" cy="1444320"/>
          </a:xfrm>
          <a:prstGeom prst="rect">
            <a:avLst/>
          </a:prstGeom>
          <a:solidFill>
            <a:srgbClr val="1e2d3d"/>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93" name="Text 25"/>
          <p:cNvSpPr/>
          <p:nvPr/>
        </p:nvSpPr>
        <p:spPr>
          <a:xfrm>
            <a:off x="5559480" y="3273480"/>
            <a:ext cx="1444320" cy="135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trike="noStrike" u="none">
                <a:solidFill>
                  <a:srgbClr val="9cd5ff"/>
                </a:solidFill>
                <a:effectLst/>
                <a:uFillTx/>
                <a:latin typeface="Consolas"/>
                <a:ea typeface="Consolas"/>
              </a:rPr>
              <a:t>private int age;</a:t>
            </a:r>
            <a:endParaRPr b="0" lang="en-IN" sz="950" strike="noStrike" u="none">
              <a:solidFill>
                <a:srgbClr val="ffffff"/>
              </a:solidFill>
              <a:effectLst/>
              <a:uFillTx/>
              <a:latin typeface="Arial"/>
            </a:endParaRPr>
          </a:p>
          <a:p>
            <a:pPr defTabSz="914400">
              <a:lnSpc>
                <a:spcPct val="100000"/>
              </a:lnSpc>
              <a:tabLst>
                <a:tab algn="l" pos="0"/>
              </a:tabLst>
            </a:pPr>
            <a:r>
              <a:rPr b="0" lang="en-US" sz="950" strike="noStrike" u="none">
                <a:solidFill>
                  <a:srgbClr val="9cd5ff"/>
                </a:solidFill>
                <a:effectLst/>
                <a:uFillTx/>
                <a:latin typeface="Consolas"/>
                <a:ea typeface="Consolas"/>
              </a:rPr>
              <a:t>public int getAge(){}</a:t>
            </a:r>
            <a:endParaRPr b="0" lang="en-IN" sz="950" strike="noStrike" u="none">
              <a:solidFill>
                <a:srgbClr val="ffffff"/>
              </a:solidFill>
              <a:effectLst/>
              <a:uFillTx/>
              <a:latin typeface="Arial"/>
            </a:endParaRPr>
          </a:p>
        </p:txBody>
      </p:sp>
      <p:sp>
        <p:nvSpPr>
          <p:cNvPr id="594" name="Shape 26"/>
          <p:cNvSpPr/>
          <p:nvPr/>
        </p:nvSpPr>
        <p:spPr>
          <a:xfrm>
            <a:off x="7223760" y="969120"/>
            <a:ext cx="1627200" cy="3913200"/>
          </a:xfrm>
          <a:prstGeom prst="rect">
            <a:avLst/>
          </a:prstGeom>
          <a:solidFill>
            <a:srgbClr val="2a4e66"/>
          </a:solidFill>
          <a:ln w="0">
            <a:noFill/>
          </a:ln>
          <a:effectLst>
            <a:outerShdw algn="bl" blurRad="76320" dir="8100000" dist="37674" kx="0" ky="0" rotWithShape="0" sx="100000" sy="100000">
              <a:srgbClr val="000000">
                <a:alpha val="10000"/>
              </a:srgbClr>
            </a:outerShdw>
          </a:effectLst>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95" name="Shape 27"/>
          <p:cNvSpPr/>
          <p:nvPr/>
        </p:nvSpPr>
        <p:spPr>
          <a:xfrm>
            <a:off x="7223760" y="969120"/>
            <a:ext cx="1627200" cy="38376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96" name="Text 28"/>
          <p:cNvSpPr/>
          <p:nvPr/>
        </p:nvSpPr>
        <p:spPr>
          <a:xfrm>
            <a:off x="7296840" y="969120"/>
            <a:ext cx="148104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trike="noStrike" u="none">
                <a:solidFill>
                  <a:srgbClr val="ffffff"/>
                </a:solidFill>
                <a:effectLst/>
                <a:uFillTx/>
                <a:latin typeface="Calibri"/>
                <a:ea typeface="Calibri"/>
              </a:rPr>
              <a:t>5  Static</a:t>
            </a:r>
            <a:endParaRPr b="0" lang="en-IN" sz="1150" strike="noStrike" u="none">
              <a:solidFill>
                <a:srgbClr val="ffffff"/>
              </a:solidFill>
              <a:effectLst/>
              <a:uFillTx/>
              <a:latin typeface="Arial"/>
            </a:endParaRPr>
          </a:p>
        </p:txBody>
      </p:sp>
      <p:sp>
        <p:nvSpPr>
          <p:cNvPr id="597" name="Text 29"/>
          <p:cNvSpPr/>
          <p:nvPr/>
        </p:nvSpPr>
        <p:spPr>
          <a:xfrm>
            <a:off x="7315200" y="1389960"/>
            <a:ext cx="1462680" cy="1782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c8dff0"/>
                </a:solidFill>
                <a:effectLst/>
                <a:uFillTx/>
                <a:latin typeface="Calibri"/>
                <a:ea typeface="Calibri"/>
              </a:rPr>
              <a:t>Belongs to the class, not to objects. One shared copy. Called via ClassName.method() without creating any object.</a:t>
            </a:r>
            <a:endParaRPr b="0" lang="en-IN" sz="1100" strike="noStrike" u="none">
              <a:solidFill>
                <a:srgbClr val="ffffff"/>
              </a:solidFill>
              <a:effectLst/>
              <a:uFillTx/>
              <a:latin typeface="Arial"/>
            </a:endParaRPr>
          </a:p>
        </p:txBody>
      </p:sp>
      <p:sp>
        <p:nvSpPr>
          <p:cNvPr id="598" name="Shape 30"/>
          <p:cNvSpPr/>
          <p:nvPr/>
        </p:nvSpPr>
        <p:spPr>
          <a:xfrm>
            <a:off x="7296840" y="3227760"/>
            <a:ext cx="1481040" cy="1444320"/>
          </a:xfrm>
          <a:prstGeom prst="rect">
            <a:avLst/>
          </a:prstGeom>
          <a:solidFill>
            <a:srgbClr val="1e2d3d"/>
          </a:solidFill>
          <a:ln w="0">
            <a:noFill/>
          </a:ln>
        </p:spPr>
        <p:style>
          <a:lnRef idx="0"/>
          <a:fillRef idx="0"/>
          <a:effectRef idx="0"/>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599" name="Text 31"/>
          <p:cNvSpPr/>
          <p:nvPr/>
        </p:nvSpPr>
        <p:spPr>
          <a:xfrm>
            <a:off x="7315200" y="3273480"/>
            <a:ext cx="1444320" cy="135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trike="noStrike" u="none">
                <a:solidFill>
                  <a:srgbClr val="9cd5ff"/>
                </a:solidFill>
                <a:effectLst/>
                <a:uFillTx/>
                <a:latin typeface="Consolas"/>
                <a:ea typeface="Consolas"/>
              </a:rPr>
              <a:t>static int count;</a:t>
            </a:r>
            <a:endParaRPr b="0" lang="en-IN" sz="950" strike="noStrike" u="none">
              <a:solidFill>
                <a:srgbClr val="ffffff"/>
              </a:solidFill>
              <a:effectLst/>
              <a:uFillTx/>
              <a:latin typeface="Arial"/>
            </a:endParaRPr>
          </a:p>
          <a:p>
            <a:pPr defTabSz="914400">
              <a:lnSpc>
                <a:spcPct val="100000"/>
              </a:lnSpc>
              <a:tabLst>
                <a:tab algn="l" pos="0"/>
              </a:tabLst>
            </a:pPr>
            <a:r>
              <a:rPr b="0" lang="en-US" sz="950" strike="noStrike" u="none">
                <a:solidFill>
                  <a:srgbClr val="9cd5ff"/>
                </a:solidFill>
                <a:effectLst/>
                <a:uFillTx/>
                <a:latin typeface="Consolas"/>
                <a:ea typeface="Consolas"/>
              </a:rPr>
              <a:t>static void show(){}</a:t>
            </a:r>
            <a:endParaRPr b="0" lang="en-IN" sz="950" strike="noStrike" u="none">
              <a:solidFill>
                <a:srgbClr val="ffffff"/>
              </a:solidFill>
              <a:effectLst/>
              <a:uFillTx/>
              <a:latin typeface="Arial"/>
            </a:endParaRPr>
          </a:p>
        </p:txBody>
      </p:sp>
      <p:sp>
        <p:nvSpPr>
          <p:cNvPr id="600" name="Shape 32"/>
          <p:cNvSpPr/>
          <p:nvPr/>
        </p:nvSpPr>
        <p:spPr>
          <a:xfrm>
            <a:off x="201240" y="4773240"/>
            <a:ext cx="8741160" cy="237240"/>
          </a:xfrm>
          <a:prstGeom prst="rect">
            <a:avLst/>
          </a:prstGeom>
          <a:solidFill>
            <a:srgbClr val="7aaace"/>
          </a:solidFill>
          <a:ln w="0">
            <a:no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601" name="Text 33"/>
          <p:cNvSpPr/>
          <p:nvPr/>
        </p:nvSpPr>
        <p:spPr>
          <a:xfrm>
            <a:off x="292680" y="4773240"/>
            <a:ext cx="850356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trike="noStrike" u="none">
                <a:solidFill>
                  <a:srgbClr val="ffffff"/>
                </a:solidFill>
                <a:effectLst/>
                <a:uFillTx/>
                <a:latin typeface="Calibri"/>
                <a:ea typeface="Calibri"/>
              </a:rPr>
              <a:t>Complete all 8 practice problems before the next class. Start with Problem 1 and work up to Problem 8 — the last one uses all five concepts together.</a:t>
            </a:r>
            <a:endParaRPr b="0" lang="en-IN" sz="1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11</TotalTime>
  <Application>LibreOffice/25.2.4.3$MacOSX_AARCH64 LibreOffice_project/33e196637044ead23f5c3226cde09b47731f7e27</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2026-03-11T09:09:08Z</dcterms:created>
  <dc:creator>PptxGenJS</dc:creator>
  <dc:description/>
  <dc:language>en-IN</dc:language>
  <cp:lastModifiedBy/>
  <dcterms:modified xsi:type="dcterms:W3CDTF">2026-03-11T20:06:26Z</dcterms:modified>
  <cp:revision>2</cp:revision>
  <dc:subject>PptxGenJS Presentation</dc:subject>
  <dc:title>Java OOP Basics — Class, Object, Constructor, Access Modifiers, Static</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24</vt:i4>
  </property>
  <property fmtid="{D5CDD505-2E9C-101B-9397-08002B2CF9AE}" pid="3" name="PresentationFormat">
    <vt:lpwstr>On-screen Show (16:9)</vt:lpwstr>
  </property>
  <property fmtid="{D5CDD505-2E9C-101B-9397-08002B2CF9AE}" pid="4" name="Slides">
    <vt:i4>24</vt:i4>
  </property>
</Properties>
</file>