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DSA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&amp;  Queue  —  Day 2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5029200" cy="0"/>
          </a:xfrm>
          <a:prstGeom prst="line">
            <a:avLst/>
          </a:prstGeom>
          <a:noFill/>
          <a:ln w="3175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299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Stack  |  Queue Implementations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Cross-Implementation Problems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2011680" cy="347472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80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Stack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2880360"/>
            <a:ext cx="201168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880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Temperatures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2880360"/>
            <a:ext cx="2011680" cy="347472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880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Greater Element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2880360"/>
            <a:ext cx="201168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880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via Array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3300984"/>
            <a:ext cx="2011680" cy="347472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00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via LinkedList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97480" y="3300984"/>
            <a:ext cx="201168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3300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via Stacks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3300984"/>
            <a:ext cx="2011680" cy="347472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300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via Queue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846320"/>
            <a:ext cx="80467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Session  |  Beginner to Fresher Level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— Stack vs ArrayDeque in Java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160520" cy="3246120"/>
          </a:xfrm>
          <a:prstGeom prst="rect">
            <a:avLst/>
          </a:prstGeom>
          <a:solidFill>
            <a:srgbClr val="FFFFFF"/>
          </a:solidFill>
          <a:ln w="2286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68680"/>
            <a:ext cx="41605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68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(Legacy — Avoid)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Vector (old class)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push/pop acquires a lock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— thread-safe overhead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for single-threaded DSA problems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Toll booth — every car stops for a guard check, even with no traffic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868680"/>
            <a:ext cx="4160520" cy="3246120"/>
          </a:xfrm>
          <a:prstGeom prst="rect">
            <a:avLst/>
          </a:prstGeom>
          <a:solidFill>
            <a:srgbClr val="FFFFFF"/>
          </a:solidFill>
          <a:ln w="22860">
            <a:solidFill>
              <a:srgbClr val="1A6B7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68680"/>
            <a:ext cx="4160520" cy="38404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868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ArrayDeque (Modern — Preferred)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13258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Deque interface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7830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synchronization overhead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240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 = addFirst()   |   pop() = removeFirst()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6974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 = peekFirst()   |   isEmpty()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1546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Express lane — no guard, no lock, direct entry. Fast!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187952"/>
            <a:ext cx="8503920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187952"/>
            <a:ext cx="8503920" cy="20116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4187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11480" y="44165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Deque&lt;Integer&gt; stack = new ArrayDeque&lt;&gt;();     // declare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stack.push(x);   stack.pop();   stack.peek();   stack.isEmpty();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Rule: Use ArrayDeque in ALL problems going forward!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Stack vs ArrayDeque  |  Java DSA – Stack &amp; Queue Day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 |  LeetCode 739  |  Daily Temperatures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850392"/>
            <a:ext cx="146304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739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850392"/>
            <a:ext cx="1463040" cy="27432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Stack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850392"/>
            <a:ext cx="1463040" cy="2743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234440"/>
            <a:ext cx="850392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Mukesh is a meteorologist at a weather station in Chennai. He has recorded daily temperatures for N days.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ask: "How many days do I need to wait to experience a warmer day?" He must answer this for every day — efficiently.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084832"/>
            <a:ext cx="85039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7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" y="2103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2350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array temperatures[], return array answer[] where answer[i] = number of days to wait after day i for a warmer temperature. If no warmer day exists, answer[i] = 0.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16352"/>
            <a:ext cx="8503920" cy="566928"/>
          </a:xfrm>
          <a:prstGeom prst="rect">
            <a:avLst/>
          </a:prstGeom>
          <a:solidFill>
            <a:srgbClr val="1E2D3D"/>
          </a:solidFill>
          <a:ln w="12700">
            <a:solidFill>
              <a:srgbClr val="2A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8912" y="28346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8912" y="30175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temperatures = [73, 74, 75, 71, 69, 72, 76, 73]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answer       = [ 1,  1,  4,  2,  1,  1,  0,  0]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456432"/>
            <a:ext cx="8503920" cy="566928"/>
          </a:xfrm>
          <a:prstGeom prst="rect">
            <a:avLst/>
          </a:prstGeom>
          <a:solidFill>
            <a:srgbClr val="1E2D3D"/>
          </a:solidFill>
          <a:ln w="12700">
            <a:solidFill>
              <a:srgbClr val="2A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38912" y="3474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8912" y="36576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temperatures = [30, 40, 50, 60]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answer       = [ 1,  1,  1,  0]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096512"/>
            <a:ext cx="8503920" cy="566928"/>
          </a:xfrm>
          <a:prstGeom prst="rect">
            <a:avLst/>
          </a:prstGeom>
          <a:solidFill>
            <a:srgbClr val="1E2D3D"/>
          </a:solidFill>
          <a:ln w="12700">
            <a:solidFill>
              <a:srgbClr val="2A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8912" y="4114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8912" y="42976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temperatures = [30, 60, 90]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answer       = [ 1,  1,  0]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1: Daily Temperatures  |  LC 739  |  Try it: https://leetcode.com/problems/daily-temperatures/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 |  Daily Temperatures  —  Concept &amp; Dry Run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850392"/>
            <a:ext cx="8503920" cy="11155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503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— Monotonic Decreasing Stack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161288"/>
            <a:ext cx="82296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stores indices of days in monotonic decreasing order of temperature.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warmer day arrives at index 'day', it becomes the "next warmer day" for all cooler days in the stack.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them one by one, record wait = day − prevDay.   Each index is pushed &amp; popped at most once → O(N).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066544"/>
            <a:ext cx="1920240" cy="310896"/>
          </a:xfrm>
          <a:prstGeom prst="rect">
            <a:avLst>
              <a:gd name="adj" fmla="val 14706"/>
            </a:avLst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665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31720" y="2066544"/>
            <a:ext cx="1920240" cy="310896"/>
          </a:xfrm>
          <a:prstGeom prst="rect">
            <a:avLst>
              <a:gd name="adj" fmla="val 14706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0665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2066544"/>
            <a:ext cx="1920240" cy="310896"/>
          </a:xfrm>
          <a:prstGeom prst="rect">
            <a:avLst>
              <a:gd name="adj" fmla="val 14706"/>
            </a:avLst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0665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stores: INDICES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502920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4505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" y="2450592"/>
            <a:ext cx="502920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4505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325880" y="2450592"/>
            <a:ext cx="1234440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24505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stack.peek() temp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0" y="2450592"/>
            <a:ext cx="1828800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2450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temp[peek] &lt; temp[day]?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89120" y="2450592"/>
            <a:ext cx="1234440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24505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&amp; result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23560" y="2450592"/>
            <a:ext cx="548640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24505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72200" y="2450592"/>
            <a:ext cx="1508760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4505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(indices)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2743200"/>
            <a:ext cx="5029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74320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22960" y="2743200"/>
            <a:ext cx="5029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" y="274320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325880" y="2743200"/>
            <a:ext cx="12344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53312" y="27432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60320" y="2743200"/>
            <a:ext cx="182880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87752" y="27432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89120" y="2743200"/>
            <a:ext cx="12344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16552" y="27432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623560" y="2743200"/>
            <a:ext cx="5486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27432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72200" y="2743200"/>
            <a:ext cx="150876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9632" y="274320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3017520"/>
            <a:ext cx="502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01752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22960" y="3017520"/>
            <a:ext cx="502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" y="301752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325880" y="3017520"/>
            <a:ext cx="1234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53312" y="30175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0→73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60320" y="3017520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87752" y="30175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389120" y="3017520"/>
            <a:ext cx="1234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16552" y="30175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result[0]=1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623560" y="3017520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50992" y="301752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172200" y="3017520"/>
            <a:ext cx="1508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301752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20040" y="3291840"/>
            <a:ext cx="5029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" y="329184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22960" y="3291840"/>
            <a:ext cx="5029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0392" y="329184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325880" y="3291840"/>
            <a:ext cx="12344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53312" y="32918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1→74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560320" y="3291840"/>
            <a:ext cx="182880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87752" y="32918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389120" y="3291840"/>
            <a:ext cx="12344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16552" y="32918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result[1]=1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623560" y="3291840"/>
            <a:ext cx="5486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50992" y="32918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172200" y="3291840"/>
            <a:ext cx="150876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99632" y="329184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20040" y="3566160"/>
            <a:ext cx="502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7472" y="356616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822960" y="3566160"/>
            <a:ext cx="502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50392" y="356616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325880" y="3566160"/>
            <a:ext cx="1234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53312" y="35661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2→75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560320" y="3566160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87752" y="356616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389120" y="3566160"/>
            <a:ext cx="1234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416552" y="35661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623560" y="3566160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50992" y="356616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172200" y="3566160"/>
            <a:ext cx="1508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99632" y="356616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[2,3]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20040" y="3840480"/>
            <a:ext cx="5029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7472" y="384048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822960" y="3840480"/>
            <a:ext cx="5029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50392" y="384048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325880" y="3840480"/>
            <a:ext cx="12344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353312" y="38404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3→71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560320" y="3840480"/>
            <a:ext cx="182880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587752" y="384048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389120" y="3840480"/>
            <a:ext cx="12344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16552" y="38404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623560" y="3840480"/>
            <a:ext cx="5486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50992" y="384048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172200" y="3840480"/>
            <a:ext cx="150876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199632" y="384048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[2,3,4]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320040" y="4114800"/>
            <a:ext cx="502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47472" y="411480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822960" y="4114800"/>
            <a:ext cx="502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50392" y="411480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1325880" y="4114800"/>
            <a:ext cx="1234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353312" y="41148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4→69 → 3→71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560320" y="4114800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587752" y="41148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(x2)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4389120" y="4114800"/>
            <a:ext cx="1234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416552" y="41148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result[4]=1, result[3]=2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5623560" y="4114800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50992" y="41148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6172200" y="4114800"/>
            <a:ext cx="1508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199632" y="411480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[2,5]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320040" y="4389120"/>
            <a:ext cx="5029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47472" y="438912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822960" y="4389120"/>
            <a:ext cx="5029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50392" y="438912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1325880" y="4389120"/>
            <a:ext cx="12344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353312" y="43891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5→72 → 2→75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2560320" y="4389120"/>
            <a:ext cx="182880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587752" y="43891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(x2)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389120" y="4389120"/>
            <a:ext cx="12344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416552" y="43891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result[5]=1, result[2]=4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623560" y="4389120"/>
            <a:ext cx="5486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650992" y="438912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6172200" y="4389120"/>
            <a:ext cx="150876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199632" y="438912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320040" y="4663440"/>
            <a:ext cx="502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47472" y="466344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822960" y="4663440"/>
            <a:ext cx="502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50392" y="466344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1325880" y="4663440"/>
            <a:ext cx="1234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353312" y="46634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6→76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2560320" y="4663440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587752" y="46634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4389120" y="4663440"/>
            <a:ext cx="12344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416552" y="46634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5623560" y="4663440"/>
            <a:ext cx="548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650992" y="46634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6172200" y="4663440"/>
            <a:ext cx="15087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199632" y="466344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[6,7]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320040" y="4956048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in stack: indices 6, 7 → result stays 0.   Final: [1, 1, 4, 2, 1, 1, 0, 0]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Run: Daily Temperatures  |  Java DSA – Stack &amp; Queue Day 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 |  GFG  |  Next Greater Element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850392"/>
            <a:ext cx="146304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850392"/>
            <a:ext cx="1463040" cy="27432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Stack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850392"/>
            <a:ext cx="1463040" cy="2743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Left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207008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122529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Suresh is a stock analyst at a Chennai brokerage. He has stock closing prices for N days.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day, he needs the next day price that is HIGHER than today — the next bullish momentum point.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938528"/>
            <a:ext cx="85039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7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8912" y="195681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Given array arr[], find the Next Greater Element (NGE) for every element — the first greater element to its right. If none, output -1.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596896"/>
            <a:ext cx="8503920" cy="566928"/>
          </a:xfrm>
          <a:prstGeom prst="rect">
            <a:avLst/>
          </a:prstGeom>
          <a:solidFill>
            <a:srgbClr val="1E2D3D"/>
          </a:solidFill>
          <a:ln w="12700">
            <a:solidFill>
              <a:srgbClr val="2A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624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28163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arr = [1, 3, 2, 4]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NGE = [3, 4, 4, -1]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2706624"/>
            <a:ext cx="3108960" cy="329184"/>
          </a:xfrm>
          <a:prstGeom prst="rect">
            <a:avLst/>
          </a:prstGeom>
          <a:solidFill>
            <a:srgbClr val="1A6B72">
              <a:alpha val="40000"/>
            </a:srgbClr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27249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1→3  |  3→4  |  2→4  |  4→-1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236976"/>
            <a:ext cx="8503920" cy="566928"/>
          </a:xfrm>
          <a:prstGeom prst="rect">
            <a:avLst/>
          </a:prstGeom>
          <a:solidFill>
            <a:srgbClr val="1E2D3D"/>
          </a:solidFill>
          <a:ln w="12700">
            <a:solidFill>
              <a:srgbClr val="2A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2644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1480" y="34564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arr = [6, 8, 0, 1, 3]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NGE = [8, -1, 1, 3, -1]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77840" y="3346704"/>
            <a:ext cx="3108960" cy="329184"/>
          </a:xfrm>
          <a:prstGeom prst="rect">
            <a:avLst/>
          </a:prstGeom>
          <a:solidFill>
            <a:srgbClr val="1A6B72">
              <a:alpha val="40000"/>
            </a:srgbClr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336499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8 has no greater → -1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877056"/>
            <a:ext cx="8503920" cy="566928"/>
          </a:xfrm>
          <a:prstGeom prst="rect">
            <a:avLst/>
          </a:prstGeom>
          <a:solidFill>
            <a:srgbClr val="1E2D3D"/>
          </a:solidFill>
          <a:ln w="12700">
            <a:solidFill>
              <a:srgbClr val="2ABFB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1480" y="39044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1480" y="40965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arr = [4, 3, 2, 1]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NGE = [-1, -1, -1, -1]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3986784"/>
            <a:ext cx="3108960" cy="329184"/>
          </a:xfrm>
          <a:prstGeom prst="rect">
            <a:avLst/>
          </a:prstGeom>
          <a:solidFill>
            <a:srgbClr val="1A6B72">
              <a:alpha val="40000"/>
            </a:srgbClr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4005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Decreasing — no NGE for any element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5720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 vs LC 739:  ▸ Traverse RIGHT to LEFT   ▸ Stack stores VALUES (not indices)   ▸ Result = value of NGE, not distance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2: Next Greater Element  |  GFG  |  Try: geeksforgeeks.org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 |  Next Greater Element  —  Dry Run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850392"/>
            <a:ext cx="850392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50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 (Right → Left, Monotonic Increasing Stack)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1247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Traverse from RIGHT to LEFT.    2. Pop elements ≤ arr[i] — they cannot be NGE for arr[i] or anything to its left.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stack empty → result[i] = -1.    4. Else result[i] = stack.peek() (first greater on right).    5. Push arr[i].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56232"/>
            <a:ext cx="1920240" cy="310896"/>
          </a:xfrm>
          <a:prstGeom prst="rect">
            <a:avLst>
              <a:gd name="adj" fmla="val 14706"/>
            </a:avLst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562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31720" y="1856232"/>
            <a:ext cx="1920240" cy="310896"/>
          </a:xfrm>
          <a:prstGeom prst="rect">
            <a:avLst>
              <a:gd name="adj" fmla="val 14706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8562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43400" y="1856232"/>
            <a:ext cx="1920240" cy="310896"/>
          </a:xfrm>
          <a:prstGeom prst="rect">
            <a:avLst>
              <a:gd name="adj" fmla="val 14706"/>
            </a:avLst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8562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stores: VALUES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240280"/>
            <a:ext cx="292608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12648" y="2240280"/>
            <a:ext cx="438912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24028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arr[i]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51560" y="2240280"/>
            <a:ext cx="1261872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22402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before pop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313432" y="2240280"/>
            <a:ext cx="1389888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2240280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(peek≤arr[i])?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703320" y="2240280"/>
            <a:ext cx="1261872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224028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after pop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965192" y="2240280"/>
            <a:ext cx="640080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2402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result[i]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605272" y="2240280"/>
            <a:ext cx="749808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05272" y="224028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arr[i]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355080" y="2240280"/>
            <a:ext cx="1325880" cy="29260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2402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after push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0040" y="2532888"/>
            <a:ext cx="292608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2532888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2648" y="2532888"/>
            <a:ext cx="438912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25328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051560" y="2532888"/>
            <a:ext cx="1261872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25328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313432" y="2532888"/>
            <a:ext cx="1389888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40864" y="2532888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→ No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703320" y="2532888"/>
            <a:ext cx="1261872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30752" y="253288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65192" y="2532888"/>
            <a:ext cx="640080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92624" y="2532888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605272" y="2532888"/>
            <a:ext cx="749808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32704" y="2532888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355080" y="2532888"/>
            <a:ext cx="1325880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2532888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0040" y="2825496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2825496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2648" y="2825496"/>
            <a:ext cx="4389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282549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51560" y="2825496"/>
            <a:ext cx="126187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78992" y="2825496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313432" y="2825496"/>
            <a:ext cx="13898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40864" y="282549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4≤2? No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703320" y="2825496"/>
            <a:ext cx="126187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30752" y="2825496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965192" y="2825496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92624" y="2825496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605272" y="2825496"/>
            <a:ext cx="7498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32704" y="282549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355080" y="2825496"/>
            <a:ext cx="13258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82512" y="2825496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[4,2]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0040" y="3118104"/>
            <a:ext cx="292608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" y="3118104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2648" y="3118104"/>
            <a:ext cx="438912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311810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051560" y="3118104"/>
            <a:ext cx="1261872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78992" y="311810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[4,2]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313432" y="3118104"/>
            <a:ext cx="1389888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340864" y="3118104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2≤3? Yes → pop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703320" y="3118104"/>
            <a:ext cx="1261872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30752" y="311810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965192" y="3118104"/>
            <a:ext cx="640080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92624" y="3118104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605272" y="3118104"/>
            <a:ext cx="749808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632704" y="3118104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355080" y="3118104"/>
            <a:ext cx="1325880" cy="292608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82512" y="3118104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[4,3]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20040" y="3410712"/>
            <a:ext cx="2926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7472" y="3410712"/>
            <a:ext cx="237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12648" y="3410712"/>
            <a:ext cx="4389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0080" y="34107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051560" y="3410712"/>
            <a:ext cx="126187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78992" y="341071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[4,3]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313432" y="3410712"/>
            <a:ext cx="13898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340864" y="3410712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3≤1? No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703320" y="3410712"/>
            <a:ext cx="126187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30752" y="341071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[4,3]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965192" y="3410712"/>
            <a:ext cx="640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992624" y="3410712"/>
            <a:ext cx="585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605272" y="3410712"/>
            <a:ext cx="74980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632704" y="3410712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355080" y="3410712"/>
            <a:ext cx="13258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82512" y="341071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[4,3,1]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20040" y="3730752"/>
            <a:ext cx="8503920" cy="475488"/>
          </a:xfrm>
          <a:prstGeom prst="rect">
            <a:avLst/>
          </a:prstGeom>
          <a:solidFill>
            <a:srgbClr val="1E2D3D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57200" y="37307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[3, 4, 4, -1]     ✓  Matches expected output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320040" y="4315968"/>
            <a:ext cx="4160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7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411480" y="43342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739 — Daily Temperatures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411480" y="45720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Left→Right  |  Stack: INDICES  |  Result: days-waited (int)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4663440" y="4315968"/>
            <a:ext cx="41605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83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4754880" y="43342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GFG — Next Greater Element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4754880" y="45720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Right→Left  |  Stack: VALUES  |  Result: value of NGE or -1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Run: Next Greater Element  |  Java DSA – Stack &amp; Queue Day 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  |  GFG  |  Implement Queue Using Array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850392"/>
            <a:ext cx="146304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850392"/>
            <a:ext cx="1463040" cy="27432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Array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850392"/>
            <a:ext cx="1463040" cy="2743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Ops O(1)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207008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122529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manages the token queue at an LIC office counter in Pune. The counter has space for exactly n customers.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join at the rear. Counter serves from the front. Freed spaces must be reusable — circular array approach!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1956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to Implement: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267712"/>
            <a:ext cx="416052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67712"/>
            <a:ext cx="1371600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267712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enqueue(x)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83080" y="226771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element at the rear (with circular wrap)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36008" y="2267712"/>
            <a:ext cx="416052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7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36008" y="2267712"/>
            <a:ext cx="1371600" cy="420624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267712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dequeue()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99048" y="226771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element from the front (circular increment)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416052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743200"/>
            <a:ext cx="1371600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743200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getFront()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83080" y="27432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front element without removing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36008" y="2743200"/>
            <a:ext cx="416052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7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36008" y="2743200"/>
            <a:ext cx="1371600" cy="420624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743200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getRear()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99048" y="27432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rear element without removing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218688"/>
            <a:ext cx="416052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218688"/>
            <a:ext cx="1371600" cy="4206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218688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isEmpty()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783080" y="321868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true if size == 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36008" y="3218688"/>
            <a:ext cx="416052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7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36008" y="3218688"/>
            <a:ext cx="1371600" cy="420624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218688"/>
            <a:ext cx="1316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isFull()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99048" y="321868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true if size == capacity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749040"/>
            <a:ext cx="8503920" cy="1234440"/>
          </a:xfrm>
          <a:prstGeom prst="rect">
            <a:avLst/>
          </a:prstGeom>
          <a:solidFill>
            <a:srgbClr val="1E2D3D"/>
          </a:solidFill>
          <a:ln w="19050">
            <a:solidFill>
              <a:srgbClr val="E8A83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3767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— Circular Array with Modulo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Problem:  Naive queue wastes space — after enqueue/dequeue cycles, front moves right leaving dead slots at the start.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  rear  = (rear + 1) % capacity     →   wraps rear back to index 0 when it reaches the 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front = (front + 1) % capacity    →   same wrap for front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isFull(): use  size == capacity  (not rear == capacity-1), because rear can be anywhere in circular array.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3: Implement Queue Using Array  |  GFG  |  Circular Array Logic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  |  Queue Using Array  —  Dry Run &amp; Complexity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850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Space Complexity: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2011680" cy="301752"/>
          </a:xfrm>
          <a:prstGeom prst="rect">
            <a:avLst/>
          </a:prstGeom>
          <a:solidFill>
            <a:srgbClr val="1A6B72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70432"/>
            <a:ext cx="1956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53896" y="1170432"/>
            <a:ext cx="1097280" cy="301752"/>
          </a:xfrm>
          <a:prstGeom prst="rect">
            <a:avLst/>
          </a:prstGeom>
          <a:solidFill>
            <a:srgbClr val="1A6B72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1170432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87752" y="1170432"/>
            <a:ext cx="1097280" cy="301752"/>
          </a:xfrm>
          <a:prstGeom prst="rect">
            <a:avLst/>
          </a:prstGeom>
          <a:solidFill>
            <a:srgbClr val="1A6B72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1170432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472184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472184"/>
            <a:ext cx="1956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53896" y="1472184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1472184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87752" y="1472184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1472184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1773936"/>
            <a:ext cx="2011680" cy="30175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773936"/>
            <a:ext cx="1956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53896" y="1773936"/>
            <a:ext cx="1097280" cy="30175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81328" y="1773936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87752" y="1773936"/>
            <a:ext cx="1097280" cy="30175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15184" y="1773936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075688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2075688"/>
            <a:ext cx="1956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getFront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453896" y="2075688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81328" y="2075688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87752" y="2075688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5184" y="2075688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2377440"/>
            <a:ext cx="2011680" cy="30175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2377440"/>
            <a:ext cx="1956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getRear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53896" y="2377440"/>
            <a:ext cx="1097280" cy="30175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81328" y="2377440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87752" y="2377440"/>
            <a:ext cx="1097280" cy="30175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15184" y="2377440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2679192"/>
            <a:ext cx="20116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2679192"/>
            <a:ext cx="1956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 / isFull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453896" y="2679192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81328" y="2679192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87752" y="2679192"/>
            <a:ext cx="1097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15184" y="2679192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2980944"/>
            <a:ext cx="2011680" cy="30175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2980944"/>
            <a:ext cx="1956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453896" y="2980944"/>
            <a:ext cx="1097280" cy="30175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81328" y="2980944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87752" y="2980944"/>
            <a:ext cx="1097280" cy="30175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15184" y="2980944"/>
            <a:ext cx="1042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0040" y="33558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 (n = 4):  enqueue(10), enqueue(20), enqueue(30), dequeue(), enqueue(40), enqueue(50)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3675888"/>
            <a:ext cx="14173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3675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737360" y="3675888"/>
            <a:ext cx="5943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0" y="36758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331720" y="3675888"/>
            <a:ext cx="5943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31720" y="36758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926080" y="3675888"/>
            <a:ext cx="5943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26080" y="367588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520440" y="3675888"/>
            <a:ext cx="16459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20440" y="3675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arr[0..3]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166360" y="3675888"/>
            <a:ext cx="338328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66360" y="3675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20040" y="3950208"/>
            <a:ext cx="141732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395020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enqueue(10)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737360" y="3950208"/>
            <a:ext cx="59436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764792" y="3950208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331720" y="3950208"/>
            <a:ext cx="59436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59152" y="3950208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926080" y="3950208"/>
            <a:ext cx="59436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53512" y="3950208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520440" y="3950208"/>
            <a:ext cx="164592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47872" y="395020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0, 0, 0]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166360" y="3950208"/>
            <a:ext cx="338328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93792" y="395020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rear=(-1+1)%4=0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20040" y="4206240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7472" y="420624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enqueue(20)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737360" y="4206240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764792" y="420624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331720" y="4206240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59152" y="420624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926080" y="4206240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953512" y="420624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520440" y="4206240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547872" y="420624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[10,20, 0, 0]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5166360" y="4206240"/>
            <a:ext cx="3383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93792" y="420624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rear=(0+1)%4=1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320040" y="4462272"/>
            <a:ext cx="141732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47472" y="4462272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enqueue(30)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1737360" y="4462272"/>
            <a:ext cx="59436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764792" y="4462272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2331720" y="4462272"/>
            <a:ext cx="59436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359152" y="4462272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926080" y="4462272"/>
            <a:ext cx="59436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953512" y="4462272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520440" y="4462272"/>
            <a:ext cx="164592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547872" y="446227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[10,20,30, 0]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5166360" y="4462272"/>
            <a:ext cx="338328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193792" y="446227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rear=(1+1)%4=2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320040" y="4718304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47472" y="4718304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dequeue()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737360" y="4718304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764792" y="4718304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2331720" y="4718304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359152" y="4718304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926080" y="4718304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953512" y="4718304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520440" y="4718304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547872" y="471830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[ 0,20,30, 0]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5166360" y="4718304"/>
            <a:ext cx="3383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93792" y="4718304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front=(0+1)%4=1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320040" y="4974336"/>
            <a:ext cx="141732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47472" y="497433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enqueue(40)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737360" y="4974336"/>
            <a:ext cx="59436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764792" y="4974336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2331720" y="4974336"/>
            <a:ext cx="59436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359152" y="4974336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926080" y="4974336"/>
            <a:ext cx="59436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953512" y="4974336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3520440" y="4974336"/>
            <a:ext cx="164592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547872" y="497433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[ 0,20,30,40]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5166360" y="4974336"/>
            <a:ext cx="3383280" cy="256032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193792" y="497433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rear=(2+1)%4=3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320040" y="5230368"/>
            <a:ext cx="14173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47472" y="523036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enqueue(50)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1737360" y="5230368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764792" y="5230368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2331720" y="5230368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359152" y="5230368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2926080" y="5230368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953512" y="5230368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520440" y="5230368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547872" y="523036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[50,20,30,40]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5166360" y="5230368"/>
            <a:ext cx="3383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193792" y="523036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rear=(3+1)%4=0  ← WRAP!</a:t>
            </a:r>
            <a:endParaRPr lang="en-US" sz="800" dirty="0"/>
          </a:p>
        </p:txBody>
      </p:sp>
      <p:sp>
        <p:nvSpPr>
          <p:cNvPr id="135" name="Text 133"/>
          <p:cNvSpPr/>
          <p:nvPr/>
        </p:nvSpPr>
        <p:spPr>
          <a:xfrm>
            <a:off x="320040" y="550468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getFront() → arr[1]=20   getRear() → arr[0]=50   (rear wrapped to index 0!)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Run: Queue via Array  |  Java DSA – Stack &amp; Queue Day 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  |  GFG  |  Implement Queue Using Linked List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850392"/>
            <a:ext cx="146304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850392"/>
            <a:ext cx="1463040" cy="27432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Unlimited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850392"/>
            <a:ext cx="1463040" cy="2743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+ Rear Pointers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207008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122529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Dinesh builds a customer support ticket system for Flipkart in Chennai. Tickets arrive at unpredictable rates.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has no fixed size — 5 tickets in the morning, 5000 during a sale. Linked list handles unlimited dynamic growth.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947672"/>
            <a:ext cx="8503920" cy="960120"/>
          </a:xfrm>
          <a:prstGeom prst="rect">
            <a:avLst/>
          </a:prstGeom>
          <a:solidFill>
            <a:srgbClr val="1E2D3D"/>
          </a:solidFill>
          <a:ln w="19050">
            <a:solidFill>
              <a:srgbClr val="E8A83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1965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— Front &amp; Rear Pointers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2585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→ the node to dequeue next (FIFO start)   |   rear → the most recently enqueued node (append here)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enqueue: rear.next = newNode  then  rear = newNode  →  O(1) because we hold the tail reference directly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dequeue: front = front.next  →  old front loses all refs, garbage collected automatically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9900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Run:  enqueue(10), enqueue(20), enqueue(30), dequeue(), getFront()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310128"/>
            <a:ext cx="1463040" cy="2743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783080" y="3310128"/>
            <a:ext cx="1188720" cy="2743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310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71800" y="3310128"/>
            <a:ext cx="1188720" cy="2743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3310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60520" y="3310128"/>
            <a:ext cx="640080" cy="2743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3310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00600" y="3310128"/>
            <a:ext cx="4069080" cy="2743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3101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state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584448"/>
            <a:ext cx="14630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58444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enqueue(10)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783080" y="3584448"/>
            <a:ext cx="11887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10512" y="358444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node(10)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971800" y="3584448"/>
            <a:ext cx="11887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99232" y="358444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node(10)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60520" y="3584448"/>
            <a:ext cx="64008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87952" y="358444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3584448"/>
            <a:ext cx="406908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584448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→ null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385876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85876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enqueue(20)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783080" y="3858768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10512" y="38587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node(10)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971800" y="3858768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9232" y="385876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node(20)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160520" y="3858768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87952" y="38587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00600" y="3858768"/>
            <a:ext cx="4069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3858768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→ 20 → null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4133088"/>
            <a:ext cx="14630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413308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enqueue(30)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783080" y="4133088"/>
            <a:ext cx="11887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10512" y="413308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node(10)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971800" y="4133088"/>
            <a:ext cx="11887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99232" y="413308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node(30)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160520" y="4133088"/>
            <a:ext cx="64008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87952" y="413308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00600" y="4133088"/>
            <a:ext cx="406908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4133088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→ 20 → 30 → null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0040" y="4407408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" y="440740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dequeue()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783080" y="4407408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10512" y="44074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node(20)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971800" y="4407408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99232" y="44074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node(30)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160520" y="4407408"/>
            <a:ext cx="640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87952" y="44074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800600" y="4407408"/>
            <a:ext cx="40690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28032" y="4407408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→ 30 → null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20040" y="4681728"/>
            <a:ext cx="146304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" y="468172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getFront()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783080" y="4681728"/>
            <a:ext cx="11887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10512" y="46817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node(20)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971800" y="4681728"/>
            <a:ext cx="118872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99232" y="468172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node(30)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160520" y="4681728"/>
            <a:ext cx="64008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87952" y="468172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800600" y="4681728"/>
            <a:ext cx="4069080" cy="27432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28032" y="4681728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20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320040" y="497433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Queue vs Linked List Queue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320040" y="4974336"/>
            <a:ext cx="85039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5F7F2"/>
                </a:solidFill>
              </a:rPr>
              <a:t>Feature: Capacity → Array=Fixed, LinkedList=Dynamic  |  Overflow → Array=Yes, LinkedList=No  |  Memory → Array=Contiguous, LinkedList=Per-node</a:t>
            </a: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320040" y="4974336"/>
            <a:ext cx="8503920" cy="118872"/>
          </a:xfrm>
          <a:prstGeom prst="rect">
            <a:avLst/>
          </a:prstGeom>
          <a:solidFill>
            <a:srgbClr val="F5F7F2"/>
          </a:solidFill>
          <a:ln w="12700">
            <a:solidFill>
              <a:srgbClr val="F5F7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4: Queue via Linked List  |  Java DSA – Stack &amp; Queue Day 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5  |  LeetCode 232  |  Implement Queue Using Stacks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850392"/>
            <a:ext cx="146304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232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850392"/>
            <a:ext cx="1463040" cy="27432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Stacks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850392"/>
            <a:ext cx="1463040" cy="2743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O(1)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207008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122529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Kamlesh builds a complaint management system at an Indian Railways office in Pune.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must be handled in arrival order (FIFO) — but the data layer only supports a stack. He must simulate FIFO using two LIFO stacks.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947672"/>
            <a:ext cx="8503920" cy="1051560"/>
          </a:xfrm>
          <a:prstGeom prst="rect">
            <a:avLst/>
          </a:prstGeom>
          <a:solidFill>
            <a:srgbClr val="1E2D3D"/>
          </a:solidFill>
          <a:ln w="19050">
            <a:solidFill>
              <a:srgbClr val="2ABFB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1965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— Lazy Transfer via shiftStack()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25856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  always goes to  inStack.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shiftStack()  pours inStack → outStack ONLY when outStack is empty (called lazily on pop/peek).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Pouring reverses order twice → two reversals restore FIFO.  Each element moves at most once → amortized O(1).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383280"/>
            <a:ext cx="11887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38328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08760" y="3383280"/>
            <a:ext cx="1280160" cy="310896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338328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88920" y="3383280"/>
            <a:ext cx="4297680" cy="310896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383280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inStack only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694176"/>
            <a:ext cx="11887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694176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08760" y="3694176"/>
            <a:ext cx="1280160" cy="310896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36192" y="369417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O(1)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88920" y="3694176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6352" y="369417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happens ≤ once per element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4005072"/>
            <a:ext cx="11887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005072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peek()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08760" y="4005072"/>
            <a:ext cx="1280160" cy="310896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36192" y="4005072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O(1)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88920" y="4005072"/>
            <a:ext cx="4297680" cy="310896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16352" y="400507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lazy transfer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4315968"/>
            <a:ext cx="11887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315968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empty()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508760" y="4315968"/>
            <a:ext cx="1280160" cy="310896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36192" y="43159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88920" y="4315968"/>
            <a:ext cx="4297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16352" y="4315968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both stacks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0040" y="46542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Run:  push(1), push(2), push(3), pop(), peek()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919472"/>
            <a:ext cx="1280160" cy="24688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91947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600200" y="4919472"/>
            <a:ext cx="1645920" cy="24688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00200" y="491947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inStack (top→)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46120" y="4919472"/>
            <a:ext cx="1645920" cy="24688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46120" y="491947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outStack (top→)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892040" y="4919472"/>
            <a:ext cx="2468880" cy="24688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91947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360920" y="4919472"/>
            <a:ext cx="1051560" cy="24688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60920" y="4919472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20040" y="5166360"/>
            <a:ext cx="128016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00200" y="5166360"/>
            <a:ext cx="164592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46120" y="5166360"/>
            <a:ext cx="164592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92040" y="5166360"/>
            <a:ext cx="246888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60920" y="5166360"/>
            <a:ext cx="105156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" y="5166360"/>
            <a:ext cx="12801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00200" y="5166360"/>
            <a:ext cx="164592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46120" y="5166360"/>
            <a:ext cx="164592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92040" y="5166360"/>
            <a:ext cx="246888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60920" y="5166360"/>
            <a:ext cx="10515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" y="5166360"/>
            <a:ext cx="128016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600200" y="5166360"/>
            <a:ext cx="164592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46120" y="5166360"/>
            <a:ext cx="164592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92040" y="5166360"/>
            <a:ext cx="246888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60920" y="5166360"/>
            <a:ext cx="105156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0040" y="5166360"/>
            <a:ext cx="12801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600200" y="5166360"/>
            <a:ext cx="164592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46120" y="5166360"/>
            <a:ext cx="164592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92040" y="5166360"/>
            <a:ext cx="246888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60920" y="5166360"/>
            <a:ext cx="10515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0040" y="5166360"/>
            <a:ext cx="128016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00200" y="5166360"/>
            <a:ext cx="164592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46120" y="5166360"/>
            <a:ext cx="164592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92040" y="5166360"/>
            <a:ext cx="246888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360920" y="5166360"/>
            <a:ext cx="1051560" cy="0"/>
          </a:xfrm>
          <a:prstGeom prst="rect">
            <a:avLst/>
          </a:prstGeom>
          <a:solidFill>
            <a:srgbClr val="EBF4F5"/>
          </a:solidFill>
          <a:ln w="12700">
            <a:solidFill>
              <a:srgbClr val="D0DD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7472" y="5184648"/>
            <a:ext cx="8412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5F7F2"/>
                </a:solidFill>
              </a:rPr>
              <a:t>push(1)  | in:[1]      | out:[]       | push to inStack                → —</a:t>
            </a: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347472" y="5184648"/>
            <a:ext cx="8412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5F7F2"/>
                </a:solidFill>
              </a:rPr>
              <a:t>push(2)  | in:[2,1]    | out:[]       | push to inStack                → —</a:t>
            </a: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347472" y="5184648"/>
            <a:ext cx="8412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5F7F2"/>
                </a:solidFill>
              </a:rPr>
              <a:t>push(3)  | in:[3,2,1]  | out:[]       | push to inStack                → —</a:t>
            </a: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347472" y="5184648"/>
            <a:ext cx="8412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5F7F2"/>
                </a:solidFill>
              </a:rPr>
              <a:t>pop()    | in:[]       | out:[1,2,3]  | outStack empty → pour, pop 1   → 1</a:t>
            </a: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347472" y="5184648"/>
            <a:ext cx="8412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5F7F2"/>
                </a:solidFill>
              </a:rPr>
              <a:t>peek()   | in:[]       | out:[2,3]    | outStack not empty → peek      → 2</a:t>
            </a:r>
            <a:endParaRPr lang="en-US" dirty="0"/>
          </a:p>
        </p:txBody>
      </p:sp>
      <p:sp>
        <p:nvSpPr>
          <p:cNvPr id="84" name="Shape 8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5: Queue Using Stacks  |  LC 232  |  Lazy transfer pattern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5  |  Queue via Stacks  —  Detailed Dry Run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8503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  push(1), push(2), push(3), pop(), peek()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123444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8872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54480" y="1188720"/>
            <a:ext cx="16002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1887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inStack (top→)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188720"/>
            <a:ext cx="16002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1887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outStack (top→)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27432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887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98080" y="1188720"/>
            <a:ext cx="9144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1887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499616"/>
            <a:ext cx="123444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1499616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push(1)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554480" y="1499616"/>
            <a:ext cx="160020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91056" y="149961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1499616"/>
            <a:ext cx="160020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91256" y="149961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499616"/>
            <a:ext cx="274320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149961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inStack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0" y="1499616"/>
            <a:ext cx="91440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34656" y="1499616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1865376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" y="1865376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push(2)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554480" y="1865376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91056" y="186537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[2,1]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54680" y="1865376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91256" y="186537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1865376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186537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inStack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98080" y="1865376"/>
            <a:ext cx="914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34656" y="1865376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2231136"/>
            <a:ext cx="123444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" y="2231136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push(3)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554480" y="2231136"/>
            <a:ext cx="160020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91056" y="223113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[3,2,1]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154680" y="2231136"/>
            <a:ext cx="160020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91256" y="223113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2231136"/>
            <a:ext cx="274320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91456" y="223113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inStack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498080" y="2231136"/>
            <a:ext cx="91440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34656" y="2231136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2596896"/>
            <a:ext cx="1234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" y="2596896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554480" y="2596896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91056" y="259689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154680" y="2596896"/>
            <a:ext cx="1600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91256" y="259689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[1,2,3]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54880" y="2596896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91456" y="259689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outStack empty → pour inStack → outStack; pop front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498080" y="2596896"/>
            <a:ext cx="914400" cy="365760"/>
          </a:xfrm>
          <a:prstGeom prst="rect">
            <a:avLst/>
          </a:prstGeom>
          <a:solidFill>
            <a:srgbClr val="E8A838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34656" y="2596896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0040" y="2962656"/>
            <a:ext cx="123444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6616" y="2962656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554480" y="2962656"/>
            <a:ext cx="160020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591056" y="296265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154680" y="2962656"/>
            <a:ext cx="160020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91256" y="2962656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[2,3]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754880" y="2962656"/>
            <a:ext cx="2743200" cy="365760"/>
          </a:xfrm>
          <a:prstGeom prst="rect">
            <a:avLst/>
          </a:prstGeom>
          <a:solidFill>
            <a:srgbClr val="EBF4F5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91456" y="296265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outStack not empty → peek (no transfer needed)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498080" y="2962656"/>
            <a:ext cx="914400" cy="365760"/>
          </a:xfrm>
          <a:prstGeom prst="rect">
            <a:avLst/>
          </a:prstGeom>
          <a:solidFill>
            <a:srgbClr val="E8A838"/>
          </a:solidFill>
          <a:ln w="6350">
            <a:solidFill>
              <a:srgbClr val="D0DD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34656" y="2962656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0040" y="3383280"/>
            <a:ext cx="8503920" cy="1417320"/>
          </a:xfrm>
          <a:prstGeom prst="rect">
            <a:avLst/>
          </a:prstGeom>
          <a:solidFill>
            <a:srgbClr val="1E2D3D"/>
          </a:solidFill>
          <a:ln w="19050">
            <a:solidFill>
              <a:srgbClr val="E8A83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57200" y="3401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shiftStack() Restores FIFO Order: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57200" y="3703320"/>
            <a:ext cx="8229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push(1), push(2), push(3):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inStack (top→)  = [3, 2, 1]     ← LIFO order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shiftStack() pours inStack into outStack: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pop 3 → push to outStack    pop 2 → push     pop 1 → push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outStack (top→) = [1, 2, 3]  ← FIFO order RESTORED!   pop() returns 1 ✓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Run: Queue via Stacks  |  Java DSA – Stack &amp; Queue Day 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6  |  LeetCode 225  |  Implement Stack Using Queues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850392"/>
            <a:ext cx="1463040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225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850392"/>
            <a:ext cx="1463040" cy="27432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Queue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850392"/>
            <a:ext cx="1463040" cy="2743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850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on Push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207008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122529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Nitesh is a developer at a Chennai startup. The infrastructure only exposes a FIFO queue API.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feature needs LIFO stack behaviour (like undo history). He must simulate LIFO using only queue operations.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947672"/>
            <a:ext cx="8503920" cy="1143000"/>
          </a:xfrm>
          <a:prstGeom prst="rect">
            <a:avLst/>
          </a:prstGeom>
          <a:solidFill>
            <a:srgbClr val="1E2D3D"/>
          </a:solidFill>
          <a:ln w="19050">
            <a:solidFill>
              <a:srgbClr val="2ABFB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— Rotate to Keep Latest at Front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25856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queue.add(x)  the new element x is at the REAR — but stack wants it at the TOP (= queue front).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Rotate the other  size-1  elements from front to rear.  After rotation, x moves to the front.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 and top() just remove/peek the front → O(1).   push() does the rotation → O(N).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172968"/>
            <a:ext cx="85039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7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1912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Trace  —  push(1), push(2), push(3):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49300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push(1):  add(1) → [1]              size=1, rotate 0 times     → queue = [1]      front=1=top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push(2):  add(2) → [1,2]            size=2, rotate 1 time      → queue = [2,1]    front=2=top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push(3):  add(3) → [2,1,3]          size=3, rotate 2 times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step1: remove 2, add 2 → [1,3,2]    step2: remove 1, add 1 → [3,2,1]   front=3=top 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681728"/>
            <a:ext cx="8503920" cy="365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push(): O(N)  |  pop(): O(1)  |  top(): O(1)  |  Space: O(N)    —  Trade-off: O(N) push is acceptable when pop is called more often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6: Stack via Queue  |  LC 225  |  Single-queue rotation approach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Test Your Understanding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50392"/>
            <a:ext cx="8503920" cy="612648"/>
          </a:xfrm>
          <a:prstGeom prst="rect">
            <a:avLst/>
          </a:prstGeom>
          <a:solidFill>
            <a:srgbClr val="1A6B72">
              <a:alpha val="80000"/>
            </a:srgbClr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23544"/>
            <a:ext cx="329184" cy="32918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23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8869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Why is ArrayDeque preferred over Java's Stack in modern code?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" y="1161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More ops   b) Stack is abstract   c) Stack has sync overhead — slower   d) ArrayDeque is sorted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536192"/>
            <a:ext cx="8503920" cy="612648"/>
          </a:xfrm>
          <a:prstGeom prst="rect">
            <a:avLst/>
          </a:prstGeom>
          <a:solidFill>
            <a:srgbClr val="1A5E6A">
              <a:alpha val="80000"/>
            </a:srgbClr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609344"/>
            <a:ext cx="329184" cy="32918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15727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In LC 739, what does the stack store?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86384" y="18470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Temperature values   b) Day indices   c) Wait counts   d) Boolean flags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221992"/>
            <a:ext cx="8503920" cy="612648"/>
          </a:xfrm>
          <a:prstGeom prst="rect">
            <a:avLst/>
          </a:prstGeom>
          <a:solidFill>
            <a:srgbClr val="1A6B72">
              <a:alpha val="80000"/>
            </a:srgbClr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295144"/>
            <a:ext cx="329184" cy="32918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295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" y="2258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In GFG NGE, what does the stack store?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" y="25328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Indices   b) Array indices   c) Temperature values   d) Element values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907792"/>
            <a:ext cx="8503920" cy="612648"/>
          </a:xfrm>
          <a:prstGeom prst="rect">
            <a:avLst/>
          </a:prstGeom>
          <a:solidFill>
            <a:srgbClr val="1A5E6A">
              <a:alpha val="80000"/>
            </a:srgbClr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980944"/>
            <a:ext cx="329184" cy="32918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" y="2944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In GFG Queue (Array), why use size==capacity for isFull()?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" y="32186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capacity-1 overflows   b) In circular array rear can be anywhere — rear==capacity-1 is unreliable   c) size more accurate   d) rear not maintained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593592"/>
            <a:ext cx="8503920" cy="612648"/>
          </a:xfrm>
          <a:prstGeom prst="rect">
            <a:avLst/>
          </a:prstGeom>
          <a:solidFill>
            <a:srgbClr val="1A6B72">
              <a:alpha val="80000"/>
            </a:srgbClr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666744"/>
            <a:ext cx="329184" cy="32918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" y="36301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In LC 232, what does 'lazy transfer' mean?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" y="39044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Runs every push   b) Runs only when outStack is empty and pop/peek needed   c) Runs in background   d) Not automatic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279392"/>
            <a:ext cx="8503920" cy="612648"/>
          </a:xfrm>
          <a:prstGeom prst="rect">
            <a:avLst/>
          </a:prstGeom>
          <a:solidFill>
            <a:srgbClr val="1A5E6A">
              <a:alpha val="80000"/>
            </a:srgbClr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4352544"/>
            <a:ext cx="329184" cy="329184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352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6384" y="43159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Q6. In LC 225, what is the time complexity of push(x)?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86384" y="45902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O(1)   b) O(log N)   c) O(N)   d) O(N²)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|  Java DSA – Stack &amp; Queue Day 2  |  Answers in next session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Assignments  —  Hands-On Practice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6459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850392"/>
            <a:ext cx="41605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50392"/>
            <a:ext cx="56692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50392"/>
            <a:ext cx="56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886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Temperatures with ArrayDeque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152144"/>
            <a:ext cx="3429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LC 739 using ArrayDeque instead of Stack.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[35,38,36,34,40,37,39,42]  |  Trace stack (indices) at every step.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883664"/>
            <a:ext cx="41605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7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83664"/>
            <a:ext cx="566928" cy="9601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83664"/>
            <a:ext cx="56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19202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Greater Element — 4 Arrays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185416"/>
            <a:ext cx="3429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predict NGE for: [4,5,2,25]  [13,7,6,12]  [1,2,3,4,5]  [5,4,3,2,1]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one line why [5,4,3,2,1] gives all -1.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916936"/>
            <a:ext cx="41605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16936"/>
            <a:ext cx="56692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16936"/>
            <a:ext cx="56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9535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 Full Cycle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218688"/>
            <a:ext cx="3429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n=4:  enqueue(A,B,C,D) → isFull() → dequeue×2 → enqueue(E,F)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front, rear, size, arr[] after every step. Show wrap-around.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950208"/>
            <a:ext cx="41605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7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950208"/>
            <a:ext cx="566928" cy="9601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950208"/>
            <a:ext cx="56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9867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Queue vs Array Queue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4251960"/>
            <a:ext cx="3429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1000 enqueue-dequeue cycles on both. Which needs modulo? Which needs object creation? Discuss trade-offs in code comments.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850392"/>
            <a:ext cx="41605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850392"/>
            <a:ext cx="56692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850392"/>
            <a:ext cx="56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886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via Stacks — Stack State Trace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1152144"/>
            <a:ext cx="3429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232:  push(5), push(10), push(15), pop(), push(20), peek(), pop(), pop(), empty()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inStack &amp; outStack for each step. Mark when shiftStack() fires.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1883664"/>
            <a:ext cx="41605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7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1883664"/>
            <a:ext cx="566928" cy="9601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1883664"/>
            <a:ext cx="56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19202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via Queue — Alternative Version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2185416"/>
            <a:ext cx="3429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225:  Make push O(1), pop O(N) (rotate during pop instead).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push(x) → queue.add(x).   pop() → rotate size-1 then remove.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2916936"/>
            <a:ext cx="41605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2916936"/>
            <a:ext cx="566928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2916936"/>
            <a:ext cx="56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29535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Stack Pattern Table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49240" y="3218688"/>
            <a:ext cx="3429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LC 739, GFG NGE, LC 496, Stock Span: fill 4-row table: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Stack: indices or values?  (b) Traversal direction?  (c) Inc or Dec stack?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3950208"/>
            <a:ext cx="41605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7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950208"/>
            <a:ext cx="566928" cy="96012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950208"/>
            <a:ext cx="5669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398678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with getMin() in O(1)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49240" y="4251960"/>
            <a:ext cx="3429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queue supporting getMin() using a min-tracking deque.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enqueue(5,3,7,1) → getMin()=1 → dequeue() → getMin()=1 → dequeue() → getMin()=3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910328"/>
            <a:ext cx="84124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Assignments  |  Java DSA – Stack &amp; Queue Day 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3657600" cy="0"/>
          </a:xfrm>
          <a:prstGeom prst="line">
            <a:avLst/>
          </a:prstGeom>
          <a:noFill/>
          <a:ln w="3175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8321040" cy="694944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2AB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024128"/>
            <a:ext cx="457200" cy="457200"/>
          </a:xfrm>
          <a:prstGeom prst="ellipse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0241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LC 739 — Both Versions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2801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Stack version and ArrayDeque version. Compare runtime — ArrayDeque will be measurably faster.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728216"/>
            <a:ext cx="8321040" cy="694944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2A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1792224"/>
            <a:ext cx="457200" cy="457200"/>
          </a:xfrm>
          <a:prstGeom prst="ellipse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179222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GFG: Next Greater Element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04825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try the left-to-right variant. Understand why right-to-left is simpler.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496312"/>
            <a:ext cx="8321040" cy="694944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2A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560320"/>
            <a:ext cx="457200" cy="457200"/>
          </a:xfrm>
          <a:prstGeom prst="ellipse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4128" y="25603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Problems 3, 4 on GFG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281635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via Array (circular) and Queue via Linked List. Ensure all edge cases pass.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264408"/>
            <a:ext cx="8321040" cy="694944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2ABF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328416"/>
            <a:ext cx="457200" cy="457200"/>
          </a:xfrm>
          <a:prstGeom prst="ellipse">
            <a:avLst/>
          </a:prstGeom>
          <a:solidFill>
            <a:srgbClr val="2ABFBF"/>
          </a:solidFill>
          <a:ln w="12700">
            <a:solidFill>
              <a:srgbClr val="2A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33284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LC 232 &amp; LC 225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358444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via Stacks and Stack via Queue. Check both pop-heavy and push-heavy variants for LC 225.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032504"/>
            <a:ext cx="8321040" cy="694944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4096512"/>
            <a:ext cx="457200" cy="4572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" y="40965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— Monotonic Stack Advanced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43525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 84: Largest Rectangle in Histogram  |  LC 42: Trapping Rain Water  |  LC 85: Maximal Rectangle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846320"/>
            <a:ext cx="83210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DSA — Stack &amp; Queue Day 2  |  Classroom Session  |  Beginner to Fresher Level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DSA - Stack and Queue Day 2</dc:title>
  <dc:subject>PptxGenJS Presentation</dc:subject>
  <dc:creator>PptxGenJS</dc:creator>
  <cp:lastModifiedBy>PptxGenJS</cp:lastModifiedBy>
  <cp:revision>1</cp:revision>
  <dcterms:created xsi:type="dcterms:W3CDTF">2026-03-20T03:35:51Z</dcterms:created>
  <dcterms:modified xsi:type="dcterms:W3CDTF">2026-03-20T03:35:51Z</dcterms:modified>
</cp:coreProperties>
</file>